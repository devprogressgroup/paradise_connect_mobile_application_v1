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 id="2147483672" r:id="rId7"/>
    <p:sldMasterId id="2147483673"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ECAFDB-8954-43E7-B7F7-16EFB2354023}">
  <a:tblStyle styleId="{47ECAFDB-8954-43E7-B7F7-16EFB235402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80" Type="http://schemas.openxmlformats.org/officeDocument/2006/relationships/slide" Target="slides/slide71.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64.xml"/><Relationship Id="rId72" Type="http://schemas.openxmlformats.org/officeDocument/2006/relationships/slide" Target="slides/slide63.xml"/><Relationship Id="rId31" Type="http://schemas.openxmlformats.org/officeDocument/2006/relationships/slide" Target="slides/slide22.xml"/><Relationship Id="rId75" Type="http://schemas.openxmlformats.org/officeDocument/2006/relationships/slide" Target="slides/slide66.xml"/><Relationship Id="rId30" Type="http://schemas.openxmlformats.org/officeDocument/2006/relationships/slide" Target="slides/slide21.xml"/><Relationship Id="rId74" Type="http://schemas.openxmlformats.org/officeDocument/2006/relationships/slide" Target="slides/slide65.xml"/><Relationship Id="rId33" Type="http://schemas.openxmlformats.org/officeDocument/2006/relationships/slide" Target="slides/slide24.xml"/><Relationship Id="rId77" Type="http://schemas.openxmlformats.org/officeDocument/2006/relationships/slide" Target="slides/slide68.xml"/><Relationship Id="rId32" Type="http://schemas.openxmlformats.org/officeDocument/2006/relationships/slide" Target="slides/slide23.xml"/><Relationship Id="rId76" Type="http://schemas.openxmlformats.org/officeDocument/2006/relationships/slide" Target="slides/slide67.xml"/><Relationship Id="rId35" Type="http://schemas.openxmlformats.org/officeDocument/2006/relationships/slide" Target="slides/slide26.xml"/><Relationship Id="rId79" Type="http://schemas.openxmlformats.org/officeDocument/2006/relationships/slide" Target="slides/slide70.xml"/><Relationship Id="rId34" Type="http://schemas.openxmlformats.org/officeDocument/2006/relationships/slide" Target="slides/slide25.xml"/><Relationship Id="rId78" Type="http://schemas.openxmlformats.org/officeDocument/2006/relationships/slide" Target="slides/slide69.xml"/><Relationship Id="rId71" Type="http://schemas.openxmlformats.org/officeDocument/2006/relationships/slide" Target="slides/slide62.xml"/><Relationship Id="rId70" Type="http://schemas.openxmlformats.org/officeDocument/2006/relationships/slide" Target="slides/slide61.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slide" Target="slides/slide53.xml"/><Relationship Id="rId61" Type="http://schemas.openxmlformats.org/officeDocument/2006/relationships/slide" Target="slides/slide52.xml"/><Relationship Id="rId20" Type="http://schemas.openxmlformats.org/officeDocument/2006/relationships/slide" Target="slides/slide11.xml"/><Relationship Id="rId64" Type="http://schemas.openxmlformats.org/officeDocument/2006/relationships/slide" Target="slides/slide55.xml"/><Relationship Id="rId63" Type="http://schemas.openxmlformats.org/officeDocument/2006/relationships/slide" Target="slides/slide54.xml"/><Relationship Id="rId22" Type="http://schemas.openxmlformats.org/officeDocument/2006/relationships/slide" Target="slides/slide13.xml"/><Relationship Id="rId66" Type="http://schemas.openxmlformats.org/officeDocument/2006/relationships/slide" Target="slides/slide57.xml"/><Relationship Id="rId21" Type="http://schemas.openxmlformats.org/officeDocument/2006/relationships/slide" Target="slides/slide12.xml"/><Relationship Id="rId65" Type="http://schemas.openxmlformats.org/officeDocument/2006/relationships/slide" Target="slides/slide56.xml"/><Relationship Id="rId24" Type="http://schemas.openxmlformats.org/officeDocument/2006/relationships/slide" Target="slides/slide15.xml"/><Relationship Id="rId68" Type="http://schemas.openxmlformats.org/officeDocument/2006/relationships/slide" Target="slides/slide59.xml"/><Relationship Id="rId23" Type="http://schemas.openxmlformats.org/officeDocument/2006/relationships/slide" Target="slides/slide14.xml"/><Relationship Id="rId67" Type="http://schemas.openxmlformats.org/officeDocument/2006/relationships/slide" Target="slides/slide58.xml"/><Relationship Id="rId60" Type="http://schemas.openxmlformats.org/officeDocument/2006/relationships/slide" Target="slides/slide51.xml"/><Relationship Id="rId26" Type="http://schemas.openxmlformats.org/officeDocument/2006/relationships/slide" Target="slides/slide17.xml"/><Relationship Id="rId25" Type="http://schemas.openxmlformats.org/officeDocument/2006/relationships/slide" Target="slides/slide16.xml"/><Relationship Id="rId69" Type="http://schemas.openxmlformats.org/officeDocument/2006/relationships/slide" Target="slides/slide60.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b94e84f1ecb86ab_7_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hb94e84f1ecb86ab_7_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Buka sesi: tujuan training adalah agar sales bisa membuat dan mengelola Reserve Order end-to-end dari HP.</a:t>
            </a:r>
            <a:endParaRPr/>
          </a:p>
        </p:txBody>
      </p:sp>
      <p:sp>
        <p:nvSpPr>
          <p:cNvPr id="89" name="Google Shape;89;hb94e84f1ecb86ab_7_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b94e84f1ecb86ab_7_2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hb94e84f1ecb86ab_7_2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Enam modul, masing-masing 5–10 menit praktik langsung di HP.</a:t>
            </a:r>
            <a:endParaRPr/>
          </a:p>
        </p:txBody>
      </p:sp>
      <p:sp>
        <p:nvSpPr>
          <p:cNvPr id="101" name="Google Shape;101;hb94e84f1ecb86ab_7_2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hb94e84f1ecb86ab_7_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hb94e84f1ecb86ab_7_5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Jelaskan bahwa setiap RO punya timeline tahapan. Pembuatan RO mengisi tahap Reserve; top up memajukan ke tahap berikutnya.</a:t>
            </a:r>
            <a:endParaRPr/>
          </a:p>
        </p:txBody>
      </p:sp>
      <p:sp>
        <p:nvSpPr>
          <p:cNvPr id="138" name="Google Shape;138;hb94e84f1ecb86ab_7_5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hb94e84f1ecb86ab_7_9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hb94e84f1ecb86ab_7_9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Status yang sering muncul: Reserve (oranye), Waitinglist (biru muda), Reserve Batal (merah).</a:t>
            </a:r>
            <a:endParaRPr/>
          </a:p>
        </p:txBody>
      </p:sp>
      <p:sp>
        <p:nvSpPr>
          <p:cNvPr id="180" name="Google Shape;180;hb94e84f1ecb86ab_7_9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hb94e84f1ecb86ab_7_1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hb94e84f1ecb86ab_7_11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Badge hijau di kanan = kode status prospek; badge abu = sales channel (mis. SC1A).</a:t>
            </a:r>
            <a:endParaRPr/>
          </a:p>
        </p:txBody>
      </p:sp>
      <p:sp>
        <p:nvSpPr>
          <p:cNvPr id="203" name="Google Shape;203;hb94e84f1ecb86ab_7_11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b94e84f1ecb86ab_7_14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hb94e84f1ecb86ab_7_14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Field bertanda * wajib. Sales Channel dan Sales Channel Detail terisi otomatis dari contact.</a:t>
            </a:r>
            <a:endParaRPr/>
          </a:p>
        </p:txBody>
      </p:sp>
      <p:sp>
        <p:nvSpPr>
          <p:cNvPr id="225" name="Google Shape;225;hb94e84f1ecb86ab_7_14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b94e84f1ecb86ab_7_1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hb94e84f1ecb86ab_7_16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Fitur ini menghemat waktu untuk customer yang membeli unit kedua.</a:t>
            </a:r>
            <a:endParaRPr/>
          </a:p>
        </p:txBody>
      </p:sp>
      <p:sp>
        <p:nvSpPr>
          <p:cNvPr id="249" name="Google Shape;249;hb94e84f1ecb86ab_7_16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hb94e84f1ecb86ab_7_18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hb94e84f1ecb86ab_7_18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"Unit dari Contact" berisi unit minat yang tercatat di contact. Opsi Waitinglist dan "Belum menentukan kavling" juga tersedia.</a:t>
            </a:r>
            <a:endParaRPr/>
          </a:p>
        </p:txBody>
      </p:sp>
      <p:sp>
        <p:nvSpPr>
          <p:cNvPr id="272" name="Google Shape;272;hb94e84f1ecb86ab_7_18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hb94e84f1ecb86ab_7_20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hb94e84f1ecb86ab_7_20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Dokumen identitas cukup diupload sekali untuk semua unit dalam satu RO.</a:t>
            </a:r>
            <a:endParaRPr/>
          </a:p>
        </p:txBody>
      </p:sp>
      <p:sp>
        <p:nvSpPr>
          <p:cNvPr id="296" name="Google Shape;296;hb94e84f1ecb86ab_7_20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hb94e84f1ecb86ab_7_22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hb94e84f1ecb86ab_7_22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Tunai tidak memerlukan bukti transfer. Catatan di bawah form akan tampil di timeline dan Messages.</a:t>
            </a:r>
            <a:endParaRPr/>
          </a:p>
        </p:txBody>
      </p:sp>
      <p:sp>
        <p:nvSpPr>
          <p:cNvPr id="318" name="Google Shape;318;hb94e84f1ecb86ab_7_22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hb94e84f1ecb86ab_7_25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hb94e84f1ecb86ab_7_25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Setelah sukses, pilih Lihat di Reserve Order atau Buat Reserve Order Baru.</a:t>
            </a:r>
            <a:endParaRPr/>
          </a:p>
        </p:txBody>
      </p:sp>
      <p:sp>
        <p:nvSpPr>
          <p:cNvPr id="342" name="Google Shape;342;hb94e84f1ecb86ab_7_25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hb94e84f1ecb86ab_7_2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hb94e84f1ecb86ab_7_27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Header detail: unit, cluster, project, customer, tombol telepon/WhatsApp, menu ⋮ dan link Detail Contact. Ada 4 tab: Timeline, Customer, Attachment, Messages.</a:t>
            </a:r>
            <a:endParaRPr/>
          </a:p>
        </p:txBody>
      </p:sp>
      <p:sp>
        <p:nvSpPr>
          <p:cNvPr id="366" name="Google Shape;366;hb94e84f1ecb86ab_7_27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b94e84f1ecb86ab_7_29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hb94e84f1ecb86ab_7_29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Gunakan Top up RB / Top up SP untuk pembayaran tambahan pada tahap yang sama.</a:t>
            </a:r>
            <a:endParaRPr/>
          </a:p>
        </p:txBody>
      </p:sp>
      <p:sp>
        <p:nvSpPr>
          <p:cNvPr id="388" name="Google Shape;388;hb94e84f1ecb86ab_7_29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hb94e84f1ecb86ab_7_3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hb94e84f1ecb86ab_7_31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Contoh: RO Rp 3 jt + top up RB Rp 5 jt = total Rp 8 jt, tahap Reserve Booking Dalam Pengajuan.</a:t>
            </a:r>
            <a:endParaRPr/>
          </a:p>
        </p:txBody>
      </p:sp>
      <p:sp>
        <p:nvSpPr>
          <p:cNvPr id="412" name="Google Shape;412;hb94e84f1ecb86ab_7_31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hb94e84f1ecb86ab_7_3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hb94e84f1ecb86ab_7_34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Delete Reserve Order ada di menu yang sama — gunakan hanya bila RO memang dibatalkan.</a:t>
            </a:r>
            <a:endParaRPr/>
          </a:p>
        </p:txBody>
      </p:sp>
      <p:sp>
        <p:nvSpPr>
          <p:cNvPr id="436" name="Google Shape;436;hb94e84f1ecb86ab_7_34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hb94e84f1ecb86ab_7_3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hb94e84f1ecb86ab_7_36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Cara ini paling cepat untuk koreksi satu field.</a:t>
            </a:r>
            <a:endParaRPr/>
          </a:p>
        </p:txBody>
      </p:sp>
      <p:sp>
        <p:nvSpPr>
          <p:cNvPr id="460" name="Google Shape;460;hb94e84f1ecb86ab_7_36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hb94e84f1ecb86ab_7_38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hb94e84f1ecb86ab_7_38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Jenis dokumen antara lain: KTP Pendukung, Surat Nikah/Cerai, Kartu Keluarga, Rekening Koran, NPWP Pribadi, Foto Konsumen, Bukti Transfer, Form Pendaftaran Pembeli.</a:t>
            </a:r>
            <a:endParaRPr/>
          </a:p>
        </p:txBody>
      </p:sp>
      <p:sp>
        <p:nvSpPr>
          <p:cNvPr id="482" name="Google Shape;482;hb94e84f1ecb86ab_7_38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hb94e84f1ecb86ab_7_40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hb94e84f1ecb86ab_7_40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Gunakan + Tambah di kartu dokumen untuk menambah file pada jenis yang sama.</a:t>
            </a:r>
            <a:endParaRPr/>
          </a:p>
        </p:txBody>
      </p:sp>
      <p:sp>
        <p:nvSpPr>
          <p:cNvPr id="506" name="Google Shape;506;hb94e84f1ecb86ab_7_40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hb94e84f1ecb86ab_7_43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hb94e84f1ecb86ab_7_43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Gunakan Messages untuk follow up internal, misalnya rencana transfer customer.</a:t>
            </a:r>
            <a:endParaRPr/>
          </a:p>
        </p:txBody>
      </p:sp>
      <p:sp>
        <p:nvSpPr>
          <p:cNvPr id="528" name="Google Shape;528;hb94e84f1ecb86ab_7_43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hb94e84f1ecb86ab_7_45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hb94e84f1ecb86ab_7_45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Detail Contact bisa dibuka dari menu Contacts atau dari link Detail Contact di halaman detail RO.</a:t>
            </a:r>
            <a:endParaRPr/>
          </a:p>
        </p:txBody>
      </p:sp>
      <p:sp>
        <p:nvSpPr>
          <p:cNvPr id="552" name="Google Shape;552;hb94e84f1ecb86ab_7_45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hb94e84f1ecb86ab_7_47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hb94e84f1ecb86ab_7_47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Bahas temuan tanggal lahir yang tersimpan mundur 1 hari di lingkungan dev; minta peserta selalu cek ulang.</a:t>
            </a:r>
            <a:endParaRPr/>
          </a:p>
        </p:txBody>
      </p:sp>
      <p:sp>
        <p:nvSpPr>
          <p:cNvPr id="576" name="Google Shape;576;hb94e84f1ecb86ab_7_47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hb94e84f1ecb86ab_3_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hb94e84f1ecb86ab_3_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Selamat datang. Modul ini ditujukan untuk Kasir yang menangani menu Sales Pipeline &gt; Reserve Order: memverifikasi pembayaran (TTS), memverifikasi dokumen customer, mencatat setoran tunai ke bank, dan bila diperlukan membuat Reserve Order. Durasi sesi sekitar 45-60 menit termasuk latihan.</a:t>
            </a:r>
            <a:endParaRPr/>
          </a:p>
        </p:txBody>
      </p:sp>
      <p:sp>
        <p:nvSpPr>
          <p:cNvPr id="593" name="Google Shape;593;hb94e84f1ecb86ab_3_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hb94e84f1ecb86ab_3_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hb94e84f1ecb86ab_3_2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Setelah training, peserta mampu: (1) memahami posisi Kasir dalam alur penjualan, (2) menavigasi halaman Reserve Order, (3) memverifikasi pembayaran dan dokumen dengan benar, (4) mencatat setoran tunai, (5) membuat Reserve Order bila diminta.</a:t>
            </a:r>
            <a:endParaRPr/>
          </a:p>
        </p:txBody>
      </p:sp>
      <p:sp>
        <p:nvSpPr>
          <p:cNvPr id="603" name="Google Shape;603;hb94e84f1ecb86ab_3_2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hb94e84f1ecb86ab_3_6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hb94e84f1ecb86ab_3_6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Bagian ini memberi gambaran besar sebelum masuk ke layar.</a:t>
            </a:r>
            <a:endParaRPr/>
          </a:p>
        </p:txBody>
      </p:sp>
      <p:sp>
        <p:nvSpPr>
          <p:cNvPr id="646" name="Google Shape;646;hb94e84f1ecb86ab_3_6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hb94e84f1ecb86ab_3_7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hb94e84f1ecb86ab_3_7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Timeline di halaman dokumen RO menampilkan tahapan ini: Leads, APPT, Visitor, Reserve, Reserve Booking, SP, Collect Data, Proses Bank, SPK, Akad/PPJB. Kasir terlibat setiap kali ada uang masuk: Reserve, Reserve Booking (RB), dan SP, termasuk Top Up RB / Top Up SP.</a:t>
            </a:r>
            <a:endParaRPr/>
          </a:p>
        </p:txBody>
      </p:sp>
      <p:sp>
        <p:nvSpPr>
          <p:cNvPr id="654" name="Google Shape;654;hb94e84f1ecb86ab_3_7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hb94e84f1ecb86ab_3_10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hb94e84f1ecb86ab_3_10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Pastikan peserta paham bedanya RO (pesanan) dan TTS (bukti uang). Satu RO bisa punya banyak TTS: Reserve, RB, SP, Top up RB, Top up SP. Status Reserve yang tersedia di filter: RBB, Reserve, Reserve Batal, Waitinglist, SP, RBA, SP Batal. Konfirmasikan definisi RBB dan RBA sesuai kebijakan internal perusahaan.</a:t>
            </a:r>
            <a:endParaRPr/>
          </a:p>
        </p:txBody>
      </p:sp>
      <p:sp>
        <p:nvSpPr>
          <p:cNvPr id="689" name="Google Shape;689;hb94e84f1ecb86ab_3_10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hb94e84f1ecb86ab_3_1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hb94e84f1ecb86ab_3_14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Demokan langsung di aplikasi sambil menjelaskan setiap bagian.</a:t>
            </a:r>
            <a:endParaRPr/>
          </a:p>
        </p:txBody>
      </p:sp>
      <p:sp>
        <p:nvSpPr>
          <p:cNvPr id="731" name="Google Shape;731;hb94e84f1ecb86ab_3_14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hb94e84f1ecb86ab_3_1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hb94e84f1ecb86ab_3_15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Tunjukkan lima area: (1) tiga tab kerja Kasir, (2) tombol Buat Reserve Order, (3) kolom pencarian, (4) dropdown urutan, tombol Filter dan tombol refresh, (5) tabel RO. Ingatkan: klik baris mana pun untuk membuka halaman dokumen (KTP, NPWP, bukti transfer, dll). Jumlah baris per halaman bisa diatur 25/50/100/250.</a:t>
            </a:r>
            <a:endParaRPr/>
          </a:p>
        </p:txBody>
      </p:sp>
      <p:sp>
        <p:nvSpPr>
          <p:cNvPr id="739" name="Google Shape;739;hb94e84f1ecb86ab_3_15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hb94e84f1ecb86ab_3_1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7" name="Google Shape;777;hb94e84f1ecb86ab_3_19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Tab Kasir adalah to-do list. Tab Approved Kasir berisi RO yang sudah di-approve (di data contoh 22 RO). Tab Setor Tunai memiliki kolom No. TTS, Customer, Property/Produk, Jumlah Tunai, Status Pembayaran, Status Setor.</a:t>
            </a:r>
            <a:endParaRPr/>
          </a:p>
        </p:txBody>
      </p:sp>
      <p:sp>
        <p:nvSpPr>
          <p:cNvPr id="778" name="Google Shape;778;hb94e84f1ecb86ab_3_19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hb94e84f1ecb86ab_3_2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2" name="Google Shape;802;hb94e84f1ecb86ab_3_21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Prioritaskan baris kuning: artinya RO sudah pernah di-approve, tapi ada pembayaran baru (Top Up RB atau SP) yang belum diverifikasi. Kolom Tanggal menampilkan waktu RB bila ada. Kolom Dibuat menunjukkan tanggal dan pembuat RO.</a:t>
            </a:r>
            <a:endParaRPr/>
          </a:p>
        </p:txBody>
      </p:sp>
      <p:sp>
        <p:nvSpPr>
          <p:cNvPr id="803" name="Google Shape;803;hb94e84f1ecb86ab_3_21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hb94e84f1ecb86ab_3_23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 name="Google Shape;823;hb94e84f1ecb86ab_3_23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Contoh latihan: cari RO milik customer tertentu dengan no. HP, atau filter Project = Paradise Serpong City 2 dan Status = Reserve untuk tanggal hari ini. Tekan tombol refresh setelah sales mengabarkan ada pengajuan baru.</a:t>
            </a:r>
            <a:endParaRPr/>
          </a:p>
        </p:txBody>
      </p:sp>
      <p:sp>
        <p:nvSpPr>
          <p:cNvPr id="824" name="Google Shape;824;hb94e84f1ecb86ab_3_23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hb94e84f1ecb86ab_3_24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3" name="Google Shape;833;hb94e84f1ecb86ab_3_24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Bagian paling penting. Gunakan RO contoh untuk demo, jangan approve data asli saat training.</a:t>
            </a:r>
            <a:endParaRPr/>
          </a:p>
        </p:txBody>
      </p:sp>
      <p:sp>
        <p:nvSpPr>
          <p:cNvPr id="834" name="Google Shape;834;hb94e84f1ecb86ab_3_24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hb94e84f1ecb86ab_3_25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 name="Google Shape;841;hb94e84f1ecb86ab_3_25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Halaman ini terbuka saat baris RO diklik. Judul: Dokumen Reserve Order #nomor. Bagian Google Sheet (RB) memperlihatkan status sync, misalnya 'Belum pernah sync'. Ikon sync dipakai bila data order/TTS diubah setelah sync terakhir.</a:t>
            </a:r>
            <a:endParaRPr/>
          </a:p>
        </p:txBody>
      </p:sp>
      <p:sp>
        <p:nvSpPr>
          <p:cNvPr id="842" name="Google Shape;842;hb94e84f1ecb86ab_3_25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hb94e84f1ecb86ab_3_28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hb94e84f1ecb86ab_3_28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Tekankan urutan: dokumen dulu, baru approve. Saat pembayaran di-approve, dokumen terkait (misalnya KTP Pemohon) ikut disetujui, dan keterangan masuk ke tab Message. Jika Reject, Alasan Penolakan wajib diisi agar Sales bisa memperbaiki.</a:t>
            </a:r>
            <a:endParaRPr/>
          </a:p>
        </p:txBody>
      </p:sp>
      <p:sp>
        <p:nvSpPr>
          <p:cNvPr id="876" name="Google Shape;876;hb94e84f1ecb86ab_3_28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hb94e84f1ecb86ab_3_3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8" name="Google Shape;908;hb94e84f1ecb86ab_3_31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Klik satu TTS untuk membuka detail. Tombol di detail: Simpan Perubahan, Print TTS, dan buka di halaman penuh. Pastikan nominal angka sama dengan terbilang, kavling sesuai unit RO, dan metode pembayaran sesuai bukti. Untuk tunai yang sudah disetor, muncul keterangan hijau 'Sudah disetor ke Bank ...'. Tombol Create TTS / Top Up dipakai untuk menambah pembayaran baru.</a:t>
            </a:r>
            <a:endParaRPr/>
          </a:p>
        </p:txBody>
      </p:sp>
      <p:sp>
        <p:nvSpPr>
          <p:cNvPr id="909" name="Google Shape;909;hb94e84f1ecb86ab_3_31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hb94e84f1ecb86ab_3_33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3" name="Google Shape;923;hb94e84f1ecb86ab_3_33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Klik thumbnail untuk pratinjau dokumen (bisa dibuka di Drive). Cocokkan nama di KTP dengan nama customer dan nama pengirim di bukti transfer. Reject dokumen bila buram, terpotong atau tidak sesuai, dan tulis catatan yang jelas.</a:t>
            </a:r>
            <a:endParaRPr/>
          </a:p>
        </p:txBody>
      </p:sp>
      <p:sp>
        <p:nvSpPr>
          <p:cNvPr id="924" name="Google Shape;924;hb94e84f1ecb86ab_3_33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hb94e84f1ecb86ab_3_3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5" name="Google Shape;935;hb94e84f1ecb86ab_3_34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Gunakan Message untuk menjelaskan alasan reject atau meminta dokumen tambahan, sehingga semua komunikasi tercatat di RO. Timeline membantu mengecek tahap mana yang sudah terverifikasi.</a:t>
            </a:r>
            <a:endParaRPr/>
          </a:p>
        </p:txBody>
      </p:sp>
      <p:sp>
        <p:nvSpPr>
          <p:cNvPr id="936" name="Google Shape;936;hb94e84f1ecb86ab_3_34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hb94e84f1ecb86ab_3_35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0" name="Google Shape;950;hb94e84f1ecb86ab_3_35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Lakukan setelah uang benar-benar disetor dan slip bank sudah di tangan.</a:t>
            </a:r>
            <a:endParaRPr/>
          </a:p>
        </p:txBody>
      </p:sp>
      <p:sp>
        <p:nvSpPr>
          <p:cNvPr id="951" name="Google Shape;951;hb94e84f1ecb86ab_3_35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hb94e84f1ecb86ab_3_36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8" name="Google Shape;958;hb94e84f1ecb86ab_3_36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Kolom tab Setor Tunai: No. TTS, Customer, Property/Produk, Jumlah Tunai, Status Pembayaran (Menunggu/Disetujui), Status Setor. Bank tersedia: Bank Artha Graha - Deposito, BCA Syariah, BII, BNI 46 - Deposito, Mandiri, Permata, Maybank. Sistem menampilkan rekening perusahaan sesuai project, misalnya Gunung Sindur (PSC2). Hasilnya tercatat di Message, contoh: 'Tunai TTS 000051 disetor ke Bank Mandiri (164-0005-601-176) tanggal 15 Oct 2026.'</a:t>
            </a:r>
            <a:endParaRPr/>
          </a:p>
        </p:txBody>
      </p:sp>
      <p:sp>
        <p:nvSpPr>
          <p:cNvPr id="959" name="Google Shape;959;hb94e84f1ecb86ab_3_36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hb94e84f1ecb86ab_3_3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7" name="Google Shape;987;hb94e84f1ecb86ab_3_39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Biasanya RO dibuat Sales, tetapi Kasir juga dapat membuatnya.</a:t>
            </a:r>
            <a:endParaRPr/>
          </a:p>
        </p:txBody>
      </p:sp>
      <p:sp>
        <p:nvSpPr>
          <p:cNvPr id="988" name="Google Shape;988;hb94e84f1ecb86ab_3_39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hb94e84f1ecb86ab_3_39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5" name="Google Shape;995;hb94e84f1ecb86ab_3_39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Mulai dari tombol Buat Reserve Order. Field bertanda * wajib diisi: nama sesuai KTP, No. KTP 16 digit, tempat &amp; tanggal lahir, jenis kelamin, no. HP, alamat, status pernikahan (bila Menikah isi nama pasangan), kategori pekerjaan &amp; pekerjaan, cara pembayaran. Foto KTP otomatis tersimpan sebagai dokumen KTP Pemohon.</a:t>
            </a:r>
            <a:endParaRPr/>
          </a:p>
        </p:txBody>
      </p:sp>
      <p:sp>
        <p:nvSpPr>
          <p:cNvPr id="996" name="Google Shape;996;hb94e84f1ecb86ab_3_39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hb94e84f1ecb86ab_3_4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1" name="Google Shape;1021;hb94e84f1ecb86ab_3_42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Bagikan checklist ini sebagai pegangan. Sesuaikan dengan SOP keuangan internal bila ada aturan tambahan (misalnya batas waktu setor).</a:t>
            </a:r>
            <a:endParaRPr/>
          </a:p>
        </p:txBody>
      </p:sp>
      <p:sp>
        <p:nvSpPr>
          <p:cNvPr id="1022" name="Google Shape;1022;hb94e84f1ecb86ab_3_42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hb94e84f1ecb86ab_3_4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1" name="Google Shape;1041;hb94e84f1ecb86ab_3_44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Tanyakan dulu ke peserta sebelum membuka jawaban (jawaban bisa disembunyikan dengan animasi bila diinginkan). Praktik lanjutan: setiap peserta membuka satu RO contoh, menelusuri TTS, Attachment, Timeline dan Message, lalu menjelaskan status pembayarannya.</a:t>
            </a:r>
            <a:endParaRPr/>
          </a:p>
        </p:txBody>
      </p:sp>
      <p:sp>
        <p:nvSpPr>
          <p:cNvPr id="1042" name="Google Shape;1042;hb94e84f1ecb86ab_3_44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hb94e84f1ecb86ab_5_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hb94e84f1ecb86ab_5_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Modul ini untuk Admin / Sales Admin yang mengelola modul Reserve Order: memverifikasi RO setelah pembayaran disetujui Kasir, mengoreksi unit dan status, mengelola Master Customer Reserve dan Master Status Reserve, serta memakai Map Siteplan. Durasi sekitar 60 menit termasuk latihan.</a:t>
            </a:r>
            <a:endParaRPr/>
          </a:p>
        </p:txBody>
      </p:sp>
      <p:sp>
        <p:nvSpPr>
          <p:cNvPr id="1065" name="Google Shape;1065;hb94e84f1ecb86ab_5_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hb94e84f1ecb86ab_5_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 name="Google Shape;1074;hb94e84f1ecb86ab_5_2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Setelah training peserta mampu: memahami posisi Sales Admin di alur approval, memverifikasi RO dan mengoreksi data unit/status, mengelola data customer dan master status, serta membaca map siteplan.</a:t>
            </a:r>
            <a:endParaRPr/>
          </a:p>
        </p:txBody>
      </p:sp>
      <p:sp>
        <p:nvSpPr>
          <p:cNvPr id="1075" name="Google Shape;1075;hb94e84f1ecb86ab_5_2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hb94e84f1ecb86ab_5_6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hb94e84f1ecb86ab_5_6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Mulai dengan gambaran besar sebelum demo layar.</a:t>
            </a:r>
            <a:endParaRPr/>
          </a:p>
        </p:txBody>
      </p:sp>
      <p:sp>
        <p:nvSpPr>
          <p:cNvPr id="1118" name="Google Shape;1118;hb94e84f1ecb86ab_5_6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hb94e84f1ecb86ab_5_7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5" name="Google Shape;1125;hb94e84f1ecb86ab_5_7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Urutan di log Message RO contoh: 'Pembayaran TTS ... disetujui Kasir. Reserve order disetujui Kasir.' lalu 'Reserve order disetujui Sales Admin.' dan bila ada koreksi: 'Data verifikasi Sales Admin disimpan. Status reserve: Reserve.' Konfirmasikan aturan bisnis apakah Sales Admin bisa memverifikasi sebelum Kasir.</a:t>
            </a:r>
            <a:endParaRPr/>
          </a:p>
        </p:txBody>
      </p:sp>
      <p:sp>
        <p:nvSpPr>
          <p:cNvPr id="1126" name="Google Shape;1126;hb94e84f1ecb86ab_5_7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hb94e84f1ecb86ab_5_1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7" name="Google Shape;1157;hb94e84f1ecb86ab_5_10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Arahkan kursor ke ikon Reserve Order di sidebar untuk membuka submenu. Halaman utama yang dipakai harian adalah Reserve Order; master data dipakai saat ada koreksi.</a:t>
            </a:r>
            <a:endParaRPr/>
          </a:p>
        </p:txBody>
      </p:sp>
      <p:sp>
        <p:nvSpPr>
          <p:cNvPr id="1158" name="Google Shape;1158;hb94e84f1ecb86ab_5_10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hb94e84f1ecb86ab_5_13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6" name="Google Shape;1186;hb94e84f1ecb86ab_5_13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Gunakan RO contoh untuk demo. Jangan approve data asli saat training.</a:t>
            </a:r>
            <a:endParaRPr/>
          </a:p>
        </p:txBody>
      </p:sp>
      <p:sp>
        <p:nvSpPr>
          <p:cNvPr id="1187" name="Google Shape;1187;hb94e84f1ecb86ab_5_13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hb94e84f1ecb86ab_5_1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4" name="Google Shape;1194;hb94e84f1ecb86ab_5_13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Tab Sales Admin = antrian kerja (data contoh: 11 RO). Tab Approved Admin = RO yang sudah SA ✓ (data contoh: 13 RO). Admin tidak memiliki tombol Buat Reserve Order dan tab Setor Tunai; itu milik Sales/Kasir.</a:t>
            </a:r>
            <a:endParaRPr/>
          </a:p>
        </p:txBody>
      </p:sp>
      <p:sp>
        <p:nvSpPr>
          <p:cNvPr id="1195" name="Google Shape;1195;hb94e84f1ecb86ab_5_13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hb94e84f1ecb86ab_5_15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3" name="Google Shape;1213;hb94e84f1ecb86ab_5_15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Setelah disetujui, muncul kotak hijau 'Reserve order disetujui Sales Admin' beserta tanggal &amp; jam. Google Sheet (DSR) menampilkan 'Belum pernah sync' atau 'Tersinkron · Tab RB-KASIR · baris N'. Gunakan ikon sync bila data diubah setelah sync terakhir.</a:t>
            </a:r>
            <a:endParaRPr/>
          </a:p>
        </p:txBody>
      </p:sp>
      <p:sp>
        <p:nvSpPr>
          <p:cNvPr id="1214" name="Google Shape;1214;hb94e84f1ecb86ab_5_15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hb94e84f1ecb86ab_5_19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3" name="Google Shape;1253;hb94e84f1ecb86ab_5_19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Contoh: Data Pembeli 11/19, Pasangan 0/5. Cocokkan nama dan No. KTP dengan dokumen KTP di tab Attachment. Jika status pernikahan Menikah, data Pasangan sebaiknya dilengkapi.</a:t>
            </a:r>
            <a:endParaRPr/>
          </a:p>
        </p:txBody>
      </p:sp>
      <p:sp>
        <p:nvSpPr>
          <p:cNvPr id="1254" name="Google Shape;1254;hb94e84f1ecb86ab_5_19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hb94e84f1ecb86ab_5_22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3" name="Google Shape;1283;hb94e84f1ecb86ab_5_22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Contoh RO 000024 berstatus Waitinglist: kavling 'Waitinglist — unit saat ini' dengan 8 kavling lain Available. Admin bisa memilih kavling yang tersedia. Cek di Map Siteplan sebelum memindahkan unit.</a:t>
            </a:r>
            <a:endParaRPr/>
          </a:p>
        </p:txBody>
      </p:sp>
      <p:sp>
        <p:nvSpPr>
          <p:cNvPr id="1284" name="Google Shape;1284;hb94e84f1ecb86ab_5_22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hb94e84f1ecb86ab_5_23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5" name="Google Shape;1295;hb94e84f1ecb86ab_5_23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Status yang dipilih menentukan status unit sesuai Master Status Reserve (mis. Reserve Batal / SP Batal → Sellable). Setelah disimpan, log Message mencatat 'Data verifikasi Sales Admin disimpan. Status reserve: ...'.</a:t>
            </a:r>
            <a:endParaRPr/>
          </a:p>
        </p:txBody>
      </p:sp>
      <p:sp>
        <p:nvSpPr>
          <p:cNvPr id="1296" name="Google Shape;1296;hb94e84f1ecb86ab_5_23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hb94e84f1ecb86ab_5_26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0" name="Google Shape;1320;hb94e84f1ecb86ab_5_26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Jendela keputusan bernama 'Approve Verifikasi Sales Admin'; saat Reject, Alasan Penolakan wajib diisi. Setelah approve, cek Google Sheet (DSR) sudah tersinkron, lakukan sync manual bila perlu.</a:t>
            </a:r>
            <a:endParaRPr/>
          </a:p>
        </p:txBody>
      </p:sp>
      <p:sp>
        <p:nvSpPr>
          <p:cNvPr id="1321" name="Google Shape;1321;hb94e84f1ecb86ab_5_26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hb94e84f1ecb86ab_5_2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3" name="Google Shape;1353;hb94e84f1ecb86ab_5_29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Message juga mencatat perubahan dari Master Customer Reserve, contoh: 'Data customer diperbarui dari menu Master Customer Reserve: No. NPWP.' Gunakan Tulis Pesan untuk koordinasi dengan Sales/Kasir agar tercatat di RO.</a:t>
            </a:r>
            <a:endParaRPr/>
          </a:p>
        </p:txBody>
      </p:sp>
      <p:sp>
        <p:nvSpPr>
          <p:cNvPr id="1354" name="Google Shape;1354;hb94e84f1ecb86ab_5_29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hb94e84f1ecb86ab_5_3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4" name="Google Shape;1374;hb94e84f1ecb86ab_5_3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Master data berdampak ke banyak RO. Ubah dengan hati-hati.</a:t>
            </a:r>
            <a:endParaRPr/>
          </a:p>
        </p:txBody>
      </p:sp>
      <p:sp>
        <p:nvSpPr>
          <p:cNvPr id="1375" name="Google Shape;1375;hb94e84f1ecb86ab_5_3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hb94e84f1ecb86ab_5_3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2" name="Google Shape;1382;hb94e84f1ecb86ab_5_31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Kolom Reserve Order menampilkan jumlah order dan tanggal terakhir, misalnya '5 order, terakhir 16 Oktober 2026'. Hindari menghapus customer yang masih punya RO aktif; konfirmasi dulu ke atasan.</a:t>
            </a:r>
            <a:endParaRPr/>
          </a:p>
        </p:txBody>
      </p:sp>
      <p:sp>
        <p:nvSpPr>
          <p:cNvPr id="1383" name="Google Shape;1383;hb94e84f1ecb86ab_5_31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hb94e84f1ecb86ab_5_32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2" name="Google Shape;1392;hb94e84f1ecb86ab_5_32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Field wajib: Nama Lengkap (sesuai KTP) dan No. KTP. Karena perubahan nama dan No. HP 1 merambat ke semua RO terkait dan TTS, pastikan perubahan sesuai KTP sebelum menyimpan.</a:t>
            </a:r>
            <a:endParaRPr/>
          </a:p>
        </p:txBody>
      </p:sp>
      <p:sp>
        <p:nvSpPr>
          <p:cNvPr id="1393" name="Google Shape;1393;hb94e84f1ecb86ab_5_32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hb94e84f1ecb86ab_5_3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7" name="Google Shape;1407;hb94e84f1ecb86ab_5_34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Status unit diterapkan saat RO berstatus tersebut diverifikasi. Pilihan Status Unit: Not Sellable, Sellable, Ordered, Delivered, Cancellation Pending, Sales Hold, Ordered as Other Product, BR, Reserve, RBB, RBA. Kolom Dipakai menunjukkan jumlah order yang memakai status itu. Filter: Semua/Aktif/Nonaktif.</a:t>
            </a:r>
            <a:endParaRPr/>
          </a:p>
        </p:txBody>
      </p:sp>
      <p:sp>
        <p:nvSpPr>
          <p:cNvPr id="1408" name="Google Shape;1408;hb94e84f1ecb86ab_5_34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hb94e84f1ecb86ab_5_35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0" name="Google Shape;1420;hb94e84f1ecb86ab_5_35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TTS dibuat dari halaman RO (Create TTS / Top Up) dan diverifikasi Kasir. Menu ini memberi Admin satu daftar untuk semua TTS.</a:t>
            </a:r>
            <a:endParaRPr/>
          </a:p>
        </p:txBody>
      </p:sp>
      <p:sp>
        <p:nvSpPr>
          <p:cNvPr id="1421" name="Google Shape;1421;hb94e84f1ecb86ab_5_35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hb94e84f1ecb86ab_5_36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8" name="Google Shape;1428;hb94e84f1ecb86ab_5_36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Kolom tabel: No. TTS (dengan tanggal), No. Reserve Order, Unit, Customer, Jumlah, Status Bayar, Status Reserve (jenis pembayaran + status RO), Sales (SE/SPV/SM/GM/Team), Dibuat. Data contoh: 54 TTS. Untuk rekap harian, filter Status Bayar = Menunggu untuk TTS yang belum diverifikasi Kasir, atau Ditolak untuk ditindaklanjuti ke Sales.</a:t>
            </a:r>
            <a:endParaRPr/>
          </a:p>
        </p:txBody>
      </p:sp>
      <p:sp>
        <p:nvSpPr>
          <p:cNvPr id="1429" name="Google Shape;1429;hb94e84f1ecb86ab_5_36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hb94e84f1ecb86ab_5_3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1" name="Google Shape;1461;hb94e84f1ecb86ab_5_39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Halaman dibuka dari menu TTS dengan mode lihat (view), sehingga Admin membaca data tanpa mengubahnya. Contoh TTS 000062: Reserve Rp 2.000.000, Transfer Bank Mandiri, Disetujui 16 Oct 2026 16:35, Tersinkron ke Google Sheet tab RB baris 4.</a:t>
            </a:r>
            <a:endParaRPr/>
          </a:p>
        </p:txBody>
      </p:sp>
      <p:sp>
        <p:nvSpPr>
          <p:cNvPr id="1462" name="Google Shape;1462;hb94e84f1ecb86ab_5_39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hb94e84f1ecb86ab_5_42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5" name="Google Shape;1495;hb94e84f1ecb86ab_5_42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Pada data contoh, bukti pembayaran TTS 000062 berupa screenshot chat, bukan bukti transfer bank, tetapi sudah berstatus Approved. Ini contoh yang seharusnya ditolak di kondisi nyata. Gunakan untuk diskusi.</a:t>
            </a:r>
            <a:endParaRPr/>
          </a:p>
        </p:txBody>
      </p:sp>
      <p:sp>
        <p:nvSpPr>
          <p:cNvPr id="1496" name="Google Shape;1496;hb94e84f1ecb86ab_5_42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hb94e84f1ecb86ab_5_43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7" name="Google Shape;1507;hb94e84f1ecb86ab_5_43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Ilustrasi ini dibuat khusus untuk training dan diberi tanda CONTOH; bukan dokumen asli. Jangan unggah dokumen contoh ke sistem. Untuk demo, gunakan dokumen dummy resmi dari tim IT.</a:t>
            </a:r>
            <a:endParaRPr/>
          </a:p>
        </p:txBody>
      </p:sp>
      <p:sp>
        <p:nvSpPr>
          <p:cNvPr id="1508" name="Google Shape;1508;hb94e84f1ecb86ab_5_43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hb94e84f1ecb86ab_5_47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8" name="Google Shape;1548;hb94e84f1ecb86ab_5_47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TTS cetak memuat No. TTS, nama penerima, uang sebanyak (terbilang), untuk pembayaran, kavling lengkap dengan cluster/tahap/project, centang Dalam Bentuk, TOTAL, Sales &amp; Team, kota/tanggal, tanda tangan Kasir dan tanggal cetak. Catatan legal: TTS berlaku sementara dan diganti kwitansi setelah PPJB ditandatangani; pembayaran transfer sah bila dana sudah diterima di rekening developer.</a:t>
            </a:r>
            <a:endParaRPr/>
          </a:p>
        </p:txBody>
      </p:sp>
      <p:sp>
        <p:nvSpPr>
          <p:cNvPr id="1549" name="Google Shape;1549;hb94e84f1ecb86ab_5_47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hb94e84f1ecb86ab_5_50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3" name="Google Shape;1573;hb94e84f1ecb86ab_5_50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Demokan memilih siteplan dan klik unit.</a:t>
            </a:r>
            <a:endParaRPr/>
          </a:p>
        </p:txBody>
      </p:sp>
      <p:sp>
        <p:nvSpPr>
          <p:cNvPr id="1574" name="Google Shape;1574;hb94e84f1ecb86ab_5_50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hb94e84f1ecb86ab_5_50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1" name="Google Shape;1581;hb94e84f1ecb86ab_5_50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Legenda menampilkan jumlah unit per status, contoh Balmoral: Available 11, Hold 16, SP 173. Gunakan zoom +/- untuk memperbesar. Pakai peta ini sebelum memindahkan kavling di tab Verification.</a:t>
            </a:r>
            <a:endParaRPr/>
          </a:p>
        </p:txBody>
      </p:sp>
      <p:sp>
        <p:nvSpPr>
          <p:cNvPr id="1582" name="Google Shape;1582;hb94e84f1ecb86ab_5_50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2" name="Shape 1612"/>
        <p:cNvGrpSpPr/>
        <p:nvPr/>
      </p:nvGrpSpPr>
      <p:grpSpPr>
        <a:xfrm>
          <a:off x="0" y="0"/>
          <a:ext cx="0" cy="0"/>
          <a:chOff x="0" y="0"/>
          <a:chExt cx="0" cy="0"/>
        </a:xfrm>
      </p:grpSpPr>
      <p:sp>
        <p:nvSpPr>
          <p:cNvPr id="1613" name="Google Shape;1613;hb94e84f1ecb86ab_5_54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4" name="Google Shape;1614;hb94e84f1ecb86ab_5_54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Sesuaikan checklist dengan SOP internal (misalnya batas waktu verifikasi harian).</a:t>
            </a:r>
            <a:endParaRPr/>
          </a:p>
        </p:txBody>
      </p:sp>
      <p:sp>
        <p:nvSpPr>
          <p:cNvPr id="1615" name="Google Shape;1615;hb94e84f1ecb86ab_5_54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2" name="Shape 1632"/>
        <p:cNvGrpSpPr/>
        <p:nvPr/>
      </p:nvGrpSpPr>
      <p:grpSpPr>
        <a:xfrm>
          <a:off x="0" y="0"/>
          <a:ext cx="0" cy="0"/>
          <a:chOff x="0" y="0"/>
          <a:chExt cx="0" cy="0"/>
        </a:xfrm>
      </p:grpSpPr>
      <p:sp>
        <p:nvSpPr>
          <p:cNvPr id="1633" name="Google Shape;1633;hb94e84f1ecb86ab_5_5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4" name="Google Shape;1634;hb94e84f1ecb86ab_5_55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Praktik: setiap peserta membuka satu RO contoh di tab Sales Admin, mengecek kelengkapan data customer, mencari kavling Available di Map Siteplan, lalu menjelaskan keputusan approve/reject-nya (tanpa menyimpan).</a:t>
            </a:r>
            <a:endParaRPr/>
          </a:p>
        </p:txBody>
      </p:sp>
      <p:sp>
        <p:nvSpPr>
          <p:cNvPr id="1635" name="Google Shape;1635;hb94e84f1ecb86ab_5_55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hb94e84f1ecb86ab_5_58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7" name="Google Shape;1657;hb94e84f1ecb86ab_5_58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Buka sesi tanya jawab. Catat pertanyaan yang perlu dikonfirmasi ke tim IT / Sales Operation.</a:t>
            </a:r>
            <a:endParaRPr/>
          </a:p>
        </p:txBody>
      </p:sp>
      <p:sp>
        <p:nvSpPr>
          <p:cNvPr id="1658" name="Google Shape;1658;hb94e84f1ecb86ab_5_58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DARK">
  <p:cSld name="TITLE_DARK">
    <p:bg>
      <p:bgPr>
        <a:solidFill>
          <a:schemeClr val="dk2"/>
        </a:solidFill>
      </p:bgPr>
    </p:bg>
    <p:spTree>
      <p:nvGrpSpPr>
        <p:cNvPr id="52" name="Shape 52"/>
        <p:cNvGrpSpPr/>
        <p:nvPr/>
      </p:nvGrpSpPr>
      <p:grpSpPr>
        <a:xfrm>
          <a:off x="0" y="0"/>
          <a:ext cx="0" cy="0"/>
          <a:chOff x="0" y="0"/>
          <a:chExt cx="0" cy="0"/>
        </a:xfrm>
      </p:grpSpPr>
      <p:sp>
        <p:nvSpPr>
          <p:cNvPr id="53" name="Google Shape;53;p14"/>
          <p:cNvSpPr txBox="1"/>
          <p:nvPr>
            <p:ph type="title"/>
          </p:nvPr>
        </p:nvSpPr>
        <p:spPr>
          <a:xfrm>
            <a:off x="548640" y="1417320"/>
            <a:ext cx="8046720" cy="12801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 name="Google Shape;54;p14"/>
          <p:cNvSpPr txBox="1"/>
          <p:nvPr>
            <p:ph idx="1" type="body"/>
          </p:nvPr>
        </p:nvSpPr>
        <p:spPr>
          <a:xfrm>
            <a:off x="548640" y="2834640"/>
            <a:ext cx="8046720" cy="8229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rgbClr val="C7C9F5"/>
              </a:buClr>
              <a:buSzPts val="1800"/>
              <a:buFont typeface="Arial"/>
              <a:buNone/>
              <a:defRPr b="0" i="0" sz="1800" u="none" cap="none" strike="noStrike">
                <a:solidFill>
                  <a:srgbClr val="C7C9F5"/>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457200" y="274320"/>
            <a:ext cx="8229600" cy="5943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7" name="Google Shape;57;p15"/>
          <p:cNvSpPr/>
          <p:nvPr/>
        </p:nvSpPr>
        <p:spPr>
          <a:xfrm>
            <a:off x="457200" y="477316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0" i="0" lang="en" sz="1000" u="none" cap="none" strike="noStrike">
                <a:solidFill>
                  <a:schemeClr val="accent5"/>
                </a:solidFill>
                <a:latin typeface="Calibri"/>
                <a:ea typeface="Calibri"/>
                <a:cs typeface="Calibri"/>
                <a:sym typeface="Calibri"/>
              </a:rPr>
              <a:t>Training Kit Reserve Order · Modul Kasir</a:t>
            </a:r>
            <a:endParaRPr b="0" i="0" sz="1000" u="none" cap="none" strike="noStrike">
              <a:solidFill>
                <a:schemeClr val="dk1"/>
              </a:solidFill>
              <a:latin typeface="Calibri"/>
              <a:ea typeface="Calibri"/>
              <a:cs typeface="Calibri"/>
              <a:sym typeface="Calibri"/>
            </a:endParaRPr>
          </a:p>
        </p:txBody>
      </p:sp>
      <p:sp>
        <p:nvSpPr>
          <p:cNvPr id="58" name="Google Shape;58;p15"/>
          <p:cNvSpPr txBox="1"/>
          <p:nvPr>
            <p:ph idx="12"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5"/>
                </a:solidFill>
                <a:latin typeface="Calibri"/>
                <a:ea typeface="Calibri"/>
                <a:cs typeface="Calibri"/>
                <a:sym typeface="Calibri"/>
              </a:defRPr>
            </a:lvl1pPr>
            <a:lvl2pPr indent="0" lvl="1" marL="0" marR="0" algn="r">
              <a:spcBef>
                <a:spcPts val="0"/>
              </a:spcBef>
              <a:buNone/>
              <a:defRPr b="0" i="0" sz="1000" u="none" cap="none" strike="noStrike">
                <a:solidFill>
                  <a:schemeClr val="accent5"/>
                </a:solidFill>
                <a:latin typeface="Calibri"/>
                <a:ea typeface="Calibri"/>
                <a:cs typeface="Calibri"/>
                <a:sym typeface="Calibri"/>
              </a:defRPr>
            </a:lvl2pPr>
            <a:lvl3pPr indent="0" lvl="2" marL="0" marR="0" algn="r">
              <a:spcBef>
                <a:spcPts val="0"/>
              </a:spcBef>
              <a:buNone/>
              <a:defRPr b="0" i="0" sz="1000" u="none" cap="none" strike="noStrike">
                <a:solidFill>
                  <a:schemeClr val="accent5"/>
                </a:solidFill>
                <a:latin typeface="Calibri"/>
                <a:ea typeface="Calibri"/>
                <a:cs typeface="Calibri"/>
                <a:sym typeface="Calibri"/>
              </a:defRPr>
            </a:lvl3pPr>
            <a:lvl4pPr indent="0" lvl="3" marL="0" marR="0" algn="r">
              <a:spcBef>
                <a:spcPts val="0"/>
              </a:spcBef>
              <a:buNone/>
              <a:defRPr b="0" i="0" sz="1000" u="none" cap="none" strike="noStrike">
                <a:solidFill>
                  <a:schemeClr val="accent5"/>
                </a:solidFill>
                <a:latin typeface="Calibri"/>
                <a:ea typeface="Calibri"/>
                <a:cs typeface="Calibri"/>
                <a:sym typeface="Calibri"/>
              </a:defRPr>
            </a:lvl4pPr>
            <a:lvl5pPr indent="0" lvl="4" marL="0" marR="0" algn="r">
              <a:spcBef>
                <a:spcPts val="0"/>
              </a:spcBef>
              <a:buNone/>
              <a:defRPr b="0" i="0" sz="1000" u="none" cap="none" strike="noStrike">
                <a:solidFill>
                  <a:schemeClr val="accent5"/>
                </a:solidFill>
                <a:latin typeface="Calibri"/>
                <a:ea typeface="Calibri"/>
                <a:cs typeface="Calibri"/>
                <a:sym typeface="Calibri"/>
              </a:defRPr>
            </a:lvl5pPr>
            <a:lvl6pPr indent="0" lvl="5" marL="0" marR="0" algn="r">
              <a:spcBef>
                <a:spcPts val="0"/>
              </a:spcBef>
              <a:buNone/>
              <a:defRPr b="0" i="0" sz="1000" u="none" cap="none" strike="noStrike">
                <a:solidFill>
                  <a:schemeClr val="accent5"/>
                </a:solidFill>
                <a:latin typeface="Calibri"/>
                <a:ea typeface="Calibri"/>
                <a:cs typeface="Calibri"/>
                <a:sym typeface="Calibri"/>
              </a:defRPr>
            </a:lvl6pPr>
            <a:lvl7pPr indent="0" lvl="6" marL="0" marR="0" algn="r">
              <a:spcBef>
                <a:spcPts val="0"/>
              </a:spcBef>
              <a:buNone/>
              <a:defRPr b="0" i="0" sz="1000" u="none" cap="none" strike="noStrike">
                <a:solidFill>
                  <a:schemeClr val="accent5"/>
                </a:solidFill>
                <a:latin typeface="Calibri"/>
                <a:ea typeface="Calibri"/>
                <a:cs typeface="Calibri"/>
                <a:sym typeface="Calibri"/>
              </a:defRPr>
            </a:lvl7pPr>
            <a:lvl8pPr indent="0" lvl="7" marL="0" marR="0" algn="r">
              <a:spcBef>
                <a:spcPts val="0"/>
              </a:spcBef>
              <a:buNone/>
              <a:defRPr b="0" i="0" sz="1000" u="none" cap="none" strike="noStrike">
                <a:solidFill>
                  <a:schemeClr val="accent5"/>
                </a:solidFill>
                <a:latin typeface="Calibri"/>
                <a:ea typeface="Calibri"/>
                <a:cs typeface="Calibri"/>
                <a:sym typeface="Calibri"/>
              </a:defRPr>
            </a:lvl8pPr>
            <a:lvl9pPr indent="0" lvl="8" marL="0" marR="0" algn="r">
              <a:spcBef>
                <a:spcPts val="0"/>
              </a:spcBef>
              <a:buNone/>
              <a:defRPr b="0" i="0" sz="10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p:cSld name="SECTION">
    <p:bg>
      <p:bgPr>
        <a:solidFill>
          <a:schemeClr val="accent1"/>
        </a:solidFill>
      </p:bgPr>
    </p:bg>
    <p:spTree>
      <p:nvGrpSpPr>
        <p:cNvPr id="59" name="Shape 59"/>
        <p:cNvGrpSpPr/>
        <p:nvPr/>
      </p:nvGrpSpPr>
      <p:grpSpPr>
        <a:xfrm>
          <a:off x="0" y="0"/>
          <a:ext cx="0" cy="0"/>
          <a:chOff x="0" y="0"/>
          <a:chExt cx="0" cy="0"/>
        </a:xfrm>
      </p:grpSpPr>
      <p:sp>
        <p:nvSpPr>
          <p:cNvPr id="60" name="Google Shape;60;p16"/>
          <p:cNvSpPr txBox="1"/>
          <p:nvPr>
            <p:ph type="title"/>
          </p:nvPr>
        </p:nvSpPr>
        <p:spPr>
          <a:xfrm>
            <a:off x="548640" y="1828800"/>
            <a:ext cx="8046720"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600"/>
              <a:buFont typeface="Arial"/>
              <a:buNone/>
              <a:defRPr b="1" i="0" sz="36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1" name="Google Shape;61;p16"/>
          <p:cNvSpPr txBox="1"/>
          <p:nvPr>
            <p:ph idx="1" type="body"/>
          </p:nvPr>
        </p:nvSpPr>
        <p:spPr>
          <a:xfrm>
            <a:off x="548640" y="2834640"/>
            <a:ext cx="8046720" cy="7315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lt2"/>
              </a:buClr>
              <a:buSzPts val="1600"/>
              <a:buFont typeface="Arial"/>
              <a:buNone/>
              <a:defRPr b="0" i="0" sz="1600" u="none" cap="none" strike="noStrike">
                <a:solidFill>
                  <a:schemeClr val="l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2" name="Google Shape;62;p16"/>
          <p:cNvSpPr txBox="1"/>
          <p:nvPr>
            <p:ph idx="12"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000" u="none" cap="none" strike="noStrike">
                <a:solidFill>
                  <a:srgbClr val="FFFFFF"/>
                </a:solidFill>
                <a:latin typeface="Calibri"/>
                <a:ea typeface="Calibri"/>
                <a:cs typeface="Calibri"/>
                <a:sym typeface="Calibri"/>
              </a:defRPr>
            </a:lvl1pPr>
            <a:lvl2pPr indent="0" lvl="1" marL="0" marR="0" algn="l">
              <a:spcBef>
                <a:spcPts val="0"/>
              </a:spcBef>
              <a:buNone/>
              <a:defRPr b="0" i="0" sz="1000" u="none" cap="none" strike="noStrike">
                <a:solidFill>
                  <a:srgbClr val="FFFFFF"/>
                </a:solidFill>
                <a:latin typeface="Calibri"/>
                <a:ea typeface="Calibri"/>
                <a:cs typeface="Calibri"/>
                <a:sym typeface="Calibri"/>
              </a:defRPr>
            </a:lvl2pPr>
            <a:lvl3pPr indent="0" lvl="2" marL="0" marR="0" algn="l">
              <a:spcBef>
                <a:spcPts val="0"/>
              </a:spcBef>
              <a:buNone/>
              <a:defRPr b="0" i="0" sz="1000" u="none" cap="none" strike="noStrike">
                <a:solidFill>
                  <a:srgbClr val="FFFFFF"/>
                </a:solidFill>
                <a:latin typeface="Calibri"/>
                <a:ea typeface="Calibri"/>
                <a:cs typeface="Calibri"/>
                <a:sym typeface="Calibri"/>
              </a:defRPr>
            </a:lvl3pPr>
            <a:lvl4pPr indent="0" lvl="3" marL="0" marR="0" algn="l">
              <a:spcBef>
                <a:spcPts val="0"/>
              </a:spcBef>
              <a:buNone/>
              <a:defRPr b="0" i="0" sz="1000" u="none" cap="none" strike="noStrike">
                <a:solidFill>
                  <a:srgbClr val="FFFFFF"/>
                </a:solidFill>
                <a:latin typeface="Calibri"/>
                <a:ea typeface="Calibri"/>
                <a:cs typeface="Calibri"/>
                <a:sym typeface="Calibri"/>
              </a:defRPr>
            </a:lvl4pPr>
            <a:lvl5pPr indent="0" lvl="4" marL="0" marR="0" algn="l">
              <a:spcBef>
                <a:spcPts val="0"/>
              </a:spcBef>
              <a:buNone/>
              <a:defRPr b="0" i="0" sz="1000" u="none" cap="none" strike="noStrike">
                <a:solidFill>
                  <a:srgbClr val="FFFFFF"/>
                </a:solidFill>
                <a:latin typeface="Calibri"/>
                <a:ea typeface="Calibri"/>
                <a:cs typeface="Calibri"/>
                <a:sym typeface="Calibri"/>
              </a:defRPr>
            </a:lvl5pPr>
            <a:lvl6pPr indent="0" lvl="5" marL="0" marR="0" algn="l">
              <a:spcBef>
                <a:spcPts val="0"/>
              </a:spcBef>
              <a:buNone/>
              <a:defRPr b="0" i="0" sz="1000" u="none" cap="none" strike="noStrike">
                <a:solidFill>
                  <a:srgbClr val="FFFFFF"/>
                </a:solidFill>
                <a:latin typeface="Calibri"/>
                <a:ea typeface="Calibri"/>
                <a:cs typeface="Calibri"/>
                <a:sym typeface="Calibri"/>
              </a:defRPr>
            </a:lvl6pPr>
            <a:lvl7pPr indent="0" lvl="6" marL="0" marR="0" algn="l">
              <a:spcBef>
                <a:spcPts val="0"/>
              </a:spcBef>
              <a:buNone/>
              <a:defRPr b="0" i="0" sz="1000" u="none" cap="none" strike="noStrike">
                <a:solidFill>
                  <a:srgbClr val="FFFFFF"/>
                </a:solidFill>
                <a:latin typeface="Calibri"/>
                <a:ea typeface="Calibri"/>
                <a:cs typeface="Calibri"/>
                <a:sym typeface="Calibri"/>
              </a:defRPr>
            </a:lvl7pPr>
            <a:lvl8pPr indent="0" lvl="7" marL="0" marR="0" algn="l">
              <a:spcBef>
                <a:spcPts val="0"/>
              </a:spcBef>
              <a:buNone/>
              <a:defRPr b="0" i="0" sz="1000" u="none" cap="none" strike="noStrike">
                <a:solidFill>
                  <a:srgbClr val="FFFFFF"/>
                </a:solidFill>
                <a:latin typeface="Calibri"/>
                <a:ea typeface="Calibri"/>
                <a:cs typeface="Calibri"/>
                <a:sym typeface="Calibri"/>
              </a:defRPr>
            </a:lvl8pPr>
            <a:lvl9pPr indent="0" lvl="8" marL="0" marR="0" algn="l">
              <a:spcBef>
                <a:spcPts val="0"/>
              </a:spcBef>
              <a:buNone/>
              <a:defRPr b="0" i="0" sz="1000" u="none" cap="none" strike="noStrike">
                <a:solidFill>
                  <a:srgbClr val="FFFFF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3" name="Shape 63"/>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DARK">
  <p:cSld name="TITLE_DARK">
    <p:bg>
      <p:bgPr>
        <a:solidFill>
          <a:schemeClr val="dk2"/>
        </a:solidFill>
      </p:bgPr>
    </p:bg>
    <p:spTree>
      <p:nvGrpSpPr>
        <p:cNvPr id="66" name="Shape 66"/>
        <p:cNvGrpSpPr/>
        <p:nvPr/>
      </p:nvGrpSpPr>
      <p:grpSpPr>
        <a:xfrm>
          <a:off x="0" y="0"/>
          <a:ext cx="0" cy="0"/>
          <a:chOff x="0" y="0"/>
          <a:chExt cx="0" cy="0"/>
        </a:xfrm>
      </p:grpSpPr>
      <p:sp>
        <p:nvSpPr>
          <p:cNvPr id="67" name="Google Shape;67;p19"/>
          <p:cNvSpPr txBox="1"/>
          <p:nvPr>
            <p:ph type="title"/>
          </p:nvPr>
        </p:nvSpPr>
        <p:spPr>
          <a:xfrm>
            <a:off x="548640" y="1417320"/>
            <a:ext cx="8046720" cy="12801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8" name="Google Shape;68;p19"/>
          <p:cNvSpPr txBox="1"/>
          <p:nvPr>
            <p:ph idx="1" type="body"/>
          </p:nvPr>
        </p:nvSpPr>
        <p:spPr>
          <a:xfrm>
            <a:off x="548640" y="2834640"/>
            <a:ext cx="8046720" cy="8229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rgbClr val="C7C9F5"/>
              </a:buClr>
              <a:buSzPts val="1800"/>
              <a:buFont typeface="Arial"/>
              <a:buNone/>
              <a:defRPr b="0" i="0" sz="1800" u="none" cap="none" strike="noStrike">
                <a:solidFill>
                  <a:srgbClr val="C7C9F5"/>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69" name="Shape 69"/>
        <p:cNvGrpSpPr/>
        <p:nvPr/>
      </p:nvGrpSpPr>
      <p:grpSpPr>
        <a:xfrm>
          <a:off x="0" y="0"/>
          <a:ext cx="0" cy="0"/>
          <a:chOff x="0" y="0"/>
          <a:chExt cx="0" cy="0"/>
        </a:xfrm>
      </p:grpSpPr>
      <p:sp>
        <p:nvSpPr>
          <p:cNvPr id="70" name="Google Shape;70;p20"/>
          <p:cNvSpPr txBox="1"/>
          <p:nvPr>
            <p:ph type="title"/>
          </p:nvPr>
        </p:nvSpPr>
        <p:spPr>
          <a:xfrm>
            <a:off x="457200" y="274320"/>
            <a:ext cx="8229600" cy="5943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1" name="Google Shape;71;p20"/>
          <p:cNvSpPr/>
          <p:nvPr/>
        </p:nvSpPr>
        <p:spPr>
          <a:xfrm>
            <a:off x="457200" y="477316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0" i="0" lang="en" sz="1000" u="none" cap="none" strike="noStrike">
                <a:solidFill>
                  <a:schemeClr val="accent5"/>
                </a:solidFill>
                <a:latin typeface="Calibri"/>
                <a:ea typeface="Calibri"/>
                <a:cs typeface="Calibri"/>
                <a:sym typeface="Calibri"/>
              </a:rPr>
              <a:t>Training Kit Reserve Order · Modul Admin</a:t>
            </a:r>
            <a:endParaRPr b="0" i="0" sz="1000" u="none" cap="none" strike="noStrike">
              <a:solidFill>
                <a:schemeClr val="dk1"/>
              </a:solidFill>
              <a:latin typeface="Calibri"/>
              <a:ea typeface="Calibri"/>
              <a:cs typeface="Calibri"/>
              <a:sym typeface="Calibri"/>
            </a:endParaRPr>
          </a:p>
        </p:txBody>
      </p:sp>
      <p:sp>
        <p:nvSpPr>
          <p:cNvPr id="72" name="Google Shape;72;p20"/>
          <p:cNvSpPr txBox="1"/>
          <p:nvPr>
            <p:ph idx="12"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5"/>
                </a:solidFill>
                <a:latin typeface="Calibri"/>
                <a:ea typeface="Calibri"/>
                <a:cs typeface="Calibri"/>
                <a:sym typeface="Calibri"/>
              </a:defRPr>
            </a:lvl1pPr>
            <a:lvl2pPr indent="0" lvl="1" marL="0" marR="0" algn="r">
              <a:spcBef>
                <a:spcPts val="0"/>
              </a:spcBef>
              <a:buNone/>
              <a:defRPr b="0" i="0" sz="1000" u="none" cap="none" strike="noStrike">
                <a:solidFill>
                  <a:schemeClr val="accent5"/>
                </a:solidFill>
                <a:latin typeface="Calibri"/>
                <a:ea typeface="Calibri"/>
                <a:cs typeface="Calibri"/>
                <a:sym typeface="Calibri"/>
              </a:defRPr>
            </a:lvl2pPr>
            <a:lvl3pPr indent="0" lvl="2" marL="0" marR="0" algn="r">
              <a:spcBef>
                <a:spcPts val="0"/>
              </a:spcBef>
              <a:buNone/>
              <a:defRPr b="0" i="0" sz="1000" u="none" cap="none" strike="noStrike">
                <a:solidFill>
                  <a:schemeClr val="accent5"/>
                </a:solidFill>
                <a:latin typeface="Calibri"/>
                <a:ea typeface="Calibri"/>
                <a:cs typeface="Calibri"/>
                <a:sym typeface="Calibri"/>
              </a:defRPr>
            </a:lvl3pPr>
            <a:lvl4pPr indent="0" lvl="3" marL="0" marR="0" algn="r">
              <a:spcBef>
                <a:spcPts val="0"/>
              </a:spcBef>
              <a:buNone/>
              <a:defRPr b="0" i="0" sz="1000" u="none" cap="none" strike="noStrike">
                <a:solidFill>
                  <a:schemeClr val="accent5"/>
                </a:solidFill>
                <a:latin typeface="Calibri"/>
                <a:ea typeface="Calibri"/>
                <a:cs typeface="Calibri"/>
                <a:sym typeface="Calibri"/>
              </a:defRPr>
            </a:lvl4pPr>
            <a:lvl5pPr indent="0" lvl="4" marL="0" marR="0" algn="r">
              <a:spcBef>
                <a:spcPts val="0"/>
              </a:spcBef>
              <a:buNone/>
              <a:defRPr b="0" i="0" sz="1000" u="none" cap="none" strike="noStrike">
                <a:solidFill>
                  <a:schemeClr val="accent5"/>
                </a:solidFill>
                <a:latin typeface="Calibri"/>
                <a:ea typeface="Calibri"/>
                <a:cs typeface="Calibri"/>
                <a:sym typeface="Calibri"/>
              </a:defRPr>
            </a:lvl5pPr>
            <a:lvl6pPr indent="0" lvl="5" marL="0" marR="0" algn="r">
              <a:spcBef>
                <a:spcPts val="0"/>
              </a:spcBef>
              <a:buNone/>
              <a:defRPr b="0" i="0" sz="1000" u="none" cap="none" strike="noStrike">
                <a:solidFill>
                  <a:schemeClr val="accent5"/>
                </a:solidFill>
                <a:latin typeface="Calibri"/>
                <a:ea typeface="Calibri"/>
                <a:cs typeface="Calibri"/>
                <a:sym typeface="Calibri"/>
              </a:defRPr>
            </a:lvl6pPr>
            <a:lvl7pPr indent="0" lvl="6" marL="0" marR="0" algn="r">
              <a:spcBef>
                <a:spcPts val="0"/>
              </a:spcBef>
              <a:buNone/>
              <a:defRPr b="0" i="0" sz="1000" u="none" cap="none" strike="noStrike">
                <a:solidFill>
                  <a:schemeClr val="accent5"/>
                </a:solidFill>
                <a:latin typeface="Calibri"/>
                <a:ea typeface="Calibri"/>
                <a:cs typeface="Calibri"/>
                <a:sym typeface="Calibri"/>
              </a:defRPr>
            </a:lvl7pPr>
            <a:lvl8pPr indent="0" lvl="7" marL="0" marR="0" algn="r">
              <a:spcBef>
                <a:spcPts val="0"/>
              </a:spcBef>
              <a:buNone/>
              <a:defRPr b="0" i="0" sz="1000" u="none" cap="none" strike="noStrike">
                <a:solidFill>
                  <a:schemeClr val="accent5"/>
                </a:solidFill>
                <a:latin typeface="Calibri"/>
                <a:ea typeface="Calibri"/>
                <a:cs typeface="Calibri"/>
                <a:sym typeface="Calibri"/>
              </a:defRPr>
            </a:lvl8pPr>
            <a:lvl9pPr indent="0" lvl="8" marL="0" marR="0" algn="r">
              <a:spcBef>
                <a:spcPts val="0"/>
              </a:spcBef>
              <a:buNone/>
              <a:defRPr b="0" i="0" sz="10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p:cSld name="SECTION">
    <p:bg>
      <p:bgPr>
        <a:solidFill>
          <a:schemeClr val="accent1"/>
        </a:solidFill>
      </p:bgPr>
    </p:bg>
    <p:spTree>
      <p:nvGrpSpPr>
        <p:cNvPr id="73" name="Shape 73"/>
        <p:cNvGrpSpPr/>
        <p:nvPr/>
      </p:nvGrpSpPr>
      <p:grpSpPr>
        <a:xfrm>
          <a:off x="0" y="0"/>
          <a:ext cx="0" cy="0"/>
          <a:chOff x="0" y="0"/>
          <a:chExt cx="0" cy="0"/>
        </a:xfrm>
      </p:grpSpPr>
      <p:sp>
        <p:nvSpPr>
          <p:cNvPr id="74" name="Google Shape;74;p21"/>
          <p:cNvSpPr txBox="1"/>
          <p:nvPr>
            <p:ph type="title"/>
          </p:nvPr>
        </p:nvSpPr>
        <p:spPr>
          <a:xfrm>
            <a:off x="548640" y="1828800"/>
            <a:ext cx="8046720"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600"/>
              <a:buFont typeface="Arial"/>
              <a:buNone/>
              <a:defRPr b="1" i="0" sz="36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5" name="Google Shape;75;p21"/>
          <p:cNvSpPr txBox="1"/>
          <p:nvPr>
            <p:ph idx="1" type="body"/>
          </p:nvPr>
        </p:nvSpPr>
        <p:spPr>
          <a:xfrm>
            <a:off x="548640" y="2834640"/>
            <a:ext cx="8046720" cy="7315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lt2"/>
              </a:buClr>
              <a:buSzPts val="1600"/>
              <a:buFont typeface="Arial"/>
              <a:buNone/>
              <a:defRPr b="0" i="0" sz="1600" u="none" cap="none" strike="noStrike">
                <a:solidFill>
                  <a:schemeClr val="l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6" name="Google Shape;76;p21"/>
          <p:cNvSpPr txBox="1"/>
          <p:nvPr>
            <p:ph idx="12"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000" u="none" cap="none" strike="noStrike">
                <a:solidFill>
                  <a:srgbClr val="FFFFFF"/>
                </a:solidFill>
                <a:latin typeface="Calibri"/>
                <a:ea typeface="Calibri"/>
                <a:cs typeface="Calibri"/>
                <a:sym typeface="Calibri"/>
              </a:defRPr>
            </a:lvl1pPr>
            <a:lvl2pPr indent="0" lvl="1" marL="0" marR="0" algn="l">
              <a:spcBef>
                <a:spcPts val="0"/>
              </a:spcBef>
              <a:buNone/>
              <a:defRPr b="0" i="0" sz="1000" u="none" cap="none" strike="noStrike">
                <a:solidFill>
                  <a:srgbClr val="FFFFFF"/>
                </a:solidFill>
                <a:latin typeface="Calibri"/>
                <a:ea typeface="Calibri"/>
                <a:cs typeface="Calibri"/>
                <a:sym typeface="Calibri"/>
              </a:defRPr>
            </a:lvl2pPr>
            <a:lvl3pPr indent="0" lvl="2" marL="0" marR="0" algn="l">
              <a:spcBef>
                <a:spcPts val="0"/>
              </a:spcBef>
              <a:buNone/>
              <a:defRPr b="0" i="0" sz="1000" u="none" cap="none" strike="noStrike">
                <a:solidFill>
                  <a:srgbClr val="FFFFFF"/>
                </a:solidFill>
                <a:latin typeface="Calibri"/>
                <a:ea typeface="Calibri"/>
                <a:cs typeface="Calibri"/>
                <a:sym typeface="Calibri"/>
              </a:defRPr>
            </a:lvl3pPr>
            <a:lvl4pPr indent="0" lvl="3" marL="0" marR="0" algn="l">
              <a:spcBef>
                <a:spcPts val="0"/>
              </a:spcBef>
              <a:buNone/>
              <a:defRPr b="0" i="0" sz="1000" u="none" cap="none" strike="noStrike">
                <a:solidFill>
                  <a:srgbClr val="FFFFFF"/>
                </a:solidFill>
                <a:latin typeface="Calibri"/>
                <a:ea typeface="Calibri"/>
                <a:cs typeface="Calibri"/>
                <a:sym typeface="Calibri"/>
              </a:defRPr>
            </a:lvl4pPr>
            <a:lvl5pPr indent="0" lvl="4" marL="0" marR="0" algn="l">
              <a:spcBef>
                <a:spcPts val="0"/>
              </a:spcBef>
              <a:buNone/>
              <a:defRPr b="0" i="0" sz="1000" u="none" cap="none" strike="noStrike">
                <a:solidFill>
                  <a:srgbClr val="FFFFFF"/>
                </a:solidFill>
                <a:latin typeface="Calibri"/>
                <a:ea typeface="Calibri"/>
                <a:cs typeface="Calibri"/>
                <a:sym typeface="Calibri"/>
              </a:defRPr>
            </a:lvl5pPr>
            <a:lvl6pPr indent="0" lvl="5" marL="0" marR="0" algn="l">
              <a:spcBef>
                <a:spcPts val="0"/>
              </a:spcBef>
              <a:buNone/>
              <a:defRPr b="0" i="0" sz="1000" u="none" cap="none" strike="noStrike">
                <a:solidFill>
                  <a:srgbClr val="FFFFFF"/>
                </a:solidFill>
                <a:latin typeface="Calibri"/>
                <a:ea typeface="Calibri"/>
                <a:cs typeface="Calibri"/>
                <a:sym typeface="Calibri"/>
              </a:defRPr>
            </a:lvl6pPr>
            <a:lvl7pPr indent="0" lvl="6" marL="0" marR="0" algn="l">
              <a:spcBef>
                <a:spcPts val="0"/>
              </a:spcBef>
              <a:buNone/>
              <a:defRPr b="0" i="0" sz="1000" u="none" cap="none" strike="noStrike">
                <a:solidFill>
                  <a:srgbClr val="FFFFFF"/>
                </a:solidFill>
                <a:latin typeface="Calibri"/>
                <a:ea typeface="Calibri"/>
                <a:cs typeface="Calibri"/>
                <a:sym typeface="Calibri"/>
              </a:defRPr>
            </a:lvl7pPr>
            <a:lvl8pPr indent="0" lvl="7" marL="0" marR="0" algn="l">
              <a:spcBef>
                <a:spcPts val="0"/>
              </a:spcBef>
              <a:buNone/>
              <a:defRPr b="0" i="0" sz="1000" u="none" cap="none" strike="noStrike">
                <a:solidFill>
                  <a:srgbClr val="FFFFFF"/>
                </a:solidFill>
                <a:latin typeface="Calibri"/>
                <a:ea typeface="Calibri"/>
                <a:cs typeface="Calibri"/>
                <a:sym typeface="Calibri"/>
              </a:defRPr>
            </a:lvl8pPr>
            <a:lvl9pPr indent="0" lvl="8" marL="0" marR="0" algn="l">
              <a:spcBef>
                <a:spcPts val="0"/>
              </a:spcBef>
              <a:buNone/>
              <a:defRPr b="0" i="0" sz="1000" u="none" cap="none" strike="noStrike">
                <a:solidFill>
                  <a:srgbClr val="FFFFF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7" name="Shape 77"/>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F1B2D"/>
        </a:solidFill>
      </p:bgPr>
    </p:bg>
    <p:spTree>
      <p:nvGrpSpPr>
        <p:cNvPr id="80" name="Shape 80"/>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81" name="Shape 81"/>
        <p:cNvGrpSpPr/>
        <p:nvPr/>
      </p:nvGrpSpPr>
      <p:grpSpPr>
        <a:xfrm>
          <a:off x="0" y="0"/>
          <a:ext cx="0" cy="0"/>
          <a:chOff x="0" y="0"/>
          <a:chExt cx="0" cy="0"/>
        </a:xfrm>
      </p:grpSpPr>
      <p:sp>
        <p:nvSpPr>
          <p:cNvPr id="82" name="Google Shape;82;p25"/>
          <p:cNvSpPr txBox="1"/>
          <p:nvPr>
            <p:ph type="title"/>
          </p:nvPr>
        </p:nvSpPr>
        <p:spPr>
          <a:xfrm>
            <a:off x="457200" y="256032"/>
            <a:ext cx="6766560" cy="5486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800"/>
              <a:buFont typeface="Calibri"/>
              <a:buNone/>
              <a:defRPr b="1" i="0" sz="28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3" name="Google Shape;83;p25"/>
          <p:cNvSpPr/>
          <p:nvPr/>
        </p:nvSpPr>
        <p:spPr>
          <a:xfrm>
            <a:off x="457200" y="4846320"/>
            <a:ext cx="5486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BA6"/>
              </a:buClr>
              <a:buSzPts val="900"/>
              <a:buFont typeface="Calibri"/>
              <a:buNone/>
            </a:pPr>
            <a:r>
              <a:rPr b="0" i="0" lang="en" sz="900" u="none" cap="none" strike="noStrike">
                <a:solidFill>
                  <a:srgbClr val="7A8BA6"/>
                </a:solidFill>
                <a:latin typeface="Calibri"/>
                <a:ea typeface="Calibri"/>
                <a:cs typeface="Calibri"/>
                <a:sym typeface="Calibri"/>
              </a:rPr>
              <a:t>Training Kit Reserve Order · Paradise Connect</a:t>
            </a:r>
            <a:endParaRPr b="0" i="0" sz="900" u="none" cap="none" strike="noStrike">
              <a:solidFill>
                <a:schemeClr val="dk1"/>
              </a:solidFill>
              <a:latin typeface="Calibri"/>
              <a:ea typeface="Calibri"/>
              <a:cs typeface="Calibri"/>
              <a:sym typeface="Calibri"/>
            </a:endParaRPr>
          </a:p>
        </p:txBody>
      </p:sp>
      <p:sp>
        <p:nvSpPr>
          <p:cNvPr id="84" name="Google Shape;84;p25"/>
          <p:cNvSpPr txBox="1"/>
          <p:nvPr>
            <p:ph idx="12"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7A8BA6"/>
                </a:solidFill>
                <a:latin typeface="Calibri"/>
                <a:ea typeface="Calibri"/>
                <a:cs typeface="Calibri"/>
                <a:sym typeface="Calibri"/>
              </a:defRPr>
            </a:lvl1pPr>
            <a:lvl2pPr indent="0" lvl="1" marL="0" marR="0" algn="r">
              <a:spcBef>
                <a:spcPts val="0"/>
              </a:spcBef>
              <a:buNone/>
              <a:defRPr b="0" i="0" sz="900" u="none" cap="none" strike="noStrike">
                <a:solidFill>
                  <a:srgbClr val="7A8BA6"/>
                </a:solidFill>
                <a:latin typeface="Calibri"/>
                <a:ea typeface="Calibri"/>
                <a:cs typeface="Calibri"/>
                <a:sym typeface="Calibri"/>
              </a:defRPr>
            </a:lvl2pPr>
            <a:lvl3pPr indent="0" lvl="2" marL="0" marR="0" algn="r">
              <a:spcBef>
                <a:spcPts val="0"/>
              </a:spcBef>
              <a:buNone/>
              <a:defRPr b="0" i="0" sz="900" u="none" cap="none" strike="noStrike">
                <a:solidFill>
                  <a:srgbClr val="7A8BA6"/>
                </a:solidFill>
                <a:latin typeface="Calibri"/>
                <a:ea typeface="Calibri"/>
                <a:cs typeface="Calibri"/>
                <a:sym typeface="Calibri"/>
              </a:defRPr>
            </a:lvl3pPr>
            <a:lvl4pPr indent="0" lvl="3" marL="0" marR="0" algn="r">
              <a:spcBef>
                <a:spcPts val="0"/>
              </a:spcBef>
              <a:buNone/>
              <a:defRPr b="0" i="0" sz="900" u="none" cap="none" strike="noStrike">
                <a:solidFill>
                  <a:srgbClr val="7A8BA6"/>
                </a:solidFill>
                <a:latin typeface="Calibri"/>
                <a:ea typeface="Calibri"/>
                <a:cs typeface="Calibri"/>
                <a:sym typeface="Calibri"/>
              </a:defRPr>
            </a:lvl4pPr>
            <a:lvl5pPr indent="0" lvl="4" marL="0" marR="0" algn="r">
              <a:spcBef>
                <a:spcPts val="0"/>
              </a:spcBef>
              <a:buNone/>
              <a:defRPr b="0" i="0" sz="900" u="none" cap="none" strike="noStrike">
                <a:solidFill>
                  <a:srgbClr val="7A8BA6"/>
                </a:solidFill>
                <a:latin typeface="Calibri"/>
                <a:ea typeface="Calibri"/>
                <a:cs typeface="Calibri"/>
                <a:sym typeface="Calibri"/>
              </a:defRPr>
            </a:lvl5pPr>
            <a:lvl6pPr indent="0" lvl="5" marL="0" marR="0" algn="r">
              <a:spcBef>
                <a:spcPts val="0"/>
              </a:spcBef>
              <a:buNone/>
              <a:defRPr b="0" i="0" sz="900" u="none" cap="none" strike="noStrike">
                <a:solidFill>
                  <a:srgbClr val="7A8BA6"/>
                </a:solidFill>
                <a:latin typeface="Calibri"/>
                <a:ea typeface="Calibri"/>
                <a:cs typeface="Calibri"/>
                <a:sym typeface="Calibri"/>
              </a:defRPr>
            </a:lvl6pPr>
            <a:lvl7pPr indent="0" lvl="6" marL="0" marR="0" algn="r">
              <a:spcBef>
                <a:spcPts val="0"/>
              </a:spcBef>
              <a:buNone/>
              <a:defRPr b="0" i="0" sz="900" u="none" cap="none" strike="noStrike">
                <a:solidFill>
                  <a:srgbClr val="7A8BA6"/>
                </a:solidFill>
                <a:latin typeface="Calibri"/>
                <a:ea typeface="Calibri"/>
                <a:cs typeface="Calibri"/>
                <a:sym typeface="Calibri"/>
              </a:defRPr>
            </a:lvl7pPr>
            <a:lvl8pPr indent="0" lvl="7" marL="0" marR="0" algn="r">
              <a:spcBef>
                <a:spcPts val="0"/>
              </a:spcBef>
              <a:buNone/>
              <a:defRPr b="0" i="0" sz="900" u="none" cap="none" strike="noStrike">
                <a:solidFill>
                  <a:srgbClr val="7A8BA6"/>
                </a:solidFill>
                <a:latin typeface="Calibri"/>
                <a:ea typeface="Calibri"/>
                <a:cs typeface="Calibri"/>
                <a:sym typeface="Calibri"/>
              </a:defRPr>
            </a:lvl8pPr>
            <a:lvl9pPr indent="0" lvl="8" marL="0" marR="0" algn="r">
              <a:spcBef>
                <a:spcPts val="0"/>
              </a:spcBef>
              <a:buNone/>
              <a:defRPr b="0" i="0" sz="900" u="none" cap="none" strike="noStrike">
                <a:solidFill>
                  <a:srgbClr val="7A8B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5" name="Shape 8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000" u="none" cap="none" strike="noStrike">
                <a:solidFill>
                  <a:srgbClr val="FFFFFF"/>
                </a:solidFill>
                <a:latin typeface="Calibri"/>
                <a:ea typeface="Calibri"/>
                <a:cs typeface="Calibri"/>
                <a:sym typeface="Calibri"/>
              </a:defRPr>
            </a:lvl1pPr>
            <a:lvl2pPr indent="0" lvl="1" marL="0" marR="0" rtl="0" algn="l">
              <a:spcBef>
                <a:spcPts val="0"/>
              </a:spcBef>
              <a:buNone/>
              <a:defRPr b="0" i="0" sz="1000" u="none" cap="none" strike="noStrike">
                <a:solidFill>
                  <a:srgbClr val="FFFFFF"/>
                </a:solidFill>
                <a:latin typeface="Calibri"/>
                <a:ea typeface="Calibri"/>
                <a:cs typeface="Calibri"/>
                <a:sym typeface="Calibri"/>
              </a:defRPr>
            </a:lvl2pPr>
            <a:lvl3pPr indent="0" lvl="2" marL="0" marR="0" rtl="0" algn="l">
              <a:spcBef>
                <a:spcPts val="0"/>
              </a:spcBef>
              <a:buNone/>
              <a:defRPr b="0" i="0" sz="1000" u="none" cap="none" strike="noStrike">
                <a:solidFill>
                  <a:srgbClr val="FFFFFF"/>
                </a:solidFill>
                <a:latin typeface="Calibri"/>
                <a:ea typeface="Calibri"/>
                <a:cs typeface="Calibri"/>
                <a:sym typeface="Calibri"/>
              </a:defRPr>
            </a:lvl3pPr>
            <a:lvl4pPr indent="0" lvl="3" marL="0" marR="0" rtl="0" algn="l">
              <a:spcBef>
                <a:spcPts val="0"/>
              </a:spcBef>
              <a:buNone/>
              <a:defRPr b="0" i="0" sz="1000" u="none" cap="none" strike="noStrike">
                <a:solidFill>
                  <a:srgbClr val="FFFFFF"/>
                </a:solidFill>
                <a:latin typeface="Calibri"/>
                <a:ea typeface="Calibri"/>
                <a:cs typeface="Calibri"/>
                <a:sym typeface="Calibri"/>
              </a:defRPr>
            </a:lvl4pPr>
            <a:lvl5pPr indent="0" lvl="4" marL="0" marR="0" rtl="0" algn="l">
              <a:spcBef>
                <a:spcPts val="0"/>
              </a:spcBef>
              <a:buNone/>
              <a:defRPr b="0" i="0" sz="1000" u="none" cap="none" strike="noStrike">
                <a:solidFill>
                  <a:srgbClr val="FFFFFF"/>
                </a:solidFill>
                <a:latin typeface="Calibri"/>
                <a:ea typeface="Calibri"/>
                <a:cs typeface="Calibri"/>
                <a:sym typeface="Calibri"/>
              </a:defRPr>
            </a:lvl5pPr>
            <a:lvl6pPr indent="0" lvl="5" marL="0" marR="0" rtl="0" algn="l">
              <a:spcBef>
                <a:spcPts val="0"/>
              </a:spcBef>
              <a:buNone/>
              <a:defRPr b="0" i="0" sz="1000" u="none" cap="none" strike="noStrike">
                <a:solidFill>
                  <a:srgbClr val="FFFFFF"/>
                </a:solidFill>
                <a:latin typeface="Calibri"/>
                <a:ea typeface="Calibri"/>
                <a:cs typeface="Calibri"/>
                <a:sym typeface="Calibri"/>
              </a:defRPr>
            </a:lvl6pPr>
            <a:lvl7pPr indent="0" lvl="6" marL="0" marR="0" rtl="0" algn="l">
              <a:spcBef>
                <a:spcPts val="0"/>
              </a:spcBef>
              <a:buNone/>
              <a:defRPr b="0" i="0" sz="1000" u="none" cap="none" strike="noStrike">
                <a:solidFill>
                  <a:srgbClr val="FFFFFF"/>
                </a:solidFill>
                <a:latin typeface="Calibri"/>
                <a:ea typeface="Calibri"/>
                <a:cs typeface="Calibri"/>
                <a:sym typeface="Calibri"/>
              </a:defRPr>
            </a:lvl7pPr>
            <a:lvl8pPr indent="0" lvl="7" marL="0" marR="0" rtl="0" algn="l">
              <a:spcBef>
                <a:spcPts val="0"/>
              </a:spcBef>
              <a:buNone/>
              <a:defRPr b="0" i="0" sz="1000" u="none" cap="none" strike="noStrike">
                <a:solidFill>
                  <a:srgbClr val="FFFFFF"/>
                </a:solidFill>
                <a:latin typeface="Calibri"/>
                <a:ea typeface="Calibri"/>
                <a:cs typeface="Calibri"/>
                <a:sym typeface="Calibri"/>
              </a:defRPr>
            </a:lvl8pPr>
            <a:lvl9pPr indent="0" lvl="8" marL="0" marR="0" rtl="0" algn="l">
              <a:spcBef>
                <a:spcPts val="0"/>
              </a:spcBef>
              <a:buNone/>
              <a:defRPr b="0" i="0" sz="1000" u="none" cap="none" strike="noStrike">
                <a:solidFill>
                  <a:srgbClr val="FFFFF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8"/>
          <p:cNvSpPr txBox="1"/>
          <p:nvPr>
            <p:ph idx="12"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000" u="none" cap="none" strike="noStrike">
                <a:solidFill>
                  <a:srgbClr val="FFFFFF"/>
                </a:solidFill>
                <a:latin typeface="Calibri"/>
                <a:ea typeface="Calibri"/>
                <a:cs typeface="Calibri"/>
                <a:sym typeface="Calibri"/>
              </a:defRPr>
            </a:lvl1pPr>
            <a:lvl2pPr indent="0" lvl="1" marL="0" marR="0" rtl="0" algn="l">
              <a:spcBef>
                <a:spcPts val="0"/>
              </a:spcBef>
              <a:buNone/>
              <a:defRPr b="0" i="0" sz="1000" u="none" cap="none" strike="noStrike">
                <a:solidFill>
                  <a:srgbClr val="FFFFFF"/>
                </a:solidFill>
                <a:latin typeface="Calibri"/>
                <a:ea typeface="Calibri"/>
                <a:cs typeface="Calibri"/>
                <a:sym typeface="Calibri"/>
              </a:defRPr>
            </a:lvl2pPr>
            <a:lvl3pPr indent="0" lvl="2" marL="0" marR="0" rtl="0" algn="l">
              <a:spcBef>
                <a:spcPts val="0"/>
              </a:spcBef>
              <a:buNone/>
              <a:defRPr b="0" i="0" sz="1000" u="none" cap="none" strike="noStrike">
                <a:solidFill>
                  <a:srgbClr val="FFFFFF"/>
                </a:solidFill>
                <a:latin typeface="Calibri"/>
                <a:ea typeface="Calibri"/>
                <a:cs typeface="Calibri"/>
                <a:sym typeface="Calibri"/>
              </a:defRPr>
            </a:lvl3pPr>
            <a:lvl4pPr indent="0" lvl="3" marL="0" marR="0" rtl="0" algn="l">
              <a:spcBef>
                <a:spcPts val="0"/>
              </a:spcBef>
              <a:buNone/>
              <a:defRPr b="0" i="0" sz="1000" u="none" cap="none" strike="noStrike">
                <a:solidFill>
                  <a:srgbClr val="FFFFFF"/>
                </a:solidFill>
                <a:latin typeface="Calibri"/>
                <a:ea typeface="Calibri"/>
                <a:cs typeface="Calibri"/>
                <a:sym typeface="Calibri"/>
              </a:defRPr>
            </a:lvl4pPr>
            <a:lvl5pPr indent="0" lvl="4" marL="0" marR="0" rtl="0" algn="l">
              <a:spcBef>
                <a:spcPts val="0"/>
              </a:spcBef>
              <a:buNone/>
              <a:defRPr b="0" i="0" sz="1000" u="none" cap="none" strike="noStrike">
                <a:solidFill>
                  <a:srgbClr val="FFFFFF"/>
                </a:solidFill>
                <a:latin typeface="Calibri"/>
                <a:ea typeface="Calibri"/>
                <a:cs typeface="Calibri"/>
                <a:sym typeface="Calibri"/>
              </a:defRPr>
            </a:lvl5pPr>
            <a:lvl6pPr indent="0" lvl="5" marL="0" marR="0" rtl="0" algn="l">
              <a:spcBef>
                <a:spcPts val="0"/>
              </a:spcBef>
              <a:buNone/>
              <a:defRPr b="0" i="0" sz="1000" u="none" cap="none" strike="noStrike">
                <a:solidFill>
                  <a:srgbClr val="FFFFFF"/>
                </a:solidFill>
                <a:latin typeface="Calibri"/>
                <a:ea typeface="Calibri"/>
                <a:cs typeface="Calibri"/>
                <a:sym typeface="Calibri"/>
              </a:defRPr>
            </a:lvl6pPr>
            <a:lvl7pPr indent="0" lvl="6" marL="0" marR="0" rtl="0" algn="l">
              <a:spcBef>
                <a:spcPts val="0"/>
              </a:spcBef>
              <a:buNone/>
              <a:defRPr b="0" i="0" sz="1000" u="none" cap="none" strike="noStrike">
                <a:solidFill>
                  <a:srgbClr val="FFFFFF"/>
                </a:solidFill>
                <a:latin typeface="Calibri"/>
                <a:ea typeface="Calibri"/>
                <a:cs typeface="Calibri"/>
                <a:sym typeface="Calibri"/>
              </a:defRPr>
            </a:lvl7pPr>
            <a:lvl8pPr indent="0" lvl="7" marL="0" marR="0" rtl="0" algn="l">
              <a:spcBef>
                <a:spcPts val="0"/>
              </a:spcBef>
              <a:buNone/>
              <a:defRPr b="0" i="0" sz="1000" u="none" cap="none" strike="noStrike">
                <a:solidFill>
                  <a:srgbClr val="FFFFFF"/>
                </a:solidFill>
                <a:latin typeface="Calibri"/>
                <a:ea typeface="Calibri"/>
                <a:cs typeface="Calibri"/>
                <a:sym typeface="Calibri"/>
              </a:defRPr>
            </a:lvl8pPr>
            <a:lvl9pPr indent="0" lvl="8" marL="0" marR="0" rtl="0" algn="l">
              <a:spcBef>
                <a:spcPts val="0"/>
              </a:spcBef>
              <a:buNone/>
              <a:defRPr b="0" i="0" sz="1000" u="none" cap="none" strike="noStrike">
                <a:solidFill>
                  <a:srgbClr val="FFFFF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3"/>
          <p:cNvSpPr txBox="1"/>
          <p:nvPr>
            <p:ph idx="12"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rgbClr val="7A8BA6"/>
                </a:solidFill>
                <a:latin typeface="Calibri"/>
                <a:ea typeface="Calibri"/>
                <a:cs typeface="Calibri"/>
                <a:sym typeface="Calibri"/>
              </a:defRPr>
            </a:lvl1pPr>
            <a:lvl2pPr indent="0" lvl="1" marL="0" marR="0" rtl="0" algn="r">
              <a:spcBef>
                <a:spcPts val="0"/>
              </a:spcBef>
              <a:buNone/>
              <a:defRPr b="0" i="0" sz="900" u="none" cap="none" strike="noStrike">
                <a:solidFill>
                  <a:srgbClr val="7A8BA6"/>
                </a:solidFill>
                <a:latin typeface="Calibri"/>
                <a:ea typeface="Calibri"/>
                <a:cs typeface="Calibri"/>
                <a:sym typeface="Calibri"/>
              </a:defRPr>
            </a:lvl2pPr>
            <a:lvl3pPr indent="0" lvl="2" marL="0" marR="0" rtl="0" algn="r">
              <a:spcBef>
                <a:spcPts val="0"/>
              </a:spcBef>
              <a:buNone/>
              <a:defRPr b="0" i="0" sz="900" u="none" cap="none" strike="noStrike">
                <a:solidFill>
                  <a:srgbClr val="7A8BA6"/>
                </a:solidFill>
                <a:latin typeface="Calibri"/>
                <a:ea typeface="Calibri"/>
                <a:cs typeface="Calibri"/>
                <a:sym typeface="Calibri"/>
              </a:defRPr>
            </a:lvl3pPr>
            <a:lvl4pPr indent="0" lvl="3" marL="0" marR="0" rtl="0" algn="r">
              <a:spcBef>
                <a:spcPts val="0"/>
              </a:spcBef>
              <a:buNone/>
              <a:defRPr b="0" i="0" sz="900" u="none" cap="none" strike="noStrike">
                <a:solidFill>
                  <a:srgbClr val="7A8BA6"/>
                </a:solidFill>
                <a:latin typeface="Calibri"/>
                <a:ea typeface="Calibri"/>
                <a:cs typeface="Calibri"/>
                <a:sym typeface="Calibri"/>
              </a:defRPr>
            </a:lvl4pPr>
            <a:lvl5pPr indent="0" lvl="4" marL="0" marR="0" rtl="0" algn="r">
              <a:spcBef>
                <a:spcPts val="0"/>
              </a:spcBef>
              <a:buNone/>
              <a:defRPr b="0" i="0" sz="900" u="none" cap="none" strike="noStrike">
                <a:solidFill>
                  <a:srgbClr val="7A8BA6"/>
                </a:solidFill>
                <a:latin typeface="Calibri"/>
                <a:ea typeface="Calibri"/>
                <a:cs typeface="Calibri"/>
                <a:sym typeface="Calibri"/>
              </a:defRPr>
            </a:lvl5pPr>
            <a:lvl6pPr indent="0" lvl="5" marL="0" marR="0" rtl="0" algn="r">
              <a:spcBef>
                <a:spcPts val="0"/>
              </a:spcBef>
              <a:buNone/>
              <a:defRPr b="0" i="0" sz="900" u="none" cap="none" strike="noStrike">
                <a:solidFill>
                  <a:srgbClr val="7A8BA6"/>
                </a:solidFill>
                <a:latin typeface="Calibri"/>
                <a:ea typeface="Calibri"/>
                <a:cs typeface="Calibri"/>
                <a:sym typeface="Calibri"/>
              </a:defRPr>
            </a:lvl6pPr>
            <a:lvl7pPr indent="0" lvl="6" marL="0" marR="0" rtl="0" algn="r">
              <a:spcBef>
                <a:spcPts val="0"/>
              </a:spcBef>
              <a:buNone/>
              <a:defRPr b="0" i="0" sz="900" u="none" cap="none" strike="noStrike">
                <a:solidFill>
                  <a:srgbClr val="7A8BA6"/>
                </a:solidFill>
                <a:latin typeface="Calibri"/>
                <a:ea typeface="Calibri"/>
                <a:cs typeface="Calibri"/>
                <a:sym typeface="Calibri"/>
              </a:defRPr>
            </a:lvl7pPr>
            <a:lvl8pPr indent="0" lvl="7" marL="0" marR="0" rtl="0" algn="r">
              <a:spcBef>
                <a:spcPts val="0"/>
              </a:spcBef>
              <a:buNone/>
              <a:defRPr b="0" i="0" sz="900" u="none" cap="none" strike="noStrike">
                <a:solidFill>
                  <a:srgbClr val="7A8BA6"/>
                </a:solidFill>
                <a:latin typeface="Calibri"/>
                <a:ea typeface="Calibri"/>
                <a:cs typeface="Calibri"/>
                <a:sym typeface="Calibri"/>
              </a:defRPr>
            </a:lvl8pPr>
            <a:lvl9pPr indent="0" lvl="8" marL="0" marR="0" rtl="0" algn="r">
              <a:spcBef>
                <a:spcPts val="0"/>
              </a:spcBef>
              <a:buNone/>
              <a:defRPr b="0" i="0" sz="900" u="none" cap="none" strike="noStrike">
                <a:solidFill>
                  <a:srgbClr val="7A8B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xml"/><Relationship Id="rId3" Type="http://schemas.openxmlformats.org/officeDocument/2006/relationships/image" Target="../media/image4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4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 Id="rId3" Type="http://schemas.openxmlformats.org/officeDocument/2006/relationships/image" Target="../media/image5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51.png"/><Relationship Id="rId4" Type="http://schemas.openxmlformats.org/officeDocument/2006/relationships/image" Target="../media/image15.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43.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24.png"/><Relationship Id="rId5"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 Id="rId3" Type="http://schemas.openxmlformats.org/officeDocument/2006/relationships/image" Target="../media/image34.png"/><Relationship Id="rId4" Type="http://schemas.openxmlformats.org/officeDocument/2006/relationships/image" Target="../media/image21.png"/><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image" Target="../media/image44.png"/><Relationship Id="rId4" Type="http://schemas.openxmlformats.org/officeDocument/2006/relationships/image" Target="../media/image19.png"/><Relationship Id="rId5" Type="http://schemas.openxmlformats.org/officeDocument/2006/relationships/image" Target="../media/image5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45.png"/><Relationship Id="rId5"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31.png"/><Relationship Id="rId5"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 Id="rId3" Type="http://schemas.openxmlformats.org/officeDocument/2006/relationships/image" Target="../media/image58.png"/><Relationship Id="rId4" Type="http://schemas.openxmlformats.org/officeDocument/2006/relationships/image" Target="../media/image50.png"/><Relationship Id="rId5"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30.png"/><Relationship Id="rId4" Type="http://schemas.openxmlformats.org/officeDocument/2006/relationships/image" Target="../media/image33.png"/><Relationship Id="rId5" Type="http://schemas.openxmlformats.org/officeDocument/2006/relationships/image" Target="../media/image37.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6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72.png"/><Relationship Id="rId4" Type="http://schemas.openxmlformats.org/officeDocument/2006/relationships/image" Target="../media/image39.png"/><Relationship Id="rId5"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5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4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7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70.jpg"/><Relationship Id="rId4" Type="http://schemas.openxmlformats.org/officeDocument/2006/relationships/image" Target="../media/image7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8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94.jpg"/><Relationship Id="rId4" Type="http://schemas.openxmlformats.org/officeDocument/2006/relationships/image" Target="../media/image7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54.jpg"/><Relationship Id="rId4" Type="http://schemas.openxmlformats.org/officeDocument/2006/relationships/image" Target="../media/image6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8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38.png"/><Relationship Id="rId4" Type="http://schemas.openxmlformats.org/officeDocument/2006/relationships/image" Target="../media/image78.png"/><Relationship Id="rId5" Type="http://schemas.openxmlformats.org/officeDocument/2006/relationships/image" Target="../media/image6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 Id="rId3" Type="http://schemas.openxmlformats.org/officeDocument/2006/relationships/image" Target="../media/image5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 Id="rId3" Type="http://schemas.openxmlformats.org/officeDocument/2006/relationships/image" Target="../media/image30.png"/><Relationship Id="rId4" Type="http://schemas.openxmlformats.org/officeDocument/2006/relationships/image" Target="../media/image59.png"/><Relationship Id="rId5" Type="http://schemas.openxmlformats.org/officeDocument/2006/relationships/image" Target="../media/image62.png"/><Relationship Id="rId6" Type="http://schemas.openxmlformats.org/officeDocument/2006/relationships/image" Target="../media/image60.png"/><Relationship Id="rId7" Type="http://schemas.openxmlformats.org/officeDocument/2006/relationships/image" Target="../media/image63.png"/><Relationship Id="rId8" Type="http://schemas.openxmlformats.org/officeDocument/2006/relationships/image" Target="../media/image6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 Id="rId3" Type="http://schemas.openxmlformats.org/officeDocument/2006/relationships/image" Target="../media/image64.png"/><Relationship Id="rId4" Type="http://schemas.openxmlformats.org/officeDocument/2006/relationships/image" Target="../media/image32.png"/><Relationship Id="rId5" Type="http://schemas.openxmlformats.org/officeDocument/2006/relationships/image" Target="../media/image73.png"/><Relationship Id="rId6" Type="http://schemas.openxmlformats.org/officeDocument/2006/relationships/image" Target="../media/image6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8.xml"/><Relationship Id="rId3" Type="http://schemas.openxmlformats.org/officeDocument/2006/relationships/image" Target="../media/image7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0.xml"/><Relationship Id="rId3" Type="http://schemas.openxmlformats.org/officeDocument/2006/relationships/image" Target="../media/image76.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1.xml"/><Relationship Id="rId3" Type="http://schemas.openxmlformats.org/officeDocument/2006/relationships/image" Target="../media/image9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2.xml"/><Relationship Id="rId3" Type="http://schemas.openxmlformats.org/officeDocument/2006/relationships/image" Target="../media/image10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3.xml"/><Relationship Id="rId3" Type="http://schemas.openxmlformats.org/officeDocument/2006/relationships/image" Target="../media/image10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4.xml"/><Relationship Id="rId3" Type="http://schemas.openxmlformats.org/officeDocument/2006/relationships/image" Target="../media/image9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6.xml"/><Relationship Id="rId3" Type="http://schemas.openxmlformats.org/officeDocument/2006/relationships/image" Target="../media/image82.jpg"/><Relationship Id="rId4" Type="http://schemas.openxmlformats.org/officeDocument/2006/relationships/image" Target="../media/image74.png"/><Relationship Id="rId5" Type="http://schemas.openxmlformats.org/officeDocument/2006/relationships/image" Target="../media/image97.png"/><Relationship Id="rId6" Type="http://schemas.openxmlformats.org/officeDocument/2006/relationships/image" Target="../media/image8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8.xml"/><Relationship Id="rId3" Type="http://schemas.openxmlformats.org/officeDocument/2006/relationships/image" Target="../media/image86.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9.xml"/><Relationship Id="rId3" Type="http://schemas.openxmlformats.org/officeDocument/2006/relationships/image" Target="../media/image96.jpg"/><Relationship Id="rId4" Type="http://schemas.openxmlformats.org/officeDocument/2006/relationships/image" Target="../media/image89.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0.xml"/><Relationship Id="rId3" Type="http://schemas.openxmlformats.org/officeDocument/2006/relationships/image" Target="../media/image87.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2.xml"/><Relationship Id="rId3" Type="http://schemas.openxmlformats.org/officeDocument/2006/relationships/image" Target="../media/image99.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3.xml"/><Relationship Id="rId3" Type="http://schemas.openxmlformats.org/officeDocument/2006/relationships/image" Target="../media/image10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4.xml"/><Relationship Id="rId3" Type="http://schemas.openxmlformats.org/officeDocument/2006/relationships/image" Target="../media/image92.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6.xml"/><Relationship Id="rId3" Type="http://schemas.openxmlformats.org/officeDocument/2006/relationships/image" Target="../media/image93.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8.xml"/><Relationship Id="rId3" Type="http://schemas.openxmlformats.org/officeDocument/2006/relationships/image" Target="../media/image98.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9.xml"/><Relationship Id="rId3" Type="http://schemas.openxmlformats.org/officeDocument/2006/relationships/image" Target="../media/image38.png"/><Relationship Id="rId4" Type="http://schemas.openxmlformats.org/officeDocument/2006/relationships/image" Target="../media/image78.png"/><Relationship Id="rId5" Type="http://schemas.openxmlformats.org/officeDocument/2006/relationships/image" Target="../media/image6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1.xml"/><Relationship Id="rId3"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7"/>
          <p:cNvSpPr txBox="1"/>
          <p:nvPr/>
        </p:nvSpPr>
        <p:spPr>
          <a:xfrm>
            <a:off x="548640" y="960120"/>
            <a:ext cx="5029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9A2B"/>
              </a:buClr>
              <a:buSzPts val="1400"/>
              <a:buFont typeface="Calibri"/>
              <a:buNone/>
            </a:pPr>
            <a:r>
              <a:rPr b="1" i="0" lang="en" sz="1400" u="none" cap="none" strike="noStrike">
                <a:solidFill>
                  <a:srgbClr val="F39A2B"/>
                </a:solidFill>
                <a:latin typeface="Calibri"/>
                <a:ea typeface="Calibri"/>
                <a:cs typeface="Calibri"/>
                <a:sym typeface="Calibri"/>
              </a:rPr>
              <a:t>TRAINING KIT</a:t>
            </a:r>
            <a:endParaRPr b="0" i="0" sz="1400" u="none" cap="none" strike="noStrike">
              <a:solidFill>
                <a:schemeClr val="dk1"/>
              </a:solidFill>
              <a:latin typeface="Calibri"/>
              <a:ea typeface="Calibri"/>
              <a:cs typeface="Calibri"/>
              <a:sym typeface="Calibri"/>
            </a:endParaRPr>
          </a:p>
        </p:txBody>
      </p:sp>
      <p:sp>
        <p:nvSpPr>
          <p:cNvPr id="92" name="Google Shape;92;p27"/>
          <p:cNvSpPr txBox="1"/>
          <p:nvPr/>
        </p:nvSpPr>
        <p:spPr>
          <a:xfrm>
            <a:off x="548640" y="1371600"/>
            <a:ext cx="53035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i="0" lang="en" sz="4000" u="none" cap="none" strike="noStrike">
                <a:solidFill>
                  <a:srgbClr val="FFFFFF"/>
                </a:solidFill>
                <a:latin typeface="Calibri"/>
                <a:ea typeface="Calibri"/>
                <a:cs typeface="Calibri"/>
                <a:sym typeface="Calibri"/>
              </a:rPr>
              <a:t>Reserve Order (RO)</a:t>
            </a:r>
            <a:endParaRPr b="0" i="0" sz="4000" u="none" cap="none" strike="noStrike">
              <a:solidFill>
                <a:schemeClr val="dk1"/>
              </a:solidFill>
              <a:latin typeface="Calibri"/>
              <a:ea typeface="Calibri"/>
              <a:cs typeface="Calibri"/>
              <a:sym typeface="Calibri"/>
            </a:endParaRPr>
          </a:p>
        </p:txBody>
      </p:sp>
      <p:sp>
        <p:nvSpPr>
          <p:cNvPr id="93" name="Google Shape;93;p27"/>
          <p:cNvSpPr txBox="1"/>
          <p:nvPr/>
        </p:nvSpPr>
        <p:spPr>
          <a:xfrm>
            <a:off x="548640" y="2194560"/>
            <a:ext cx="5303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C3F5"/>
              </a:buClr>
              <a:buSzPts val="1800"/>
              <a:buFont typeface="Calibri"/>
              <a:buNone/>
            </a:pPr>
            <a:r>
              <a:rPr b="0" i="0" lang="en" sz="1800" u="none" cap="none" strike="noStrike">
                <a:solidFill>
                  <a:srgbClr val="9CC3F5"/>
                </a:solidFill>
                <a:latin typeface="Calibri"/>
                <a:ea typeface="Calibri"/>
                <a:cs typeface="Calibri"/>
                <a:sym typeface="Calibri"/>
              </a:rPr>
              <a:t>Paradise Connect · Panduan untuk tim Sales</a:t>
            </a:r>
            <a:endParaRPr b="0" i="0" sz="1800" u="none" cap="none" strike="noStrike">
              <a:solidFill>
                <a:schemeClr val="dk1"/>
              </a:solidFill>
              <a:latin typeface="Calibri"/>
              <a:ea typeface="Calibri"/>
              <a:cs typeface="Calibri"/>
              <a:sym typeface="Calibri"/>
            </a:endParaRPr>
          </a:p>
        </p:txBody>
      </p:sp>
      <p:sp>
        <p:nvSpPr>
          <p:cNvPr id="94" name="Google Shape;94;p27"/>
          <p:cNvSpPr txBox="1"/>
          <p:nvPr/>
        </p:nvSpPr>
        <p:spPr>
          <a:xfrm>
            <a:off x="548640" y="2971800"/>
            <a:ext cx="5303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6EA"/>
              </a:buClr>
              <a:buSzPts val="1400"/>
              <a:buFont typeface="Calibri"/>
              <a:buNone/>
            </a:pPr>
            <a:r>
              <a:rPr b="0" i="0" lang="en" sz="1400" u="none" cap="none" strike="noStrike">
                <a:solidFill>
                  <a:srgbClr val="C9D6EA"/>
                </a:solidFill>
                <a:latin typeface="Calibri"/>
                <a:ea typeface="Calibri"/>
                <a:cs typeface="Calibri"/>
                <a:sym typeface="Calibri"/>
              </a:rPr>
              <a:t>Buat RO · Top Up Timeline · Update Data</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D6EA"/>
              </a:buClr>
              <a:buSzPts val="1400"/>
              <a:buFont typeface="Calibri"/>
              <a:buNone/>
            </a:pPr>
            <a:r>
              <a:rPr b="0" i="0" lang="en" sz="1400" u="none" cap="none" strike="noStrike">
                <a:solidFill>
                  <a:srgbClr val="C9D6EA"/>
                </a:solidFill>
                <a:latin typeface="Calibri"/>
                <a:ea typeface="Calibri"/>
                <a:cs typeface="Calibri"/>
                <a:sym typeface="Calibri"/>
              </a:rPr>
              <a:t>Upload Dokumen · Message · Akses dari Detail Contact</a:t>
            </a:r>
            <a:endParaRPr b="0" i="0" sz="1400" u="none" cap="none" strike="noStrike">
              <a:solidFill>
                <a:schemeClr val="dk1"/>
              </a:solidFill>
              <a:latin typeface="Calibri"/>
              <a:ea typeface="Calibri"/>
              <a:cs typeface="Calibri"/>
              <a:sym typeface="Calibri"/>
            </a:endParaRPr>
          </a:p>
        </p:txBody>
      </p:sp>
      <p:sp>
        <p:nvSpPr>
          <p:cNvPr id="95" name="Google Shape;95;p27"/>
          <p:cNvSpPr txBox="1"/>
          <p:nvPr/>
        </p:nvSpPr>
        <p:spPr>
          <a:xfrm>
            <a:off x="548640" y="4343400"/>
            <a:ext cx="5303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BA6"/>
              </a:buClr>
              <a:buSzPts val="1100"/>
              <a:buFont typeface="Calibri"/>
              <a:buNone/>
            </a:pPr>
            <a:r>
              <a:rPr b="0" i="0" lang="en" sz="1100" u="none" cap="none" strike="noStrike">
                <a:solidFill>
                  <a:srgbClr val="7A8BA6"/>
                </a:solidFill>
                <a:latin typeface="Calibri"/>
                <a:ea typeface="Calibri"/>
                <a:cs typeface="Calibri"/>
                <a:sym typeface="Calibri"/>
              </a:rPr>
              <a:t>Versi aplikasi: devconnect.paradise.id · Oktober 2026</a:t>
            </a:r>
            <a:endParaRPr b="0" i="0" sz="1100" u="none" cap="none" strike="noStrike">
              <a:solidFill>
                <a:schemeClr val="dk1"/>
              </a:solidFill>
              <a:latin typeface="Calibri"/>
              <a:ea typeface="Calibri"/>
              <a:cs typeface="Calibri"/>
              <a:sym typeface="Calibri"/>
            </a:endParaRPr>
          </a:p>
        </p:txBody>
      </p:sp>
      <p:sp>
        <p:nvSpPr>
          <p:cNvPr id="96" name="Google Shape;96;p27"/>
          <p:cNvSpPr/>
          <p:nvPr/>
        </p:nvSpPr>
        <p:spPr>
          <a:xfrm>
            <a:off x="6236208" y="475488"/>
            <a:ext cx="2925180" cy="4169664"/>
          </a:xfrm>
          <a:prstGeom prst="roundRect">
            <a:avLst>
              <a:gd fmla="val 5002" name="adj"/>
            </a:avLst>
          </a:prstGeom>
          <a:solidFill>
            <a:srgbClr val="2A3B57"/>
          </a:solidFill>
          <a:ln cap="flat" cmpd="sng" w="12700">
            <a:solidFill>
              <a:srgbClr val="2A3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01_ro_list.png" id="97" name="Google Shape;97;p27"/>
          <p:cNvPicPr preferRelativeResize="0"/>
          <p:nvPr/>
        </p:nvPicPr>
        <p:blipFill rotWithShape="1">
          <a:blip r:embed="rId3">
            <a:alphaModFix/>
          </a:blip>
          <a:srcRect b="0" l="0" r="0" t="0"/>
          <a:stretch/>
        </p:blipFill>
        <p:spPr>
          <a:xfrm>
            <a:off x="6309360" y="548640"/>
            <a:ext cx="2778876" cy="40233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8"/>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Agenda training</a:t>
            </a:r>
            <a:endParaRPr sz="2800"/>
          </a:p>
        </p:txBody>
      </p:sp>
      <p:sp>
        <p:nvSpPr>
          <p:cNvPr id="104" name="Google Shape;104;p28"/>
          <p:cNvSpPr/>
          <p:nvPr/>
        </p:nvSpPr>
        <p:spPr>
          <a:xfrm>
            <a:off x="457200" y="1097280"/>
            <a:ext cx="2606040" cy="1600200"/>
          </a:xfrm>
          <a:prstGeom prst="roundRect">
            <a:avLst>
              <a:gd fmla="val 6857"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8"/>
          <p:cNvSpPr/>
          <p:nvPr/>
        </p:nvSpPr>
        <p:spPr>
          <a:xfrm>
            <a:off x="658368" y="1298448"/>
            <a:ext cx="384048" cy="38404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8"/>
          <p:cNvSpPr txBox="1"/>
          <p:nvPr/>
        </p:nvSpPr>
        <p:spPr>
          <a:xfrm>
            <a:off x="658368" y="12984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07" name="Google Shape;107;p28"/>
          <p:cNvSpPr txBox="1"/>
          <p:nvPr/>
        </p:nvSpPr>
        <p:spPr>
          <a:xfrm>
            <a:off x="1188720" y="1298448"/>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1"/>
              </a:buClr>
              <a:buSzPts val="1600"/>
              <a:buFont typeface="Calibri"/>
              <a:buNone/>
            </a:pPr>
            <a:r>
              <a:rPr b="1" i="0" lang="en" sz="1600" u="none" cap="none" strike="noStrike">
                <a:solidFill>
                  <a:srgbClr val="1B2A41"/>
                </a:solidFill>
                <a:latin typeface="Calibri"/>
                <a:ea typeface="Calibri"/>
                <a:cs typeface="Calibri"/>
                <a:sym typeface="Calibri"/>
              </a:rPr>
              <a:t>Buat RO</a:t>
            </a:r>
            <a:endParaRPr b="0" i="0" sz="1600" u="none" cap="none" strike="noStrike">
              <a:solidFill>
                <a:schemeClr val="dk1"/>
              </a:solidFill>
              <a:latin typeface="Calibri"/>
              <a:ea typeface="Calibri"/>
              <a:cs typeface="Calibri"/>
              <a:sym typeface="Calibri"/>
            </a:endParaRPr>
          </a:p>
        </p:txBody>
      </p:sp>
      <p:sp>
        <p:nvSpPr>
          <p:cNvPr id="108" name="Google Shape;108;p28"/>
          <p:cNvSpPr txBox="1"/>
          <p:nvPr/>
        </p:nvSpPr>
        <p:spPr>
          <a:xfrm>
            <a:off x="658368" y="1828800"/>
            <a:ext cx="22402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Dari menu Reserve Order, 4 langkah: Customer → Unit → Dokumen → Review</a:t>
            </a:r>
            <a:endParaRPr b="0" i="0" sz="1200" u="none" cap="none" strike="noStrike">
              <a:solidFill>
                <a:schemeClr val="dk1"/>
              </a:solidFill>
              <a:latin typeface="Calibri"/>
              <a:ea typeface="Calibri"/>
              <a:cs typeface="Calibri"/>
              <a:sym typeface="Calibri"/>
            </a:endParaRPr>
          </a:p>
        </p:txBody>
      </p:sp>
      <p:sp>
        <p:nvSpPr>
          <p:cNvPr id="109" name="Google Shape;109;p28"/>
          <p:cNvSpPr/>
          <p:nvPr/>
        </p:nvSpPr>
        <p:spPr>
          <a:xfrm>
            <a:off x="3246120" y="1097280"/>
            <a:ext cx="2606040" cy="1600200"/>
          </a:xfrm>
          <a:prstGeom prst="roundRect">
            <a:avLst>
              <a:gd fmla="val 6857"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8"/>
          <p:cNvSpPr/>
          <p:nvPr/>
        </p:nvSpPr>
        <p:spPr>
          <a:xfrm>
            <a:off x="3447288" y="1298448"/>
            <a:ext cx="384048" cy="38404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8"/>
          <p:cNvSpPr txBox="1"/>
          <p:nvPr/>
        </p:nvSpPr>
        <p:spPr>
          <a:xfrm>
            <a:off x="3447288" y="12984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12" name="Google Shape;112;p28"/>
          <p:cNvSpPr txBox="1"/>
          <p:nvPr/>
        </p:nvSpPr>
        <p:spPr>
          <a:xfrm>
            <a:off x="3977640" y="1298448"/>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1"/>
              </a:buClr>
              <a:buSzPts val="1600"/>
              <a:buFont typeface="Calibri"/>
              <a:buNone/>
            </a:pPr>
            <a:r>
              <a:rPr b="1" i="0" lang="en" sz="1600" u="none" cap="none" strike="noStrike">
                <a:solidFill>
                  <a:srgbClr val="1B2A41"/>
                </a:solidFill>
                <a:latin typeface="Calibri"/>
                <a:ea typeface="Calibri"/>
                <a:cs typeface="Calibri"/>
                <a:sym typeface="Calibri"/>
              </a:rPr>
              <a:t>Top Up Timeline</a:t>
            </a:r>
            <a:endParaRPr b="0" i="0" sz="1600" u="none" cap="none" strike="noStrike">
              <a:solidFill>
                <a:schemeClr val="dk1"/>
              </a:solidFill>
              <a:latin typeface="Calibri"/>
              <a:ea typeface="Calibri"/>
              <a:cs typeface="Calibri"/>
              <a:sym typeface="Calibri"/>
            </a:endParaRPr>
          </a:p>
        </p:txBody>
      </p:sp>
      <p:sp>
        <p:nvSpPr>
          <p:cNvPr id="113" name="Google Shape;113;p28"/>
          <p:cNvSpPr txBox="1"/>
          <p:nvPr/>
        </p:nvSpPr>
        <p:spPr>
          <a:xfrm>
            <a:off x="3447288" y="1828800"/>
            <a:ext cx="22402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Ajukan pembayaran lanjutan agar RO naik ke tahap berikutnya</a:t>
            </a:r>
            <a:endParaRPr b="0" i="0" sz="1200" u="none" cap="none" strike="noStrike">
              <a:solidFill>
                <a:schemeClr val="dk1"/>
              </a:solidFill>
              <a:latin typeface="Calibri"/>
              <a:ea typeface="Calibri"/>
              <a:cs typeface="Calibri"/>
              <a:sym typeface="Calibri"/>
            </a:endParaRPr>
          </a:p>
        </p:txBody>
      </p:sp>
      <p:sp>
        <p:nvSpPr>
          <p:cNvPr id="114" name="Google Shape;114;p28"/>
          <p:cNvSpPr/>
          <p:nvPr/>
        </p:nvSpPr>
        <p:spPr>
          <a:xfrm>
            <a:off x="6035040" y="1097280"/>
            <a:ext cx="2606040" cy="1600200"/>
          </a:xfrm>
          <a:prstGeom prst="roundRect">
            <a:avLst>
              <a:gd fmla="val 6857"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8"/>
          <p:cNvSpPr/>
          <p:nvPr/>
        </p:nvSpPr>
        <p:spPr>
          <a:xfrm>
            <a:off x="6236208" y="1298448"/>
            <a:ext cx="384048" cy="38404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8"/>
          <p:cNvSpPr txBox="1"/>
          <p:nvPr/>
        </p:nvSpPr>
        <p:spPr>
          <a:xfrm>
            <a:off x="6236208" y="12984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17" name="Google Shape;117;p28"/>
          <p:cNvSpPr txBox="1"/>
          <p:nvPr/>
        </p:nvSpPr>
        <p:spPr>
          <a:xfrm>
            <a:off x="6766560" y="1298448"/>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1"/>
              </a:buClr>
              <a:buSzPts val="1600"/>
              <a:buFont typeface="Calibri"/>
              <a:buNone/>
            </a:pPr>
            <a:r>
              <a:rPr b="1" i="0" lang="en" sz="1600" u="none" cap="none" strike="noStrike">
                <a:solidFill>
                  <a:srgbClr val="1B2A41"/>
                </a:solidFill>
                <a:latin typeface="Calibri"/>
                <a:ea typeface="Calibri"/>
                <a:cs typeface="Calibri"/>
                <a:sym typeface="Calibri"/>
              </a:rPr>
              <a:t>Update Data</a:t>
            </a:r>
            <a:endParaRPr b="0" i="0" sz="1600" u="none" cap="none" strike="noStrike">
              <a:solidFill>
                <a:schemeClr val="dk1"/>
              </a:solidFill>
              <a:latin typeface="Calibri"/>
              <a:ea typeface="Calibri"/>
              <a:cs typeface="Calibri"/>
              <a:sym typeface="Calibri"/>
            </a:endParaRPr>
          </a:p>
        </p:txBody>
      </p:sp>
      <p:sp>
        <p:nvSpPr>
          <p:cNvPr id="118" name="Google Shape;118;p28"/>
          <p:cNvSpPr txBox="1"/>
          <p:nvPr/>
        </p:nvSpPr>
        <p:spPr>
          <a:xfrm>
            <a:off x="6236208" y="1828800"/>
            <a:ext cx="22402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Lengkapi / koreksi data pembeli setelah RO dibuat</a:t>
            </a:r>
            <a:endParaRPr b="0" i="0" sz="1200" u="none" cap="none" strike="noStrike">
              <a:solidFill>
                <a:schemeClr val="dk1"/>
              </a:solidFill>
              <a:latin typeface="Calibri"/>
              <a:ea typeface="Calibri"/>
              <a:cs typeface="Calibri"/>
              <a:sym typeface="Calibri"/>
            </a:endParaRPr>
          </a:p>
        </p:txBody>
      </p:sp>
      <p:sp>
        <p:nvSpPr>
          <p:cNvPr id="119" name="Google Shape;119;p28"/>
          <p:cNvSpPr/>
          <p:nvPr/>
        </p:nvSpPr>
        <p:spPr>
          <a:xfrm>
            <a:off x="457200" y="2880360"/>
            <a:ext cx="2606040" cy="1600200"/>
          </a:xfrm>
          <a:prstGeom prst="roundRect">
            <a:avLst>
              <a:gd fmla="val 6857"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8"/>
          <p:cNvSpPr/>
          <p:nvPr/>
        </p:nvSpPr>
        <p:spPr>
          <a:xfrm>
            <a:off x="658368" y="3081528"/>
            <a:ext cx="384048" cy="38404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8"/>
          <p:cNvSpPr txBox="1"/>
          <p:nvPr/>
        </p:nvSpPr>
        <p:spPr>
          <a:xfrm>
            <a:off x="658368" y="30815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22" name="Google Shape;122;p28"/>
          <p:cNvSpPr txBox="1"/>
          <p:nvPr/>
        </p:nvSpPr>
        <p:spPr>
          <a:xfrm>
            <a:off x="1188720" y="3081528"/>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1"/>
              </a:buClr>
              <a:buSzPts val="1600"/>
              <a:buFont typeface="Calibri"/>
              <a:buNone/>
            </a:pPr>
            <a:r>
              <a:rPr b="1" i="0" lang="en" sz="1600" u="none" cap="none" strike="noStrike">
                <a:solidFill>
                  <a:srgbClr val="1B2A41"/>
                </a:solidFill>
                <a:latin typeface="Calibri"/>
                <a:ea typeface="Calibri"/>
                <a:cs typeface="Calibri"/>
                <a:sym typeface="Calibri"/>
              </a:rPr>
              <a:t>Upload Dokumen</a:t>
            </a:r>
            <a:endParaRPr b="0" i="0" sz="1600" u="none" cap="none" strike="noStrike">
              <a:solidFill>
                <a:schemeClr val="dk1"/>
              </a:solidFill>
              <a:latin typeface="Calibri"/>
              <a:ea typeface="Calibri"/>
              <a:cs typeface="Calibri"/>
              <a:sym typeface="Calibri"/>
            </a:endParaRPr>
          </a:p>
        </p:txBody>
      </p:sp>
      <p:sp>
        <p:nvSpPr>
          <p:cNvPr id="123" name="Google Shape;123;p28"/>
          <p:cNvSpPr txBox="1"/>
          <p:nvPr/>
        </p:nvSpPr>
        <p:spPr>
          <a:xfrm>
            <a:off x="658368" y="3611880"/>
            <a:ext cx="22402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Tambah lampiran per jenis dokumen di tab Attachment</a:t>
            </a:r>
            <a:endParaRPr b="0" i="0" sz="1200" u="none" cap="none" strike="noStrike">
              <a:solidFill>
                <a:schemeClr val="dk1"/>
              </a:solidFill>
              <a:latin typeface="Calibri"/>
              <a:ea typeface="Calibri"/>
              <a:cs typeface="Calibri"/>
              <a:sym typeface="Calibri"/>
            </a:endParaRPr>
          </a:p>
        </p:txBody>
      </p:sp>
      <p:sp>
        <p:nvSpPr>
          <p:cNvPr id="124" name="Google Shape;124;p28"/>
          <p:cNvSpPr/>
          <p:nvPr/>
        </p:nvSpPr>
        <p:spPr>
          <a:xfrm>
            <a:off x="3246120" y="2880360"/>
            <a:ext cx="2606040" cy="1600200"/>
          </a:xfrm>
          <a:prstGeom prst="roundRect">
            <a:avLst>
              <a:gd fmla="val 6857"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8"/>
          <p:cNvSpPr/>
          <p:nvPr/>
        </p:nvSpPr>
        <p:spPr>
          <a:xfrm>
            <a:off x="3447288" y="3081528"/>
            <a:ext cx="384048" cy="38404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8"/>
          <p:cNvSpPr txBox="1"/>
          <p:nvPr/>
        </p:nvSpPr>
        <p:spPr>
          <a:xfrm>
            <a:off x="3447288" y="30815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127" name="Google Shape;127;p28"/>
          <p:cNvSpPr txBox="1"/>
          <p:nvPr/>
        </p:nvSpPr>
        <p:spPr>
          <a:xfrm>
            <a:off x="3977640" y="3081528"/>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1"/>
              </a:buClr>
              <a:buSzPts val="1600"/>
              <a:buFont typeface="Calibri"/>
              <a:buNone/>
            </a:pPr>
            <a:r>
              <a:rPr b="1" i="0" lang="en" sz="1600" u="none" cap="none" strike="noStrike">
                <a:solidFill>
                  <a:srgbClr val="1B2A41"/>
                </a:solidFill>
                <a:latin typeface="Calibri"/>
                <a:ea typeface="Calibri"/>
                <a:cs typeface="Calibri"/>
                <a:sym typeface="Calibri"/>
              </a:rPr>
              <a:t>Message</a:t>
            </a:r>
            <a:endParaRPr b="0" i="0" sz="1600" u="none" cap="none" strike="noStrike">
              <a:solidFill>
                <a:schemeClr val="dk1"/>
              </a:solidFill>
              <a:latin typeface="Calibri"/>
              <a:ea typeface="Calibri"/>
              <a:cs typeface="Calibri"/>
              <a:sym typeface="Calibri"/>
            </a:endParaRPr>
          </a:p>
        </p:txBody>
      </p:sp>
      <p:sp>
        <p:nvSpPr>
          <p:cNvPr id="128" name="Google Shape;128;p28"/>
          <p:cNvSpPr txBox="1"/>
          <p:nvPr/>
        </p:nvSpPr>
        <p:spPr>
          <a:xfrm>
            <a:off x="3447288" y="3611880"/>
            <a:ext cx="22402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Catatan &amp; riwayat aktivitas RO di tab Messages</a:t>
            </a:r>
            <a:endParaRPr b="0" i="0" sz="1200" u="none" cap="none" strike="noStrike">
              <a:solidFill>
                <a:schemeClr val="dk1"/>
              </a:solidFill>
              <a:latin typeface="Calibri"/>
              <a:ea typeface="Calibri"/>
              <a:cs typeface="Calibri"/>
              <a:sym typeface="Calibri"/>
            </a:endParaRPr>
          </a:p>
        </p:txBody>
      </p:sp>
      <p:sp>
        <p:nvSpPr>
          <p:cNvPr id="129" name="Google Shape;129;p28"/>
          <p:cNvSpPr/>
          <p:nvPr/>
        </p:nvSpPr>
        <p:spPr>
          <a:xfrm>
            <a:off x="6035040" y="2880360"/>
            <a:ext cx="2606040" cy="1600200"/>
          </a:xfrm>
          <a:prstGeom prst="roundRect">
            <a:avLst>
              <a:gd fmla="val 6857"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8"/>
          <p:cNvSpPr/>
          <p:nvPr/>
        </p:nvSpPr>
        <p:spPr>
          <a:xfrm>
            <a:off x="6236208" y="3081528"/>
            <a:ext cx="384048" cy="384048"/>
          </a:xfrm>
          <a:prstGeom prst="ellipse">
            <a:avLst/>
          </a:prstGeom>
          <a:solidFill>
            <a:srgbClr val="F39A2B"/>
          </a:solidFill>
          <a:ln cap="flat" cmpd="sng" w="12700">
            <a:solidFill>
              <a:srgbClr val="F39A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8"/>
          <p:cNvSpPr txBox="1"/>
          <p:nvPr/>
        </p:nvSpPr>
        <p:spPr>
          <a:xfrm>
            <a:off x="6236208" y="30815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6</a:t>
            </a:r>
            <a:endParaRPr b="0" i="0" sz="1200" u="none" cap="none" strike="noStrike">
              <a:solidFill>
                <a:schemeClr val="dk1"/>
              </a:solidFill>
              <a:latin typeface="Calibri"/>
              <a:ea typeface="Calibri"/>
              <a:cs typeface="Calibri"/>
              <a:sym typeface="Calibri"/>
            </a:endParaRPr>
          </a:p>
        </p:txBody>
      </p:sp>
      <p:sp>
        <p:nvSpPr>
          <p:cNvPr id="132" name="Google Shape;132;p28"/>
          <p:cNvSpPr txBox="1"/>
          <p:nvPr/>
        </p:nvSpPr>
        <p:spPr>
          <a:xfrm>
            <a:off x="6766560" y="3081528"/>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1"/>
              </a:buClr>
              <a:buSzPts val="1600"/>
              <a:buFont typeface="Calibri"/>
              <a:buNone/>
            </a:pPr>
            <a:r>
              <a:rPr b="1" i="0" lang="en" sz="1600" u="none" cap="none" strike="noStrike">
                <a:solidFill>
                  <a:srgbClr val="1B2A41"/>
                </a:solidFill>
                <a:latin typeface="Calibri"/>
                <a:ea typeface="Calibri"/>
                <a:cs typeface="Calibri"/>
                <a:sym typeface="Calibri"/>
              </a:rPr>
              <a:t>Dari Detail Contact</a:t>
            </a:r>
            <a:endParaRPr b="0" i="0" sz="1600" u="none" cap="none" strike="noStrike">
              <a:solidFill>
                <a:schemeClr val="dk1"/>
              </a:solidFill>
              <a:latin typeface="Calibri"/>
              <a:ea typeface="Calibri"/>
              <a:cs typeface="Calibri"/>
              <a:sym typeface="Calibri"/>
            </a:endParaRPr>
          </a:p>
        </p:txBody>
      </p:sp>
      <p:sp>
        <p:nvSpPr>
          <p:cNvPr id="133" name="Google Shape;133;p28"/>
          <p:cNvSpPr txBox="1"/>
          <p:nvPr/>
        </p:nvSpPr>
        <p:spPr>
          <a:xfrm>
            <a:off x="6236208" y="3611880"/>
            <a:ext cx="22402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Buat RO langsung dari contact: tombol + → Reserve Order</a:t>
            </a:r>
            <a:endParaRPr b="0" i="0" sz="1200" u="none" cap="none" strike="noStrike">
              <a:solidFill>
                <a:schemeClr val="dk1"/>
              </a:solidFill>
              <a:latin typeface="Calibri"/>
              <a:ea typeface="Calibri"/>
              <a:cs typeface="Calibri"/>
              <a:sym typeface="Calibri"/>
            </a:endParaRPr>
          </a:p>
        </p:txBody>
      </p:sp>
      <p:sp>
        <p:nvSpPr>
          <p:cNvPr id="134" name="Google Shape;134;p28"/>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9"/>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Gambaran alur RO di timeline</a:t>
            </a:r>
            <a:endParaRPr sz="2800"/>
          </a:p>
        </p:txBody>
      </p:sp>
      <p:sp>
        <p:nvSpPr>
          <p:cNvPr id="141" name="Google Shape;141;p29"/>
          <p:cNvSpPr/>
          <p:nvPr/>
        </p:nvSpPr>
        <p:spPr>
          <a:xfrm>
            <a:off x="548640" y="1188720"/>
            <a:ext cx="1463040" cy="731520"/>
          </a:xfrm>
          <a:prstGeom prst="roundRect">
            <a:avLst>
              <a:gd fmla="val 12500" name="adj"/>
            </a:avLst>
          </a:prstGeom>
          <a:solidFill>
            <a:srgbClr val="2EAD6B"/>
          </a:solidFill>
          <a:ln cap="flat" cmpd="sng" w="12700">
            <a:solidFill>
              <a:srgbClr val="2EAD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9"/>
          <p:cNvSpPr txBox="1"/>
          <p:nvPr/>
        </p:nvSpPr>
        <p:spPr>
          <a:xfrm>
            <a:off x="548640" y="1188720"/>
            <a:ext cx="14630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Leads</a:t>
            </a:r>
            <a:endParaRPr b="0" i="0" sz="1300" u="none" cap="none" strike="noStrike">
              <a:solidFill>
                <a:schemeClr val="dk1"/>
              </a:solidFill>
              <a:latin typeface="Calibri"/>
              <a:ea typeface="Calibri"/>
              <a:cs typeface="Calibri"/>
              <a:sym typeface="Calibri"/>
            </a:endParaRPr>
          </a:p>
        </p:txBody>
      </p:sp>
      <p:sp>
        <p:nvSpPr>
          <p:cNvPr id="143" name="Google Shape;143;p29"/>
          <p:cNvSpPr txBox="1"/>
          <p:nvPr/>
        </p:nvSpPr>
        <p:spPr>
          <a:xfrm>
            <a:off x="2011680" y="1188720"/>
            <a:ext cx="1828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4"/>
              </a:buClr>
              <a:buSzPts val="1800"/>
              <a:buFont typeface="Calibri"/>
              <a:buNone/>
            </a:pPr>
            <a:r>
              <a:rPr b="0" i="0" lang="en" sz="1800" u="none" cap="none" strike="noStrike">
                <a:solidFill>
                  <a:srgbClr val="5B6B84"/>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44" name="Google Shape;144;p29"/>
          <p:cNvSpPr/>
          <p:nvPr/>
        </p:nvSpPr>
        <p:spPr>
          <a:xfrm>
            <a:off x="2194560" y="1188720"/>
            <a:ext cx="1463040" cy="731520"/>
          </a:xfrm>
          <a:prstGeom prst="roundRect">
            <a:avLst>
              <a:gd fmla="val 12500" name="adj"/>
            </a:avLst>
          </a:prstGeom>
          <a:solidFill>
            <a:srgbClr val="2EAD6B"/>
          </a:solidFill>
          <a:ln cap="flat" cmpd="sng" w="12700">
            <a:solidFill>
              <a:srgbClr val="2EAD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9"/>
          <p:cNvSpPr txBox="1"/>
          <p:nvPr/>
        </p:nvSpPr>
        <p:spPr>
          <a:xfrm>
            <a:off x="2194560" y="1188720"/>
            <a:ext cx="14630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APPT</a:t>
            </a:r>
            <a:endParaRPr b="0" i="0" sz="1300" u="none" cap="none" strike="noStrike">
              <a:solidFill>
                <a:schemeClr val="dk1"/>
              </a:solidFill>
              <a:latin typeface="Calibri"/>
              <a:ea typeface="Calibri"/>
              <a:cs typeface="Calibri"/>
              <a:sym typeface="Calibri"/>
            </a:endParaRPr>
          </a:p>
        </p:txBody>
      </p:sp>
      <p:sp>
        <p:nvSpPr>
          <p:cNvPr id="146" name="Google Shape;146;p29"/>
          <p:cNvSpPr txBox="1"/>
          <p:nvPr/>
        </p:nvSpPr>
        <p:spPr>
          <a:xfrm>
            <a:off x="3657600" y="1188720"/>
            <a:ext cx="1828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4"/>
              </a:buClr>
              <a:buSzPts val="1800"/>
              <a:buFont typeface="Calibri"/>
              <a:buNone/>
            </a:pPr>
            <a:r>
              <a:rPr b="0" i="0" lang="en" sz="1800" u="none" cap="none" strike="noStrike">
                <a:solidFill>
                  <a:srgbClr val="5B6B84"/>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47" name="Google Shape;147;p29"/>
          <p:cNvSpPr/>
          <p:nvPr/>
        </p:nvSpPr>
        <p:spPr>
          <a:xfrm>
            <a:off x="3840480" y="1188720"/>
            <a:ext cx="1463040" cy="731520"/>
          </a:xfrm>
          <a:prstGeom prst="roundRect">
            <a:avLst>
              <a:gd fmla="val 12500" name="adj"/>
            </a:avLst>
          </a:prstGeom>
          <a:solidFill>
            <a:srgbClr val="2EAD6B"/>
          </a:solidFill>
          <a:ln cap="flat" cmpd="sng" w="12700">
            <a:solidFill>
              <a:srgbClr val="2EAD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9"/>
          <p:cNvSpPr txBox="1"/>
          <p:nvPr/>
        </p:nvSpPr>
        <p:spPr>
          <a:xfrm>
            <a:off x="3840480" y="1188720"/>
            <a:ext cx="14630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Visitor</a:t>
            </a:r>
            <a:endParaRPr b="0" i="0" sz="1300" u="none" cap="none" strike="noStrike">
              <a:solidFill>
                <a:schemeClr val="dk1"/>
              </a:solidFill>
              <a:latin typeface="Calibri"/>
              <a:ea typeface="Calibri"/>
              <a:cs typeface="Calibri"/>
              <a:sym typeface="Calibri"/>
            </a:endParaRPr>
          </a:p>
        </p:txBody>
      </p:sp>
      <p:sp>
        <p:nvSpPr>
          <p:cNvPr id="149" name="Google Shape;149;p29"/>
          <p:cNvSpPr txBox="1"/>
          <p:nvPr/>
        </p:nvSpPr>
        <p:spPr>
          <a:xfrm>
            <a:off x="5303520" y="1188720"/>
            <a:ext cx="1828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4"/>
              </a:buClr>
              <a:buSzPts val="1800"/>
              <a:buFont typeface="Calibri"/>
              <a:buNone/>
            </a:pPr>
            <a:r>
              <a:rPr b="0" i="0" lang="en" sz="1800" u="none" cap="none" strike="noStrike">
                <a:solidFill>
                  <a:srgbClr val="5B6B84"/>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50" name="Google Shape;150;p29"/>
          <p:cNvSpPr/>
          <p:nvPr/>
        </p:nvSpPr>
        <p:spPr>
          <a:xfrm>
            <a:off x="5486400" y="1188720"/>
            <a:ext cx="1463040" cy="731520"/>
          </a:xfrm>
          <a:prstGeom prst="roundRect">
            <a:avLst>
              <a:gd fmla="val 12500" name="adj"/>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9"/>
          <p:cNvSpPr txBox="1"/>
          <p:nvPr/>
        </p:nvSpPr>
        <p:spPr>
          <a:xfrm>
            <a:off x="5486400" y="1188720"/>
            <a:ext cx="14630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Reserve</a:t>
            </a:r>
            <a:endParaRPr b="0" i="0" sz="1300" u="none" cap="none" strike="noStrike">
              <a:solidFill>
                <a:schemeClr val="dk1"/>
              </a:solidFill>
              <a:latin typeface="Calibri"/>
              <a:ea typeface="Calibri"/>
              <a:cs typeface="Calibri"/>
              <a:sym typeface="Calibri"/>
            </a:endParaRPr>
          </a:p>
        </p:txBody>
      </p:sp>
      <p:sp>
        <p:nvSpPr>
          <p:cNvPr id="152" name="Google Shape;152;p29"/>
          <p:cNvSpPr txBox="1"/>
          <p:nvPr/>
        </p:nvSpPr>
        <p:spPr>
          <a:xfrm>
            <a:off x="6949440" y="1188720"/>
            <a:ext cx="1828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4"/>
              </a:buClr>
              <a:buSzPts val="1800"/>
              <a:buFont typeface="Calibri"/>
              <a:buNone/>
            </a:pPr>
            <a:r>
              <a:rPr b="0" i="0" lang="en" sz="1800" u="none" cap="none" strike="noStrike">
                <a:solidFill>
                  <a:srgbClr val="5B6B84"/>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53" name="Google Shape;153;p29"/>
          <p:cNvSpPr/>
          <p:nvPr/>
        </p:nvSpPr>
        <p:spPr>
          <a:xfrm>
            <a:off x="7132320" y="1188720"/>
            <a:ext cx="1463040" cy="731520"/>
          </a:xfrm>
          <a:prstGeom prst="roundRect">
            <a:avLst>
              <a:gd fmla="val 12500" name="adj"/>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9"/>
          <p:cNvSpPr txBox="1"/>
          <p:nvPr/>
        </p:nvSpPr>
        <p:spPr>
          <a:xfrm>
            <a:off x="7132320" y="1188720"/>
            <a:ext cx="14630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Reserve Booking</a:t>
            </a:r>
            <a:endParaRPr b="0" i="0" sz="1300" u="none" cap="none" strike="noStrike">
              <a:solidFill>
                <a:schemeClr val="dk1"/>
              </a:solidFill>
              <a:latin typeface="Calibri"/>
              <a:ea typeface="Calibri"/>
              <a:cs typeface="Calibri"/>
              <a:sym typeface="Calibri"/>
            </a:endParaRPr>
          </a:p>
        </p:txBody>
      </p:sp>
      <p:sp>
        <p:nvSpPr>
          <p:cNvPr id="155" name="Google Shape;155;p29"/>
          <p:cNvSpPr/>
          <p:nvPr/>
        </p:nvSpPr>
        <p:spPr>
          <a:xfrm>
            <a:off x="548640" y="2423160"/>
            <a:ext cx="1463040" cy="731520"/>
          </a:xfrm>
          <a:prstGeom prst="roundRect">
            <a:avLst>
              <a:gd fmla="val 12500" name="adj"/>
            </a:avLst>
          </a:prstGeom>
          <a:solidFill>
            <a:srgbClr val="D5DEEA"/>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9"/>
          <p:cNvSpPr txBox="1"/>
          <p:nvPr/>
        </p:nvSpPr>
        <p:spPr>
          <a:xfrm>
            <a:off x="548640" y="2423160"/>
            <a:ext cx="14630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SP</a:t>
            </a:r>
            <a:endParaRPr b="0" i="0" sz="1300" u="none" cap="none" strike="noStrike">
              <a:solidFill>
                <a:schemeClr val="dk1"/>
              </a:solidFill>
              <a:latin typeface="Calibri"/>
              <a:ea typeface="Calibri"/>
              <a:cs typeface="Calibri"/>
              <a:sym typeface="Calibri"/>
            </a:endParaRPr>
          </a:p>
        </p:txBody>
      </p:sp>
      <p:sp>
        <p:nvSpPr>
          <p:cNvPr id="157" name="Google Shape;157;p29"/>
          <p:cNvSpPr txBox="1"/>
          <p:nvPr/>
        </p:nvSpPr>
        <p:spPr>
          <a:xfrm>
            <a:off x="2011680" y="2423160"/>
            <a:ext cx="1828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4"/>
              </a:buClr>
              <a:buSzPts val="1800"/>
              <a:buFont typeface="Calibri"/>
              <a:buNone/>
            </a:pPr>
            <a:r>
              <a:rPr b="0" i="0" lang="en" sz="1800" u="none" cap="none" strike="noStrike">
                <a:solidFill>
                  <a:srgbClr val="5B6B84"/>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58" name="Google Shape;158;p29"/>
          <p:cNvSpPr/>
          <p:nvPr/>
        </p:nvSpPr>
        <p:spPr>
          <a:xfrm>
            <a:off x="2194560" y="2423160"/>
            <a:ext cx="1463040" cy="731520"/>
          </a:xfrm>
          <a:prstGeom prst="roundRect">
            <a:avLst>
              <a:gd fmla="val 12500" name="adj"/>
            </a:avLst>
          </a:prstGeom>
          <a:solidFill>
            <a:srgbClr val="D5DEEA"/>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9"/>
          <p:cNvSpPr txBox="1"/>
          <p:nvPr/>
        </p:nvSpPr>
        <p:spPr>
          <a:xfrm>
            <a:off x="2194560" y="2423160"/>
            <a:ext cx="14630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Collect Data</a:t>
            </a:r>
            <a:endParaRPr b="0" i="0" sz="1300" u="none" cap="none" strike="noStrike">
              <a:solidFill>
                <a:schemeClr val="dk1"/>
              </a:solidFill>
              <a:latin typeface="Calibri"/>
              <a:ea typeface="Calibri"/>
              <a:cs typeface="Calibri"/>
              <a:sym typeface="Calibri"/>
            </a:endParaRPr>
          </a:p>
        </p:txBody>
      </p:sp>
      <p:sp>
        <p:nvSpPr>
          <p:cNvPr id="160" name="Google Shape;160;p29"/>
          <p:cNvSpPr txBox="1"/>
          <p:nvPr/>
        </p:nvSpPr>
        <p:spPr>
          <a:xfrm>
            <a:off x="3657600" y="2423160"/>
            <a:ext cx="1828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4"/>
              </a:buClr>
              <a:buSzPts val="1800"/>
              <a:buFont typeface="Calibri"/>
              <a:buNone/>
            </a:pPr>
            <a:r>
              <a:rPr b="0" i="0" lang="en" sz="1800" u="none" cap="none" strike="noStrike">
                <a:solidFill>
                  <a:srgbClr val="5B6B84"/>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1" name="Google Shape;161;p29"/>
          <p:cNvSpPr/>
          <p:nvPr/>
        </p:nvSpPr>
        <p:spPr>
          <a:xfrm>
            <a:off x="3840480" y="2423160"/>
            <a:ext cx="1463040" cy="731520"/>
          </a:xfrm>
          <a:prstGeom prst="roundRect">
            <a:avLst>
              <a:gd fmla="val 12500" name="adj"/>
            </a:avLst>
          </a:prstGeom>
          <a:solidFill>
            <a:srgbClr val="D5DEEA"/>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9"/>
          <p:cNvSpPr txBox="1"/>
          <p:nvPr/>
        </p:nvSpPr>
        <p:spPr>
          <a:xfrm>
            <a:off x="3840480" y="2423160"/>
            <a:ext cx="14630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Proses Bank</a:t>
            </a:r>
            <a:endParaRPr b="0" i="0" sz="1300" u="none" cap="none" strike="noStrike">
              <a:solidFill>
                <a:schemeClr val="dk1"/>
              </a:solidFill>
              <a:latin typeface="Calibri"/>
              <a:ea typeface="Calibri"/>
              <a:cs typeface="Calibri"/>
              <a:sym typeface="Calibri"/>
            </a:endParaRPr>
          </a:p>
        </p:txBody>
      </p:sp>
      <p:sp>
        <p:nvSpPr>
          <p:cNvPr id="163" name="Google Shape;163;p29"/>
          <p:cNvSpPr txBox="1"/>
          <p:nvPr/>
        </p:nvSpPr>
        <p:spPr>
          <a:xfrm>
            <a:off x="5303520" y="2423160"/>
            <a:ext cx="1828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4"/>
              </a:buClr>
              <a:buSzPts val="1800"/>
              <a:buFont typeface="Calibri"/>
              <a:buNone/>
            </a:pPr>
            <a:r>
              <a:rPr b="0" i="0" lang="en" sz="1800" u="none" cap="none" strike="noStrike">
                <a:solidFill>
                  <a:srgbClr val="5B6B84"/>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4" name="Google Shape;164;p29"/>
          <p:cNvSpPr/>
          <p:nvPr/>
        </p:nvSpPr>
        <p:spPr>
          <a:xfrm>
            <a:off x="5486400" y="2423160"/>
            <a:ext cx="1463040" cy="731520"/>
          </a:xfrm>
          <a:prstGeom prst="roundRect">
            <a:avLst>
              <a:gd fmla="val 12500" name="adj"/>
            </a:avLst>
          </a:prstGeom>
          <a:solidFill>
            <a:srgbClr val="D5DEEA"/>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9"/>
          <p:cNvSpPr txBox="1"/>
          <p:nvPr/>
        </p:nvSpPr>
        <p:spPr>
          <a:xfrm>
            <a:off x="5486400" y="2423160"/>
            <a:ext cx="14630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SPK</a:t>
            </a:r>
            <a:endParaRPr b="0" i="0" sz="1300" u="none" cap="none" strike="noStrike">
              <a:solidFill>
                <a:schemeClr val="dk1"/>
              </a:solidFill>
              <a:latin typeface="Calibri"/>
              <a:ea typeface="Calibri"/>
              <a:cs typeface="Calibri"/>
              <a:sym typeface="Calibri"/>
            </a:endParaRPr>
          </a:p>
        </p:txBody>
      </p:sp>
      <p:sp>
        <p:nvSpPr>
          <p:cNvPr id="166" name="Google Shape;166;p29"/>
          <p:cNvSpPr txBox="1"/>
          <p:nvPr/>
        </p:nvSpPr>
        <p:spPr>
          <a:xfrm>
            <a:off x="6949440" y="2423160"/>
            <a:ext cx="1828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4"/>
              </a:buClr>
              <a:buSzPts val="1800"/>
              <a:buFont typeface="Calibri"/>
              <a:buNone/>
            </a:pPr>
            <a:r>
              <a:rPr b="0" i="0" lang="en" sz="1800" u="none" cap="none" strike="noStrike">
                <a:solidFill>
                  <a:srgbClr val="5B6B84"/>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7" name="Google Shape;167;p29"/>
          <p:cNvSpPr/>
          <p:nvPr/>
        </p:nvSpPr>
        <p:spPr>
          <a:xfrm>
            <a:off x="7132320" y="2423160"/>
            <a:ext cx="1463040" cy="731520"/>
          </a:xfrm>
          <a:prstGeom prst="roundRect">
            <a:avLst>
              <a:gd fmla="val 12500" name="adj"/>
            </a:avLst>
          </a:prstGeom>
          <a:solidFill>
            <a:srgbClr val="D5DEEA"/>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9"/>
          <p:cNvSpPr txBox="1"/>
          <p:nvPr/>
        </p:nvSpPr>
        <p:spPr>
          <a:xfrm>
            <a:off x="7132320" y="2423160"/>
            <a:ext cx="14630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Akad/PPJB</a:t>
            </a:r>
            <a:endParaRPr b="0" i="0" sz="1300" u="none" cap="none" strike="noStrike">
              <a:solidFill>
                <a:schemeClr val="dk1"/>
              </a:solidFill>
              <a:latin typeface="Calibri"/>
              <a:ea typeface="Calibri"/>
              <a:cs typeface="Calibri"/>
              <a:sym typeface="Calibri"/>
            </a:endParaRPr>
          </a:p>
        </p:txBody>
      </p:sp>
      <p:sp>
        <p:nvSpPr>
          <p:cNvPr id="169" name="Google Shape;169;p29"/>
          <p:cNvSpPr/>
          <p:nvPr/>
        </p:nvSpPr>
        <p:spPr>
          <a:xfrm>
            <a:off x="548640" y="3794760"/>
            <a:ext cx="201168" cy="201168"/>
          </a:xfrm>
          <a:prstGeom prst="ellipse">
            <a:avLst/>
          </a:prstGeom>
          <a:solidFill>
            <a:srgbClr val="2EAD6B"/>
          </a:solidFill>
          <a:ln cap="flat" cmpd="sng" w="12700">
            <a:solidFill>
              <a:srgbClr val="2EAD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9"/>
          <p:cNvSpPr txBox="1"/>
          <p:nvPr/>
        </p:nvSpPr>
        <p:spPr>
          <a:xfrm>
            <a:off x="841248" y="374904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0" i="0" lang="en" sz="1200" u="none" cap="none" strike="noStrike">
                <a:solidFill>
                  <a:srgbClr val="1B2A41"/>
                </a:solidFill>
                <a:latin typeface="Calibri"/>
                <a:ea typeface="Calibri"/>
                <a:cs typeface="Calibri"/>
                <a:sym typeface="Calibri"/>
              </a:rPr>
              <a:t>Sudah dilalui (dari contact)</a:t>
            </a:r>
            <a:endParaRPr b="0" i="0" sz="1200" u="none" cap="none" strike="noStrike">
              <a:solidFill>
                <a:schemeClr val="dk1"/>
              </a:solidFill>
              <a:latin typeface="Calibri"/>
              <a:ea typeface="Calibri"/>
              <a:cs typeface="Calibri"/>
              <a:sym typeface="Calibri"/>
            </a:endParaRPr>
          </a:p>
        </p:txBody>
      </p:sp>
      <p:sp>
        <p:nvSpPr>
          <p:cNvPr id="171" name="Google Shape;171;p29"/>
          <p:cNvSpPr/>
          <p:nvPr/>
        </p:nvSpPr>
        <p:spPr>
          <a:xfrm>
            <a:off x="3291840" y="3794760"/>
            <a:ext cx="201168" cy="20116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9"/>
          <p:cNvSpPr txBox="1"/>
          <p:nvPr/>
        </p:nvSpPr>
        <p:spPr>
          <a:xfrm>
            <a:off x="3584448" y="374904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0" i="0" lang="en" sz="1200" u="none" cap="none" strike="noStrike">
                <a:solidFill>
                  <a:srgbClr val="1B2A41"/>
                </a:solidFill>
                <a:latin typeface="Calibri"/>
                <a:ea typeface="Calibri"/>
                <a:cs typeface="Calibri"/>
                <a:sym typeface="Calibri"/>
              </a:rPr>
              <a:t>Diisi lewat RO &amp; Top Up</a:t>
            </a:r>
            <a:endParaRPr b="0" i="0" sz="1200" u="none" cap="none" strike="noStrike">
              <a:solidFill>
                <a:schemeClr val="dk1"/>
              </a:solidFill>
              <a:latin typeface="Calibri"/>
              <a:ea typeface="Calibri"/>
              <a:cs typeface="Calibri"/>
              <a:sym typeface="Calibri"/>
            </a:endParaRPr>
          </a:p>
        </p:txBody>
      </p:sp>
      <p:sp>
        <p:nvSpPr>
          <p:cNvPr id="173" name="Google Shape;173;p29"/>
          <p:cNvSpPr/>
          <p:nvPr/>
        </p:nvSpPr>
        <p:spPr>
          <a:xfrm>
            <a:off x="6035040" y="3794760"/>
            <a:ext cx="201168" cy="201168"/>
          </a:xfrm>
          <a:prstGeom prst="ellipse">
            <a:avLst/>
          </a:prstGeom>
          <a:solidFill>
            <a:srgbClr val="D5DEEA"/>
          </a:solidFill>
          <a:ln cap="flat" cmpd="sng" w="12700">
            <a:solidFill>
              <a:srgbClr val="D5D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9"/>
          <p:cNvSpPr txBox="1"/>
          <p:nvPr/>
        </p:nvSpPr>
        <p:spPr>
          <a:xfrm>
            <a:off x="6327648" y="374904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0" i="0" lang="en" sz="1200" u="none" cap="none" strike="noStrike">
                <a:solidFill>
                  <a:srgbClr val="1B2A41"/>
                </a:solidFill>
                <a:latin typeface="Calibri"/>
                <a:ea typeface="Calibri"/>
                <a:cs typeface="Calibri"/>
                <a:sym typeface="Calibri"/>
              </a:rPr>
              <a:t>Tahap lanjutan (proses back office)</a:t>
            </a:r>
            <a:endParaRPr b="0" i="0" sz="1200" u="none" cap="none" strike="noStrike">
              <a:solidFill>
                <a:schemeClr val="dk1"/>
              </a:solidFill>
              <a:latin typeface="Calibri"/>
              <a:ea typeface="Calibri"/>
              <a:cs typeface="Calibri"/>
              <a:sym typeface="Calibri"/>
            </a:endParaRPr>
          </a:p>
        </p:txBody>
      </p:sp>
      <p:sp>
        <p:nvSpPr>
          <p:cNvPr id="175" name="Google Shape;175;p29"/>
          <p:cNvSpPr txBox="1"/>
          <p:nvPr/>
        </p:nvSpPr>
        <p:spPr>
          <a:xfrm>
            <a:off x="548640" y="4206240"/>
            <a:ext cx="8046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Jenis pembayaran di aplikasi: </a:t>
            </a:r>
            <a:r>
              <a:rPr b="0" i="0" lang="en" sz="1300" u="none" cap="none" strike="noStrike">
                <a:solidFill>
                  <a:srgbClr val="1B2A41"/>
                </a:solidFill>
                <a:latin typeface="Calibri"/>
                <a:ea typeface="Calibri"/>
                <a:cs typeface="Calibri"/>
                <a:sym typeface="Calibri"/>
              </a:rPr>
              <a:t>RB · Reserve · SP · Top up RB · Top up SP</a:t>
            </a:r>
            <a:endParaRPr b="0" i="0" sz="1300" u="none" cap="none" strike="noStrike">
              <a:solidFill>
                <a:schemeClr val="dk1"/>
              </a:solidFill>
              <a:latin typeface="Calibri"/>
              <a:ea typeface="Calibri"/>
              <a:cs typeface="Calibri"/>
              <a:sym typeface="Calibri"/>
            </a:endParaRPr>
          </a:p>
        </p:txBody>
      </p:sp>
      <p:sp>
        <p:nvSpPr>
          <p:cNvPr id="176" name="Google Shape;176;p29"/>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Membuka menu Reserve Order</a:t>
            </a:r>
            <a:endParaRPr sz="2800"/>
          </a:p>
        </p:txBody>
      </p:sp>
      <p:sp>
        <p:nvSpPr>
          <p:cNvPr id="183" name="Google Shape;183;p30"/>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0"/>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1</a:t>
            </a:r>
            <a:endParaRPr b="0" i="0" sz="1000" u="none" cap="none" strike="noStrike">
              <a:solidFill>
                <a:schemeClr val="dk1"/>
              </a:solidFill>
              <a:latin typeface="Calibri"/>
              <a:ea typeface="Calibri"/>
              <a:cs typeface="Calibri"/>
              <a:sym typeface="Calibri"/>
            </a:endParaRPr>
          </a:p>
        </p:txBody>
      </p:sp>
      <p:sp>
        <p:nvSpPr>
          <p:cNvPr id="185" name="Google Shape;185;p30"/>
          <p:cNvSpPr/>
          <p:nvPr/>
        </p:nvSpPr>
        <p:spPr>
          <a:xfrm>
            <a:off x="493776" y="950976"/>
            <a:ext cx="2604401" cy="3721608"/>
          </a:xfrm>
          <a:prstGeom prst="roundRect">
            <a:avLst>
              <a:gd fmla="val 4213"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01_ro_list.png" id="186" name="Google Shape;186;p30"/>
          <p:cNvPicPr preferRelativeResize="0"/>
          <p:nvPr/>
        </p:nvPicPr>
        <p:blipFill rotWithShape="1">
          <a:blip r:embed="rId3">
            <a:alphaModFix/>
          </a:blip>
          <a:srcRect b="0" l="0" r="0" t="0"/>
          <a:stretch/>
        </p:blipFill>
        <p:spPr>
          <a:xfrm>
            <a:off x="548640" y="1005840"/>
            <a:ext cx="2494673" cy="3611880"/>
          </a:xfrm>
          <a:prstGeom prst="rect">
            <a:avLst/>
          </a:prstGeom>
          <a:noFill/>
          <a:ln>
            <a:noFill/>
          </a:ln>
        </p:spPr>
      </p:pic>
      <p:sp>
        <p:nvSpPr>
          <p:cNvPr id="187" name="Google Shape;187;p30"/>
          <p:cNvSpPr/>
          <p:nvPr/>
        </p:nvSpPr>
        <p:spPr>
          <a:xfrm>
            <a:off x="3546233" y="106984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0"/>
          <p:cNvSpPr txBox="1"/>
          <p:nvPr/>
        </p:nvSpPr>
        <p:spPr>
          <a:xfrm>
            <a:off x="3546233"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89" name="Google Shape;189;p30"/>
          <p:cNvSpPr txBox="1"/>
          <p:nvPr/>
        </p:nvSpPr>
        <p:spPr>
          <a:xfrm>
            <a:off x="3957713" y="1051560"/>
            <a:ext cx="4729087"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Tap ikon Reserve Order</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300"/>
              <a:buFont typeface="Calibri"/>
              <a:buNone/>
            </a:pPr>
            <a:r>
              <a:rPr b="0" i="0" lang="en" sz="1300" u="none" cap="none" strike="noStrike">
                <a:solidFill>
                  <a:srgbClr val="5B6B84"/>
                </a:solidFill>
                <a:latin typeface="Calibri"/>
                <a:ea typeface="Calibri"/>
                <a:cs typeface="Calibri"/>
                <a:sym typeface="Calibri"/>
              </a:rPr>
              <a:t>Ikon clipboard bercentang di menu bawah</a:t>
            </a:r>
            <a:endParaRPr b="0" i="0" sz="1300" u="none" cap="none" strike="noStrike">
              <a:solidFill>
                <a:schemeClr val="dk1"/>
              </a:solidFill>
              <a:latin typeface="Calibri"/>
              <a:ea typeface="Calibri"/>
              <a:cs typeface="Calibri"/>
              <a:sym typeface="Calibri"/>
            </a:endParaRPr>
          </a:p>
        </p:txBody>
      </p:sp>
      <p:sp>
        <p:nvSpPr>
          <p:cNvPr id="190" name="Google Shape;190;p30"/>
          <p:cNvSpPr/>
          <p:nvPr/>
        </p:nvSpPr>
        <p:spPr>
          <a:xfrm>
            <a:off x="3546233" y="1856232"/>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0"/>
          <p:cNvSpPr txBox="1"/>
          <p:nvPr/>
        </p:nvSpPr>
        <p:spPr>
          <a:xfrm>
            <a:off x="3546233" y="185623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92" name="Google Shape;192;p30"/>
          <p:cNvSpPr txBox="1"/>
          <p:nvPr/>
        </p:nvSpPr>
        <p:spPr>
          <a:xfrm>
            <a:off x="3957713" y="1837944"/>
            <a:ext cx="4729087"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Baca kartu RO</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300"/>
              <a:buFont typeface="Calibri"/>
              <a:buNone/>
            </a:pPr>
            <a:r>
              <a:rPr b="0" i="0" lang="en" sz="1300" u="none" cap="none" strike="noStrike">
                <a:solidFill>
                  <a:srgbClr val="5B6B84"/>
                </a:solidFill>
                <a:latin typeface="Calibri"/>
                <a:ea typeface="Calibri"/>
                <a:cs typeface="Calibri"/>
                <a:sym typeface="Calibri"/>
              </a:rPr>
              <a:t>Nama customer, unit &amp; cluster, sales, nominal, pekerjaan, tanggal reserve, status</a:t>
            </a:r>
            <a:endParaRPr b="0" i="0" sz="1300" u="none" cap="none" strike="noStrike">
              <a:solidFill>
                <a:schemeClr val="dk1"/>
              </a:solidFill>
              <a:latin typeface="Calibri"/>
              <a:ea typeface="Calibri"/>
              <a:cs typeface="Calibri"/>
              <a:sym typeface="Calibri"/>
            </a:endParaRPr>
          </a:p>
        </p:txBody>
      </p:sp>
      <p:sp>
        <p:nvSpPr>
          <p:cNvPr id="193" name="Google Shape;193;p30"/>
          <p:cNvSpPr/>
          <p:nvPr/>
        </p:nvSpPr>
        <p:spPr>
          <a:xfrm>
            <a:off x="3546233" y="2642616"/>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0"/>
          <p:cNvSpPr txBox="1"/>
          <p:nvPr/>
        </p:nvSpPr>
        <p:spPr>
          <a:xfrm>
            <a:off x="3546233" y="264261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95" name="Google Shape;195;p30"/>
          <p:cNvSpPr txBox="1"/>
          <p:nvPr/>
        </p:nvSpPr>
        <p:spPr>
          <a:xfrm>
            <a:off x="3957713" y="2624328"/>
            <a:ext cx="4729087"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Cari &amp; saring</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300"/>
              <a:buFont typeface="Calibri"/>
              <a:buNone/>
            </a:pPr>
            <a:r>
              <a:rPr b="0" i="0" lang="en" sz="1300" u="none" cap="none" strike="noStrike">
                <a:solidFill>
                  <a:srgbClr val="5B6B84"/>
                </a:solidFill>
                <a:latin typeface="Calibri"/>
                <a:ea typeface="Calibri"/>
                <a:cs typeface="Calibri"/>
                <a:sym typeface="Calibri"/>
              </a:rPr>
              <a:t>Kolom cari nama/unit, urutan "Dibuat: Terbaru", tombol Filter</a:t>
            </a:r>
            <a:endParaRPr b="0" i="0" sz="1300" u="none" cap="none" strike="noStrike">
              <a:solidFill>
                <a:schemeClr val="dk1"/>
              </a:solidFill>
              <a:latin typeface="Calibri"/>
              <a:ea typeface="Calibri"/>
              <a:cs typeface="Calibri"/>
              <a:sym typeface="Calibri"/>
            </a:endParaRPr>
          </a:p>
        </p:txBody>
      </p:sp>
      <p:sp>
        <p:nvSpPr>
          <p:cNvPr id="196" name="Google Shape;196;p30"/>
          <p:cNvSpPr/>
          <p:nvPr/>
        </p:nvSpPr>
        <p:spPr>
          <a:xfrm>
            <a:off x="3546233" y="3429000"/>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0"/>
          <p:cNvSpPr txBox="1"/>
          <p:nvPr/>
        </p:nvSpPr>
        <p:spPr>
          <a:xfrm>
            <a:off x="3546233" y="342900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98" name="Google Shape;198;p30"/>
          <p:cNvSpPr txBox="1"/>
          <p:nvPr/>
        </p:nvSpPr>
        <p:spPr>
          <a:xfrm>
            <a:off x="3957713" y="3410712"/>
            <a:ext cx="4729087"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Tap tombol + biru</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300"/>
              <a:buFont typeface="Calibri"/>
              <a:buNone/>
            </a:pPr>
            <a:r>
              <a:rPr b="0" i="0" lang="en" sz="1300" u="none" cap="none" strike="noStrike">
                <a:solidFill>
                  <a:srgbClr val="5B6B84"/>
                </a:solidFill>
                <a:latin typeface="Calibri"/>
                <a:ea typeface="Calibri"/>
                <a:cs typeface="Calibri"/>
                <a:sym typeface="Calibri"/>
              </a:rPr>
              <a:t>Memulai Reserve Order baru</a:t>
            </a:r>
            <a:endParaRPr b="0" i="0" sz="1300" u="none" cap="none" strike="noStrike">
              <a:solidFill>
                <a:schemeClr val="dk1"/>
              </a:solidFill>
              <a:latin typeface="Calibri"/>
              <a:ea typeface="Calibri"/>
              <a:cs typeface="Calibri"/>
              <a:sym typeface="Calibri"/>
            </a:endParaRPr>
          </a:p>
        </p:txBody>
      </p:sp>
      <p:sp>
        <p:nvSpPr>
          <p:cNvPr id="199" name="Google Shape;199;p30"/>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Pilih contact untuk RO baru</a:t>
            </a:r>
            <a:endParaRPr sz="2800"/>
          </a:p>
        </p:txBody>
      </p:sp>
      <p:sp>
        <p:nvSpPr>
          <p:cNvPr id="206" name="Google Shape;206;p31"/>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1"/>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1</a:t>
            </a:r>
            <a:endParaRPr b="0" i="0" sz="1000" u="none" cap="none" strike="noStrike">
              <a:solidFill>
                <a:schemeClr val="dk1"/>
              </a:solidFill>
              <a:latin typeface="Calibri"/>
              <a:ea typeface="Calibri"/>
              <a:cs typeface="Calibri"/>
              <a:sym typeface="Calibri"/>
            </a:endParaRPr>
          </a:p>
        </p:txBody>
      </p:sp>
      <p:sp>
        <p:nvSpPr>
          <p:cNvPr id="208" name="Google Shape;208;p31"/>
          <p:cNvSpPr/>
          <p:nvPr/>
        </p:nvSpPr>
        <p:spPr>
          <a:xfrm>
            <a:off x="493776" y="950976"/>
            <a:ext cx="2604401" cy="3721608"/>
          </a:xfrm>
          <a:prstGeom prst="roundRect">
            <a:avLst>
              <a:gd fmla="val 4213"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02_pilih_contact.png" id="209" name="Google Shape;209;p31"/>
          <p:cNvPicPr preferRelativeResize="0"/>
          <p:nvPr/>
        </p:nvPicPr>
        <p:blipFill rotWithShape="1">
          <a:blip r:embed="rId3">
            <a:alphaModFix/>
          </a:blip>
          <a:srcRect b="0" l="0" r="0" t="0"/>
          <a:stretch/>
        </p:blipFill>
        <p:spPr>
          <a:xfrm>
            <a:off x="548640" y="1005840"/>
            <a:ext cx="2494673" cy="3611880"/>
          </a:xfrm>
          <a:prstGeom prst="rect">
            <a:avLst/>
          </a:prstGeom>
          <a:noFill/>
          <a:ln>
            <a:noFill/>
          </a:ln>
        </p:spPr>
      </p:pic>
      <p:sp>
        <p:nvSpPr>
          <p:cNvPr id="210" name="Google Shape;210;p31"/>
          <p:cNvSpPr/>
          <p:nvPr/>
        </p:nvSpPr>
        <p:spPr>
          <a:xfrm>
            <a:off x="3354209" y="950976"/>
            <a:ext cx="2604401" cy="3721608"/>
          </a:xfrm>
          <a:prstGeom prst="roundRect">
            <a:avLst>
              <a:gd fmla="val 4213"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03_customer_reserve.png" id="211" name="Google Shape;211;p31"/>
          <p:cNvPicPr preferRelativeResize="0"/>
          <p:nvPr/>
        </p:nvPicPr>
        <p:blipFill rotWithShape="1">
          <a:blip r:embed="rId4">
            <a:alphaModFix/>
          </a:blip>
          <a:srcRect b="0" l="0" r="0" t="0"/>
          <a:stretch/>
        </p:blipFill>
        <p:spPr>
          <a:xfrm>
            <a:off x="3409073" y="1005840"/>
            <a:ext cx="2494673" cy="3611880"/>
          </a:xfrm>
          <a:prstGeom prst="rect">
            <a:avLst/>
          </a:prstGeom>
          <a:noFill/>
          <a:ln>
            <a:noFill/>
          </a:ln>
        </p:spPr>
      </p:pic>
      <p:sp>
        <p:nvSpPr>
          <p:cNvPr id="212" name="Google Shape;212;p31"/>
          <p:cNvSpPr/>
          <p:nvPr/>
        </p:nvSpPr>
        <p:spPr>
          <a:xfrm>
            <a:off x="6406666" y="106984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1"/>
          <p:cNvSpPr txBox="1"/>
          <p:nvPr/>
        </p:nvSpPr>
        <p:spPr>
          <a:xfrm>
            <a:off x="6406666"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214" name="Google Shape;214;p31"/>
          <p:cNvSpPr txBox="1"/>
          <p:nvPr/>
        </p:nvSpPr>
        <p:spPr>
          <a:xfrm>
            <a:off x="6818146" y="1051560"/>
            <a:ext cx="1868654"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Tab Contact</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Pilih prospek dari daftar contact; cari nama atau No. HP</a:t>
            </a:r>
            <a:endParaRPr b="0" i="0" sz="1200" u="none" cap="none" strike="noStrike">
              <a:solidFill>
                <a:schemeClr val="dk1"/>
              </a:solidFill>
              <a:latin typeface="Calibri"/>
              <a:ea typeface="Calibri"/>
              <a:cs typeface="Calibri"/>
              <a:sym typeface="Calibri"/>
            </a:endParaRPr>
          </a:p>
        </p:txBody>
      </p:sp>
      <p:sp>
        <p:nvSpPr>
          <p:cNvPr id="215" name="Google Shape;215;p31"/>
          <p:cNvSpPr/>
          <p:nvPr/>
        </p:nvSpPr>
        <p:spPr>
          <a:xfrm>
            <a:off x="6406666" y="202996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1"/>
          <p:cNvSpPr txBox="1"/>
          <p:nvPr/>
        </p:nvSpPr>
        <p:spPr>
          <a:xfrm>
            <a:off x="6406666" y="202996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217" name="Google Shape;217;p31"/>
          <p:cNvSpPr txBox="1"/>
          <p:nvPr/>
        </p:nvSpPr>
        <p:spPr>
          <a:xfrm>
            <a:off x="6818146" y="2011680"/>
            <a:ext cx="1868654"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Tab Customer Reserve</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Customer yang sudah pernah reserve, untuk tambah unit</a:t>
            </a:r>
            <a:endParaRPr b="0" i="0" sz="1200" u="none" cap="none" strike="noStrike">
              <a:solidFill>
                <a:schemeClr val="dk1"/>
              </a:solidFill>
              <a:latin typeface="Calibri"/>
              <a:ea typeface="Calibri"/>
              <a:cs typeface="Calibri"/>
              <a:sym typeface="Calibri"/>
            </a:endParaRPr>
          </a:p>
        </p:txBody>
      </p:sp>
      <p:sp>
        <p:nvSpPr>
          <p:cNvPr id="218" name="Google Shape;218;p31"/>
          <p:cNvSpPr/>
          <p:nvPr/>
        </p:nvSpPr>
        <p:spPr>
          <a:xfrm>
            <a:off x="6406666" y="299008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1"/>
          <p:cNvSpPr txBox="1"/>
          <p:nvPr/>
        </p:nvSpPr>
        <p:spPr>
          <a:xfrm>
            <a:off x="6406666" y="299008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220" name="Google Shape;220;p31"/>
          <p:cNvSpPr txBox="1"/>
          <p:nvPr/>
        </p:nvSpPr>
        <p:spPr>
          <a:xfrm>
            <a:off x="6818146" y="2971800"/>
            <a:ext cx="1868654"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Tap nama</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Masuk form 4 langkah: Customer → Unit → Dokumen → Review</a:t>
            </a:r>
            <a:endParaRPr b="0" i="0" sz="1200" u="none" cap="none" strike="noStrike">
              <a:solidFill>
                <a:schemeClr val="dk1"/>
              </a:solidFill>
              <a:latin typeface="Calibri"/>
              <a:ea typeface="Calibri"/>
              <a:cs typeface="Calibri"/>
              <a:sym typeface="Calibri"/>
            </a:endParaRPr>
          </a:p>
        </p:txBody>
      </p:sp>
      <p:sp>
        <p:nvSpPr>
          <p:cNvPr id="221" name="Google Shape;221;p31"/>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2"/>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Langkah 1/4 — Data Customer</a:t>
            </a:r>
            <a:endParaRPr sz="2800"/>
          </a:p>
        </p:txBody>
      </p:sp>
      <p:sp>
        <p:nvSpPr>
          <p:cNvPr id="228" name="Google Shape;228;p32"/>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2"/>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1</a:t>
            </a:r>
            <a:endParaRPr b="0" i="0" sz="1000" u="none" cap="none" strike="noStrike">
              <a:solidFill>
                <a:schemeClr val="dk1"/>
              </a:solidFill>
              <a:latin typeface="Calibri"/>
              <a:ea typeface="Calibri"/>
              <a:cs typeface="Calibri"/>
              <a:sym typeface="Calibri"/>
            </a:endParaRPr>
          </a:p>
        </p:txBody>
      </p:sp>
      <p:sp>
        <p:nvSpPr>
          <p:cNvPr id="230" name="Google Shape;230;p32"/>
          <p:cNvSpPr/>
          <p:nvPr/>
        </p:nvSpPr>
        <p:spPr>
          <a:xfrm>
            <a:off x="840613"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05_form_atas.png" id="231" name="Google Shape;231;p32"/>
          <p:cNvPicPr preferRelativeResize="0"/>
          <p:nvPr/>
        </p:nvPicPr>
        <p:blipFill rotWithShape="1">
          <a:blip r:embed="rId3">
            <a:alphaModFix/>
          </a:blip>
          <a:srcRect b="0" l="0" r="0" t="0"/>
          <a:stretch/>
        </p:blipFill>
        <p:spPr>
          <a:xfrm>
            <a:off x="895477" y="987552"/>
            <a:ext cx="2115735" cy="3063240"/>
          </a:xfrm>
          <a:prstGeom prst="rect">
            <a:avLst/>
          </a:prstGeom>
          <a:noFill/>
          <a:ln>
            <a:noFill/>
          </a:ln>
        </p:spPr>
      </p:pic>
      <p:sp>
        <p:nvSpPr>
          <p:cNvPr id="232" name="Google Shape;232;p32"/>
          <p:cNvSpPr/>
          <p:nvPr/>
        </p:nvSpPr>
        <p:spPr>
          <a:xfrm>
            <a:off x="840613"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2"/>
          <p:cNvSpPr txBox="1"/>
          <p:nvPr/>
        </p:nvSpPr>
        <p:spPr>
          <a:xfrm>
            <a:off x="840613"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234" name="Google Shape;234;p32"/>
          <p:cNvSpPr txBox="1"/>
          <p:nvPr/>
        </p:nvSpPr>
        <p:spPr>
          <a:xfrm>
            <a:off x="1206373"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Ambil Foto KTP atau isi Nama, No. KTP, tempat &amp; tanggal lahir</a:t>
            </a:r>
            <a:endParaRPr b="0" i="0" sz="1100" u="none" cap="none" strike="noStrike">
              <a:solidFill>
                <a:schemeClr val="dk1"/>
              </a:solidFill>
              <a:latin typeface="Calibri"/>
              <a:ea typeface="Calibri"/>
              <a:cs typeface="Calibri"/>
              <a:sym typeface="Calibri"/>
            </a:endParaRPr>
          </a:p>
        </p:txBody>
      </p:sp>
      <p:sp>
        <p:nvSpPr>
          <p:cNvPr id="235" name="Google Shape;235;p32"/>
          <p:cNvSpPr/>
          <p:nvPr/>
        </p:nvSpPr>
        <p:spPr>
          <a:xfrm>
            <a:off x="3459268"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06_form_tengah.png" id="236" name="Google Shape;236;p32"/>
          <p:cNvPicPr preferRelativeResize="0"/>
          <p:nvPr/>
        </p:nvPicPr>
        <p:blipFill rotWithShape="1">
          <a:blip r:embed="rId4">
            <a:alphaModFix/>
          </a:blip>
          <a:srcRect b="0" l="0" r="0" t="0"/>
          <a:stretch/>
        </p:blipFill>
        <p:spPr>
          <a:xfrm>
            <a:off x="3514132" y="987552"/>
            <a:ext cx="2115735" cy="3063240"/>
          </a:xfrm>
          <a:prstGeom prst="rect">
            <a:avLst/>
          </a:prstGeom>
          <a:noFill/>
          <a:ln>
            <a:noFill/>
          </a:ln>
        </p:spPr>
      </p:pic>
      <p:sp>
        <p:nvSpPr>
          <p:cNvPr id="237" name="Google Shape;237;p32"/>
          <p:cNvSpPr/>
          <p:nvPr/>
        </p:nvSpPr>
        <p:spPr>
          <a:xfrm>
            <a:off x="3459268"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2"/>
          <p:cNvSpPr txBox="1"/>
          <p:nvPr/>
        </p:nvSpPr>
        <p:spPr>
          <a:xfrm>
            <a:off x="3459268"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239" name="Google Shape;239;p32"/>
          <p:cNvSpPr txBox="1"/>
          <p:nvPr/>
        </p:nvSpPr>
        <p:spPr>
          <a:xfrm>
            <a:off x="3825028"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Lengkapi alamat KTP, No. HP, status nikah, kategori pekerjaan</a:t>
            </a:r>
            <a:endParaRPr b="0" i="0" sz="1100" u="none" cap="none" strike="noStrike">
              <a:solidFill>
                <a:schemeClr val="dk1"/>
              </a:solidFill>
              <a:latin typeface="Calibri"/>
              <a:ea typeface="Calibri"/>
              <a:cs typeface="Calibri"/>
              <a:sym typeface="Calibri"/>
            </a:endParaRPr>
          </a:p>
        </p:txBody>
      </p:sp>
      <p:sp>
        <p:nvSpPr>
          <p:cNvPr id="240" name="Google Shape;240;p32"/>
          <p:cNvSpPr/>
          <p:nvPr/>
        </p:nvSpPr>
        <p:spPr>
          <a:xfrm>
            <a:off x="6077924"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07_form_bawah.png" id="241" name="Google Shape;241;p32"/>
          <p:cNvPicPr preferRelativeResize="0"/>
          <p:nvPr/>
        </p:nvPicPr>
        <p:blipFill rotWithShape="1">
          <a:blip r:embed="rId5">
            <a:alphaModFix/>
          </a:blip>
          <a:srcRect b="0" l="0" r="0" t="0"/>
          <a:stretch/>
        </p:blipFill>
        <p:spPr>
          <a:xfrm>
            <a:off x="6132788" y="987552"/>
            <a:ext cx="2115735" cy="3063240"/>
          </a:xfrm>
          <a:prstGeom prst="rect">
            <a:avLst/>
          </a:prstGeom>
          <a:noFill/>
          <a:ln>
            <a:noFill/>
          </a:ln>
        </p:spPr>
      </p:pic>
      <p:sp>
        <p:nvSpPr>
          <p:cNvPr id="242" name="Google Shape;242;p32"/>
          <p:cNvSpPr/>
          <p:nvPr/>
        </p:nvSpPr>
        <p:spPr>
          <a:xfrm>
            <a:off x="6077924"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2"/>
          <p:cNvSpPr txBox="1"/>
          <p:nvPr/>
        </p:nvSpPr>
        <p:spPr>
          <a:xfrm>
            <a:off x="6077924"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244" name="Google Shape;244;p32"/>
          <p:cNvSpPr txBox="1"/>
          <p:nvPr/>
        </p:nvSpPr>
        <p:spPr>
          <a:xfrm>
            <a:off x="6443684"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Isi pekerjaan &amp; cara bayar → Lanjut ke Pilih Unit</a:t>
            </a:r>
            <a:endParaRPr b="0" i="0" sz="1100" u="none" cap="none" strike="noStrike">
              <a:solidFill>
                <a:schemeClr val="dk1"/>
              </a:solidFill>
              <a:latin typeface="Calibri"/>
              <a:ea typeface="Calibri"/>
              <a:cs typeface="Calibri"/>
              <a:sym typeface="Calibri"/>
            </a:endParaRPr>
          </a:p>
        </p:txBody>
      </p:sp>
      <p:sp>
        <p:nvSpPr>
          <p:cNvPr id="245" name="Google Shape;245;p32"/>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3"/>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Customer lama terdeteksi otomatis</a:t>
            </a:r>
            <a:endParaRPr sz="2800"/>
          </a:p>
        </p:txBody>
      </p:sp>
      <p:sp>
        <p:nvSpPr>
          <p:cNvPr id="252" name="Google Shape;252;p33"/>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3"/>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1</a:t>
            </a:r>
            <a:endParaRPr b="0" i="0" sz="1000" u="none" cap="none" strike="noStrike">
              <a:solidFill>
                <a:schemeClr val="dk1"/>
              </a:solidFill>
              <a:latin typeface="Calibri"/>
              <a:ea typeface="Calibri"/>
              <a:cs typeface="Calibri"/>
              <a:sym typeface="Calibri"/>
            </a:endParaRPr>
          </a:p>
        </p:txBody>
      </p:sp>
      <p:sp>
        <p:nvSpPr>
          <p:cNvPr id="254" name="Google Shape;254;p33"/>
          <p:cNvSpPr/>
          <p:nvPr/>
        </p:nvSpPr>
        <p:spPr>
          <a:xfrm>
            <a:off x="493776" y="950976"/>
            <a:ext cx="2604401" cy="3721608"/>
          </a:xfrm>
          <a:prstGeom prst="roundRect">
            <a:avLst>
              <a:gd fmla="val 4213"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04_popup_lama.png" id="255" name="Google Shape;255;p33"/>
          <p:cNvPicPr preferRelativeResize="0"/>
          <p:nvPr/>
        </p:nvPicPr>
        <p:blipFill rotWithShape="1">
          <a:blip r:embed="rId3">
            <a:alphaModFix/>
          </a:blip>
          <a:srcRect b="0" l="0" r="0" t="0"/>
          <a:stretch/>
        </p:blipFill>
        <p:spPr>
          <a:xfrm>
            <a:off x="548640" y="1005840"/>
            <a:ext cx="2494673" cy="3611880"/>
          </a:xfrm>
          <a:prstGeom prst="rect">
            <a:avLst/>
          </a:prstGeom>
          <a:noFill/>
          <a:ln>
            <a:noFill/>
          </a:ln>
        </p:spPr>
      </p:pic>
      <p:sp>
        <p:nvSpPr>
          <p:cNvPr id="256" name="Google Shape;256;p33"/>
          <p:cNvSpPr/>
          <p:nvPr/>
        </p:nvSpPr>
        <p:spPr>
          <a:xfrm>
            <a:off x="3546233" y="106984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3"/>
          <p:cNvSpPr txBox="1"/>
          <p:nvPr/>
        </p:nvSpPr>
        <p:spPr>
          <a:xfrm>
            <a:off x="3546233"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258" name="Google Shape;258;p33"/>
          <p:cNvSpPr txBox="1"/>
          <p:nvPr/>
        </p:nvSpPr>
        <p:spPr>
          <a:xfrm>
            <a:off x="3957713" y="1051560"/>
            <a:ext cx="4729087"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Ketik No. KTP</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300"/>
              <a:buFont typeface="Calibri"/>
              <a:buNone/>
            </a:pPr>
            <a:r>
              <a:rPr b="0" i="0" lang="en" sz="1300" u="none" cap="none" strike="noStrike">
                <a:solidFill>
                  <a:srgbClr val="5B6B84"/>
                </a:solidFill>
                <a:latin typeface="Calibri"/>
                <a:ea typeface="Calibri"/>
                <a:cs typeface="Calibri"/>
                <a:sym typeface="Calibri"/>
              </a:rPr>
              <a:t>Aplikasi mengecek apakah KTP sudah pernah dipakai reserve</a:t>
            </a:r>
            <a:endParaRPr b="0" i="0" sz="1300" u="none" cap="none" strike="noStrike">
              <a:solidFill>
                <a:schemeClr val="dk1"/>
              </a:solidFill>
              <a:latin typeface="Calibri"/>
              <a:ea typeface="Calibri"/>
              <a:cs typeface="Calibri"/>
              <a:sym typeface="Calibri"/>
            </a:endParaRPr>
          </a:p>
        </p:txBody>
      </p:sp>
      <p:sp>
        <p:nvSpPr>
          <p:cNvPr id="259" name="Google Shape;259;p33"/>
          <p:cNvSpPr/>
          <p:nvPr/>
        </p:nvSpPr>
        <p:spPr>
          <a:xfrm>
            <a:off x="3546233" y="1856232"/>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3"/>
          <p:cNvSpPr txBox="1"/>
          <p:nvPr/>
        </p:nvSpPr>
        <p:spPr>
          <a:xfrm>
            <a:off x="3546233" y="185623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261" name="Google Shape;261;p33"/>
          <p:cNvSpPr txBox="1"/>
          <p:nvPr/>
        </p:nvSpPr>
        <p:spPr>
          <a:xfrm>
            <a:off x="3957713" y="1837944"/>
            <a:ext cx="4729087"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Isi Otomatis</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300"/>
              <a:buFont typeface="Calibri"/>
              <a:buNone/>
            </a:pPr>
            <a:r>
              <a:rPr b="0" i="0" lang="en" sz="1300" u="none" cap="none" strike="noStrike">
                <a:solidFill>
                  <a:srgbClr val="5B6B84"/>
                </a:solidFill>
                <a:latin typeface="Calibri"/>
                <a:ea typeface="Calibri"/>
                <a:cs typeface="Calibri"/>
                <a:sym typeface="Calibri"/>
              </a:rPr>
              <a:t>Data customer &amp; foto KTP lama dipakai, tinggal dicek lalu lanjut</a:t>
            </a:r>
            <a:endParaRPr b="0" i="0" sz="1300" u="none" cap="none" strike="noStrike">
              <a:solidFill>
                <a:schemeClr val="dk1"/>
              </a:solidFill>
              <a:latin typeface="Calibri"/>
              <a:ea typeface="Calibri"/>
              <a:cs typeface="Calibri"/>
              <a:sym typeface="Calibri"/>
            </a:endParaRPr>
          </a:p>
        </p:txBody>
      </p:sp>
      <p:sp>
        <p:nvSpPr>
          <p:cNvPr id="262" name="Google Shape;262;p33"/>
          <p:cNvSpPr/>
          <p:nvPr/>
        </p:nvSpPr>
        <p:spPr>
          <a:xfrm>
            <a:off x="3546233" y="2642616"/>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3"/>
          <p:cNvSpPr txBox="1"/>
          <p:nvPr/>
        </p:nvSpPr>
        <p:spPr>
          <a:xfrm>
            <a:off x="3546233" y="264261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264" name="Google Shape;264;p33"/>
          <p:cNvSpPr txBox="1"/>
          <p:nvPr/>
        </p:nvSpPr>
        <p:spPr>
          <a:xfrm>
            <a:off x="3957713" y="2624328"/>
            <a:ext cx="4729087"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Isi Sendiri</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300"/>
              <a:buFont typeface="Calibri"/>
              <a:buNone/>
            </a:pPr>
            <a:r>
              <a:rPr b="0" i="0" lang="en" sz="1300" u="none" cap="none" strike="noStrike">
                <a:solidFill>
                  <a:srgbClr val="5B6B84"/>
                </a:solidFill>
                <a:latin typeface="Calibri"/>
                <a:ea typeface="Calibri"/>
                <a:cs typeface="Calibri"/>
                <a:sym typeface="Calibri"/>
              </a:rPr>
              <a:t>Pilih jika data lama sudah tidak sesuai</a:t>
            </a:r>
            <a:endParaRPr b="0" i="0" sz="1300" u="none" cap="none" strike="noStrike">
              <a:solidFill>
                <a:schemeClr val="dk1"/>
              </a:solidFill>
              <a:latin typeface="Calibri"/>
              <a:ea typeface="Calibri"/>
              <a:cs typeface="Calibri"/>
              <a:sym typeface="Calibri"/>
            </a:endParaRPr>
          </a:p>
        </p:txBody>
      </p:sp>
      <p:sp>
        <p:nvSpPr>
          <p:cNvPr id="265" name="Google Shape;265;p33"/>
          <p:cNvSpPr/>
          <p:nvPr/>
        </p:nvSpPr>
        <p:spPr>
          <a:xfrm>
            <a:off x="3546233" y="3429000"/>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3"/>
          <p:cNvSpPr txBox="1"/>
          <p:nvPr/>
        </p:nvSpPr>
        <p:spPr>
          <a:xfrm>
            <a:off x="3546233" y="342900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267" name="Google Shape;267;p33"/>
          <p:cNvSpPr txBox="1"/>
          <p:nvPr/>
        </p:nvSpPr>
        <p:spPr>
          <a:xfrm>
            <a:off x="3957713" y="3410712"/>
            <a:ext cx="4729087"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300"/>
              <a:buFont typeface="Calibri"/>
              <a:buNone/>
            </a:pPr>
            <a:r>
              <a:rPr b="1" i="0" lang="en" sz="1300" u="none" cap="none" strike="noStrike">
                <a:solidFill>
                  <a:srgbClr val="1B2A41"/>
                </a:solidFill>
                <a:latin typeface="Calibri"/>
                <a:ea typeface="Calibri"/>
                <a:cs typeface="Calibri"/>
                <a:sym typeface="Calibri"/>
              </a:rPr>
              <a:t>Selalu cek ulang</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300"/>
              <a:buFont typeface="Calibri"/>
              <a:buNone/>
            </a:pPr>
            <a:r>
              <a:rPr b="0" i="0" lang="en" sz="1300" u="none" cap="none" strike="noStrike">
                <a:solidFill>
                  <a:srgbClr val="5B6B84"/>
                </a:solidFill>
                <a:latin typeface="Calibri"/>
                <a:ea typeface="Calibri"/>
                <a:cs typeface="Calibri"/>
                <a:sym typeface="Calibri"/>
              </a:rPr>
              <a:t>Terutama tanggal lahir sebelum lanjut ke langkah berikutnya</a:t>
            </a:r>
            <a:endParaRPr b="0" i="0" sz="1300" u="none" cap="none" strike="noStrike">
              <a:solidFill>
                <a:schemeClr val="dk1"/>
              </a:solidFill>
              <a:latin typeface="Calibri"/>
              <a:ea typeface="Calibri"/>
              <a:cs typeface="Calibri"/>
              <a:sym typeface="Calibri"/>
            </a:endParaRPr>
          </a:p>
        </p:txBody>
      </p:sp>
      <p:sp>
        <p:nvSpPr>
          <p:cNvPr id="268" name="Google Shape;268;p33"/>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4"/>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Langkah 2/4 — Pilih Unit</a:t>
            </a:r>
            <a:endParaRPr sz="2800"/>
          </a:p>
        </p:txBody>
      </p:sp>
      <p:sp>
        <p:nvSpPr>
          <p:cNvPr id="275" name="Google Shape;275;p34"/>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4"/>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1</a:t>
            </a:r>
            <a:endParaRPr b="0" i="0" sz="1000" u="none" cap="none" strike="noStrike">
              <a:solidFill>
                <a:schemeClr val="dk1"/>
              </a:solidFill>
              <a:latin typeface="Calibri"/>
              <a:ea typeface="Calibri"/>
              <a:cs typeface="Calibri"/>
              <a:sym typeface="Calibri"/>
            </a:endParaRPr>
          </a:p>
        </p:txBody>
      </p:sp>
      <p:sp>
        <p:nvSpPr>
          <p:cNvPr id="277" name="Google Shape;277;p34"/>
          <p:cNvSpPr/>
          <p:nvPr/>
        </p:nvSpPr>
        <p:spPr>
          <a:xfrm>
            <a:off x="840613"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08_unit.png" id="278" name="Google Shape;278;p34"/>
          <p:cNvPicPr preferRelativeResize="0"/>
          <p:nvPr/>
        </p:nvPicPr>
        <p:blipFill rotWithShape="1">
          <a:blip r:embed="rId3">
            <a:alphaModFix/>
          </a:blip>
          <a:srcRect b="0" l="0" r="0" t="0"/>
          <a:stretch/>
        </p:blipFill>
        <p:spPr>
          <a:xfrm>
            <a:off x="895477" y="987552"/>
            <a:ext cx="2115735" cy="3063240"/>
          </a:xfrm>
          <a:prstGeom prst="rect">
            <a:avLst/>
          </a:prstGeom>
          <a:noFill/>
          <a:ln>
            <a:noFill/>
          </a:ln>
        </p:spPr>
      </p:pic>
      <p:sp>
        <p:nvSpPr>
          <p:cNvPr id="279" name="Google Shape;279;p34"/>
          <p:cNvSpPr/>
          <p:nvPr/>
        </p:nvSpPr>
        <p:spPr>
          <a:xfrm>
            <a:off x="840613"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4"/>
          <p:cNvSpPr txBox="1"/>
          <p:nvPr/>
        </p:nvSpPr>
        <p:spPr>
          <a:xfrm>
            <a:off x="840613"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281" name="Google Shape;281;p34"/>
          <p:cNvSpPr txBox="1"/>
          <p:nvPr/>
        </p:nvSpPr>
        <p:spPr>
          <a:xfrm>
            <a:off x="1206373"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Cek Project. "Pilih Unit Lain" untuk melihat seluruh stok</a:t>
            </a:r>
            <a:endParaRPr b="0" i="0" sz="1100" u="none" cap="none" strike="noStrike">
              <a:solidFill>
                <a:schemeClr val="dk1"/>
              </a:solidFill>
              <a:latin typeface="Calibri"/>
              <a:ea typeface="Calibri"/>
              <a:cs typeface="Calibri"/>
              <a:sym typeface="Calibri"/>
            </a:endParaRPr>
          </a:p>
        </p:txBody>
      </p:sp>
      <p:sp>
        <p:nvSpPr>
          <p:cNvPr id="282" name="Google Shape;282;p34"/>
          <p:cNvSpPr/>
          <p:nvPr/>
        </p:nvSpPr>
        <p:spPr>
          <a:xfrm>
            <a:off x="3459268"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09_unit_cari.png" id="283" name="Google Shape;283;p34"/>
          <p:cNvPicPr preferRelativeResize="0"/>
          <p:nvPr/>
        </p:nvPicPr>
        <p:blipFill rotWithShape="1">
          <a:blip r:embed="rId4">
            <a:alphaModFix/>
          </a:blip>
          <a:srcRect b="0" l="0" r="0" t="0"/>
          <a:stretch/>
        </p:blipFill>
        <p:spPr>
          <a:xfrm>
            <a:off x="3514132" y="987552"/>
            <a:ext cx="2115735" cy="3063240"/>
          </a:xfrm>
          <a:prstGeom prst="rect">
            <a:avLst/>
          </a:prstGeom>
          <a:noFill/>
          <a:ln>
            <a:noFill/>
          </a:ln>
        </p:spPr>
      </p:pic>
      <p:sp>
        <p:nvSpPr>
          <p:cNvPr id="284" name="Google Shape;284;p34"/>
          <p:cNvSpPr/>
          <p:nvPr/>
        </p:nvSpPr>
        <p:spPr>
          <a:xfrm>
            <a:off x="3459268"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4"/>
          <p:cNvSpPr txBox="1"/>
          <p:nvPr/>
        </p:nvSpPr>
        <p:spPr>
          <a:xfrm>
            <a:off x="3459268"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286" name="Google Shape;286;p34"/>
          <p:cNvSpPr txBox="1"/>
          <p:nvPr/>
        </p:nvSpPr>
        <p:spPr>
          <a:xfrm>
            <a:off x="3825028"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Cari cluster, tipe atau kavling; buka tipe untuk melihat kavling</a:t>
            </a:r>
            <a:endParaRPr b="0" i="0" sz="1100" u="none" cap="none" strike="noStrike">
              <a:solidFill>
                <a:schemeClr val="dk1"/>
              </a:solidFill>
              <a:latin typeface="Calibri"/>
              <a:ea typeface="Calibri"/>
              <a:cs typeface="Calibri"/>
              <a:sym typeface="Calibri"/>
            </a:endParaRPr>
          </a:p>
        </p:txBody>
      </p:sp>
      <p:sp>
        <p:nvSpPr>
          <p:cNvPr id="287" name="Google Shape;287;p34"/>
          <p:cNvSpPr/>
          <p:nvPr/>
        </p:nvSpPr>
        <p:spPr>
          <a:xfrm>
            <a:off x="6077924"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10_unit_pilih.png" id="288" name="Google Shape;288;p34"/>
          <p:cNvPicPr preferRelativeResize="0"/>
          <p:nvPr/>
        </p:nvPicPr>
        <p:blipFill rotWithShape="1">
          <a:blip r:embed="rId5">
            <a:alphaModFix/>
          </a:blip>
          <a:srcRect b="0" l="0" r="0" t="0"/>
          <a:stretch/>
        </p:blipFill>
        <p:spPr>
          <a:xfrm>
            <a:off x="6132788" y="987552"/>
            <a:ext cx="2115735" cy="3063240"/>
          </a:xfrm>
          <a:prstGeom prst="rect">
            <a:avLst/>
          </a:prstGeom>
          <a:noFill/>
          <a:ln>
            <a:noFill/>
          </a:ln>
        </p:spPr>
      </p:pic>
      <p:sp>
        <p:nvSpPr>
          <p:cNvPr id="289" name="Google Shape;289;p34"/>
          <p:cNvSpPr/>
          <p:nvPr/>
        </p:nvSpPr>
        <p:spPr>
          <a:xfrm>
            <a:off x="6077924"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4"/>
          <p:cNvSpPr txBox="1"/>
          <p:nvPr/>
        </p:nvSpPr>
        <p:spPr>
          <a:xfrm>
            <a:off x="6077924"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291" name="Google Shape;291;p34"/>
          <p:cNvSpPr txBox="1"/>
          <p:nvPr/>
        </p:nvSpPr>
        <p:spPr>
          <a:xfrm>
            <a:off x="6443684"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Centang kavling (boleh lebih dari 1) → Lanjut ke Dokumen</a:t>
            </a:r>
            <a:endParaRPr b="0" i="0" sz="1100" u="none" cap="none" strike="noStrike">
              <a:solidFill>
                <a:schemeClr val="dk1"/>
              </a:solidFill>
              <a:latin typeface="Calibri"/>
              <a:ea typeface="Calibri"/>
              <a:cs typeface="Calibri"/>
              <a:sym typeface="Calibri"/>
            </a:endParaRPr>
          </a:p>
        </p:txBody>
      </p:sp>
      <p:sp>
        <p:nvSpPr>
          <p:cNvPr id="292" name="Google Shape;292;p34"/>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5"/>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Langkah 3/4 — Dokumen &amp; jenis bayar</a:t>
            </a:r>
            <a:endParaRPr sz="2800"/>
          </a:p>
        </p:txBody>
      </p:sp>
      <p:sp>
        <p:nvSpPr>
          <p:cNvPr id="299" name="Google Shape;299;p35"/>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5"/>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1</a:t>
            </a:r>
            <a:endParaRPr b="0" i="0" sz="1000" u="none" cap="none" strike="noStrike">
              <a:solidFill>
                <a:schemeClr val="dk1"/>
              </a:solidFill>
              <a:latin typeface="Calibri"/>
              <a:ea typeface="Calibri"/>
              <a:cs typeface="Calibri"/>
              <a:sym typeface="Calibri"/>
            </a:endParaRPr>
          </a:p>
        </p:txBody>
      </p:sp>
      <p:sp>
        <p:nvSpPr>
          <p:cNvPr id="301" name="Google Shape;301;p35"/>
          <p:cNvSpPr/>
          <p:nvPr/>
        </p:nvSpPr>
        <p:spPr>
          <a:xfrm>
            <a:off x="493776" y="950976"/>
            <a:ext cx="2604401" cy="3721608"/>
          </a:xfrm>
          <a:prstGeom prst="roundRect">
            <a:avLst>
              <a:gd fmla="val 4213"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11_dok_ktp.png" id="302" name="Google Shape;302;p35"/>
          <p:cNvPicPr preferRelativeResize="0"/>
          <p:nvPr/>
        </p:nvPicPr>
        <p:blipFill rotWithShape="1">
          <a:blip r:embed="rId3">
            <a:alphaModFix/>
          </a:blip>
          <a:srcRect b="0" l="0" r="0" t="0"/>
          <a:stretch/>
        </p:blipFill>
        <p:spPr>
          <a:xfrm>
            <a:off x="548640" y="1005840"/>
            <a:ext cx="2494673" cy="3611880"/>
          </a:xfrm>
          <a:prstGeom prst="rect">
            <a:avLst/>
          </a:prstGeom>
          <a:noFill/>
          <a:ln>
            <a:noFill/>
          </a:ln>
        </p:spPr>
      </p:pic>
      <p:sp>
        <p:nvSpPr>
          <p:cNvPr id="303" name="Google Shape;303;p35"/>
          <p:cNvSpPr/>
          <p:nvPr/>
        </p:nvSpPr>
        <p:spPr>
          <a:xfrm>
            <a:off x="3354209" y="950976"/>
            <a:ext cx="2604401" cy="3721608"/>
          </a:xfrm>
          <a:prstGeom prst="roundRect">
            <a:avLst>
              <a:gd fmla="val 4213"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12_dok_bayar.png" id="304" name="Google Shape;304;p35"/>
          <p:cNvPicPr preferRelativeResize="0"/>
          <p:nvPr/>
        </p:nvPicPr>
        <p:blipFill rotWithShape="1">
          <a:blip r:embed="rId4">
            <a:alphaModFix/>
          </a:blip>
          <a:srcRect b="0" l="0" r="0" t="0"/>
          <a:stretch/>
        </p:blipFill>
        <p:spPr>
          <a:xfrm>
            <a:off x="3409073" y="1005840"/>
            <a:ext cx="2494673" cy="3611880"/>
          </a:xfrm>
          <a:prstGeom prst="rect">
            <a:avLst/>
          </a:prstGeom>
          <a:noFill/>
          <a:ln>
            <a:noFill/>
          </a:ln>
        </p:spPr>
      </p:pic>
      <p:sp>
        <p:nvSpPr>
          <p:cNvPr id="305" name="Google Shape;305;p35"/>
          <p:cNvSpPr/>
          <p:nvPr/>
        </p:nvSpPr>
        <p:spPr>
          <a:xfrm>
            <a:off x="6406666" y="106984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5"/>
          <p:cNvSpPr txBox="1"/>
          <p:nvPr/>
        </p:nvSpPr>
        <p:spPr>
          <a:xfrm>
            <a:off x="6406666"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07" name="Google Shape;307;p35"/>
          <p:cNvSpPr txBox="1"/>
          <p:nvPr/>
        </p:nvSpPr>
        <p:spPr>
          <a:xfrm>
            <a:off x="6818146" y="1051560"/>
            <a:ext cx="1868654" cy="932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KTP Pemohon (wajib)</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Otomatis terisi bila sudah ada di contact; tap Ganti untuk mengganti</a:t>
            </a:r>
            <a:endParaRPr b="0" i="0" sz="1200" u="none" cap="none" strike="noStrike">
              <a:solidFill>
                <a:schemeClr val="dk1"/>
              </a:solidFill>
              <a:latin typeface="Calibri"/>
              <a:ea typeface="Calibri"/>
              <a:cs typeface="Calibri"/>
              <a:sym typeface="Calibri"/>
            </a:endParaRPr>
          </a:p>
        </p:txBody>
      </p:sp>
      <p:sp>
        <p:nvSpPr>
          <p:cNvPr id="308" name="Google Shape;308;p35"/>
          <p:cNvSpPr/>
          <p:nvPr/>
        </p:nvSpPr>
        <p:spPr>
          <a:xfrm>
            <a:off x="6406666" y="207568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5"/>
          <p:cNvSpPr txBox="1"/>
          <p:nvPr/>
        </p:nvSpPr>
        <p:spPr>
          <a:xfrm>
            <a:off x="6406666" y="207568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310" name="Google Shape;310;p35"/>
          <p:cNvSpPr txBox="1"/>
          <p:nvPr/>
        </p:nvSpPr>
        <p:spPr>
          <a:xfrm>
            <a:off x="6818146" y="2057400"/>
            <a:ext cx="1868654" cy="932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NPWP (opsional)</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Tap "Ketuk untuk upload"</a:t>
            </a:r>
            <a:endParaRPr b="0" i="0" sz="1200" u="none" cap="none" strike="noStrike">
              <a:solidFill>
                <a:schemeClr val="dk1"/>
              </a:solidFill>
              <a:latin typeface="Calibri"/>
              <a:ea typeface="Calibri"/>
              <a:cs typeface="Calibri"/>
              <a:sym typeface="Calibri"/>
            </a:endParaRPr>
          </a:p>
        </p:txBody>
      </p:sp>
      <p:sp>
        <p:nvSpPr>
          <p:cNvPr id="311" name="Google Shape;311;p35"/>
          <p:cNvSpPr/>
          <p:nvPr/>
        </p:nvSpPr>
        <p:spPr>
          <a:xfrm>
            <a:off x="6406666" y="3081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5"/>
          <p:cNvSpPr txBox="1"/>
          <p:nvPr/>
        </p:nvSpPr>
        <p:spPr>
          <a:xfrm>
            <a:off x="6406666" y="3081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13" name="Google Shape;313;p35"/>
          <p:cNvSpPr txBox="1"/>
          <p:nvPr/>
        </p:nvSpPr>
        <p:spPr>
          <a:xfrm>
            <a:off x="6818146" y="3063240"/>
            <a:ext cx="1868654" cy="932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Per unit</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Pilih Jenis Pembayaran (RB, Reserve, SP, Top up RB, Top up SP) dan Tanggal Reserve</a:t>
            </a:r>
            <a:endParaRPr b="0" i="0" sz="1200" u="none" cap="none" strike="noStrike">
              <a:solidFill>
                <a:schemeClr val="dk1"/>
              </a:solidFill>
              <a:latin typeface="Calibri"/>
              <a:ea typeface="Calibri"/>
              <a:cs typeface="Calibri"/>
              <a:sym typeface="Calibri"/>
            </a:endParaRPr>
          </a:p>
        </p:txBody>
      </p:sp>
      <p:sp>
        <p:nvSpPr>
          <p:cNvPr id="314" name="Google Shape;314;p35"/>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6"/>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Langkah 3/4 — Metode pembayaran</a:t>
            </a:r>
            <a:endParaRPr sz="2800"/>
          </a:p>
        </p:txBody>
      </p:sp>
      <p:sp>
        <p:nvSpPr>
          <p:cNvPr id="321" name="Google Shape;321;p36"/>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6"/>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1</a:t>
            </a:r>
            <a:endParaRPr b="0" i="0" sz="1000" u="none" cap="none" strike="noStrike">
              <a:solidFill>
                <a:schemeClr val="dk1"/>
              </a:solidFill>
              <a:latin typeface="Calibri"/>
              <a:ea typeface="Calibri"/>
              <a:cs typeface="Calibri"/>
              <a:sym typeface="Calibri"/>
            </a:endParaRPr>
          </a:p>
        </p:txBody>
      </p:sp>
      <p:sp>
        <p:nvSpPr>
          <p:cNvPr id="323" name="Google Shape;323;p36"/>
          <p:cNvSpPr/>
          <p:nvPr/>
        </p:nvSpPr>
        <p:spPr>
          <a:xfrm>
            <a:off x="840613"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13_pilih_sumber.png" id="324" name="Google Shape;324;p36"/>
          <p:cNvPicPr preferRelativeResize="0"/>
          <p:nvPr/>
        </p:nvPicPr>
        <p:blipFill rotWithShape="1">
          <a:blip r:embed="rId3">
            <a:alphaModFix/>
          </a:blip>
          <a:srcRect b="0" l="0" r="0" t="0"/>
          <a:stretch/>
        </p:blipFill>
        <p:spPr>
          <a:xfrm>
            <a:off x="895477" y="987552"/>
            <a:ext cx="2115735" cy="3063240"/>
          </a:xfrm>
          <a:prstGeom prst="rect">
            <a:avLst/>
          </a:prstGeom>
          <a:noFill/>
          <a:ln>
            <a:noFill/>
          </a:ln>
        </p:spPr>
      </p:pic>
      <p:sp>
        <p:nvSpPr>
          <p:cNvPr id="325" name="Google Shape;325;p36"/>
          <p:cNvSpPr/>
          <p:nvPr/>
        </p:nvSpPr>
        <p:spPr>
          <a:xfrm>
            <a:off x="840613"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6"/>
          <p:cNvSpPr txBox="1"/>
          <p:nvPr/>
        </p:nvSpPr>
        <p:spPr>
          <a:xfrm>
            <a:off x="840613"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27" name="Google Shape;327;p36"/>
          <p:cNvSpPr txBox="1"/>
          <p:nvPr/>
        </p:nvSpPr>
        <p:spPr>
          <a:xfrm>
            <a:off x="1206373"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Non Tunai: tap Bukti → Kamera, Pilih Gambar, atau Dokumen</a:t>
            </a:r>
            <a:endParaRPr b="0" i="0" sz="1100" u="none" cap="none" strike="noStrike">
              <a:solidFill>
                <a:schemeClr val="dk1"/>
              </a:solidFill>
              <a:latin typeface="Calibri"/>
              <a:ea typeface="Calibri"/>
              <a:cs typeface="Calibri"/>
              <a:sym typeface="Calibri"/>
            </a:endParaRPr>
          </a:p>
        </p:txBody>
      </p:sp>
      <p:sp>
        <p:nvSpPr>
          <p:cNvPr id="328" name="Google Shape;328;p36"/>
          <p:cNvSpPr/>
          <p:nvPr/>
        </p:nvSpPr>
        <p:spPr>
          <a:xfrm>
            <a:off x="3459268"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14_bukti_ok.png" id="329" name="Google Shape;329;p36"/>
          <p:cNvPicPr preferRelativeResize="0"/>
          <p:nvPr/>
        </p:nvPicPr>
        <p:blipFill rotWithShape="1">
          <a:blip r:embed="rId4">
            <a:alphaModFix/>
          </a:blip>
          <a:srcRect b="0" l="0" r="0" t="0"/>
          <a:stretch/>
        </p:blipFill>
        <p:spPr>
          <a:xfrm>
            <a:off x="3514132" y="987552"/>
            <a:ext cx="2115735" cy="3063240"/>
          </a:xfrm>
          <a:prstGeom prst="rect">
            <a:avLst/>
          </a:prstGeom>
          <a:noFill/>
          <a:ln>
            <a:noFill/>
          </a:ln>
        </p:spPr>
      </p:pic>
      <p:sp>
        <p:nvSpPr>
          <p:cNvPr id="330" name="Google Shape;330;p36"/>
          <p:cNvSpPr/>
          <p:nvPr/>
        </p:nvSpPr>
        <p:spPr>
          <a:xfrm>
            <a:off x="3459268"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6"/>
          <p:cNvSpPr txBox="1"/>
          <p:nvPr/>
        </p:nvSpPr>
        <p:spPr>
          <a:xfrm>
            <a:off x="3459268"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332" name="Google Shape;332;p36"/>
          <p:cNvSpPr txBox="1"/>
          <p:nvPr/>
        </p:nvSpPr>
        <p:spPr>
          <a:xfrm>
            <a:off x="3825028"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Bukti tercentang "Terupload"; isi Tanggal Bukti Transfer</a:t>
            </a:r>
            <a:endParaRPr b="0" i="0" sz="1100" u="none" cap="none" strike="noStrike">
              <a:solidFill>
                <a:schemeClr val="dk1"/>
              </a:solidFill>
              <a:latin typeface="Calibri"/>
              <a:ea typeface="Calibri"/>
              <a:cs typeface="Calibri"/>
              <a:sym typeface="Calibri"/>
            </a:endParaRPr>
          </a:p>
        </p:txBody>
      </p:sp>
      <p:sp>
        <p:nvSpPr>
          <p:cNvPr id="333" name="Google Shape;333;p36"/>
          <p:cNvSpPr/>
          <p:nvPr/>
        </p:nvSpPr>
        <p:spPr>
          <a:xfrm>
            <a:off x="6077924"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15_nominal.png" id="334" name="Google Shape;334;p36"/>
          <p:cNvPicPr preferRelativeResize="0"/>
          <p:nvPr/>
        </p:nvPicPr>
        <p:blipFill rotWithShape="1">
          <a:blip r:embed="rId5">
            <a:alphaModFix/>
          </a:blip>
          <a:srcRect b="0" l="0" r="0" t="0"/>
          <a:stretch/>
        </p:blipFill>
        <p:spPr>
          <a:xfrm>
            <a:off x="6132788" y="987552"/>
            <a:ext cx="2115735" cy="3063240"/>
          </a:xfrm>
          <a:prstGeom prst="rect">
            <a:avLst/>
          </a:prstGeom>
          <a:noFill/>
          <a:ln>
            <a:noFill/>
          </a:ln>
        </p:spPr>
      </p:pic>
      <p:sp>
        <p:nvSpPr>
          <p:cNvPr id="335" name="Google Shape;335;p36"/>
          <p:cNvSpPr/>
          <p:nvPr/>
        </p:nvSpPr>
        <p:spPr>
          <a:xfrm>
            <a:off x="6077924"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6"/>
          <p:cNvSpPr txBox="1"/>
          <p:nvPr/>
        </p:nvSpPr>
        <p:spPr>
          <a:xfrm>
            <a:off x="6077924"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37" name="Google Shape;337;p36"/>
          <p:cNvSpPr txBox="1"/>
          <p:nvPr/>
        </p:nvSpPr>
        <p:spPr>
          <a:xfrm>
            <a:off x="6443684"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Pilih nominal cepat atau ketik; + Bayar Lagi bila ada metode kedua</a:t>
            </a:r>
            <a:endParaRPr b="0" i="0" sz="1100" u="none" cap="none" strike="noStrike">
              <a:solidFill>
                <a:schemeClr val="dk1"/>
              </a:solidFill>
              <a:latin typeface="Calibri"/>
              <a:ea typeface="Calibri"/>
              <a:cs typeface="Calibri"/>
              <a:sym typeface="Calibri"/>
            </a:endParaRPr>
          </a:p>
        </p:txBody>
      </p:sp>
      <p:sp>
        <p:nvSpPr>
          <p:cNvPr id="338" name="Google Shape;338;p36"/>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7"/>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Langkah 4/4 — Review &amp; Submit</a:t>
            </a:r>
            <a:endParaRPr sz="2800"/>
          </a:p>
        </p:txBody>
      </p:sp>
      <p:sp>
        <p:nvSpPr>
          <p:cNvPr id="345" name="Google Shape;345;p37"/>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7"/>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1</a:t>
            </a:r>
            <a:endParaRPr b="0" i="0" sz="1000" u="none" cap="none" strike="noStrike">
              <a:solidFill>
                <a:schemeClr val="dk1"/>
              </a:solidFill>
              <a:latin typeface="Calibri"/>
              <a:ea typeface="Calibri"/>
              <a:cs typeface="Calibri"/>
              <a:sym typeface="Calibri"/>
            </a:endParaRPr>
          </a:p>
        </p:txBody>
      </p:sp>
      <p:sp>
        <p:nvSpPr>
          <p:cNvPr id="347" name="Google Shape;347;p37"/>
          <p:cNvSpPr/>
          <p:nvPr/>
        </p:nvSpPr>
        <p:spPr>
          <a:xfrm>
            <a:off x="840613"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16_review.png" id="348" name="Google Shape;348;p37"/>
          <p:cNvPicPr preferRelativeResize="0"/>
          <p:nvPr/>
        </p:nvPicPr>
        <p:blipFill rotWithShape="1">
          <a:blip r:embed="rId3">
            <a:alphaModFix/>
          </a:blip>
          <a:srcRect b="0" l="0" r="0" t="0"/>
          <a:stretch/>
        </p:blipFill>
        <p:spPr>
          <a:xfrm>
            <a:off x="895477" y="987552"/>
            <a:ext cx="2115735" cy="3063240"/>
          </a:xfrm>
          <a:prstGeom prst="rect">
            <a:avLst/>
          </a:prstGeom>
          <a:noFill/>
          <a:ln>
            <a:noFill/>
          </a:ln>
        </p:spPr>
      </p:pic>
      <p:sp>
        <p:nvSpPr>
          <p:cNvPr id="349" name="Google Shape;349;p37"/>
          <p:cNvSpPr/>
          <p:nvPr/>
        </p:nvSpPr>
        <p:spPr>
          <a:xfrm>
            <a:off x="840613"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7"/>
          <p:cNvSpPr txBox="1"/>
          <p:nvPr/>
        </p:nvSpPr>
        <p:spPr>
          <a:xfrm>
            <a:off x="840613"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51" name="Google Shape;351;p37"/>
          <p:cNvSpPr txBox="1"/>
          <p:nvPr/>
        </p:nvSpPr>
        <p:spPr>
          <a:xfrm>
            <a:off x="1206373"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Cek data customer &amp; struktur sales (GM, SM, SPV, SE, Team)</a:t>
            </a:r>
            <a:endParaRPr b="0" i="0" sz="1100" u="none" cap="none" strike="noStrike">
              <a:solidFill>
                <a:schemeClr val="dk1"/>
              </a:solidFill>
              <a:latin typeface="Calibri"/>
              <a:ea typeface="Calibri"/>
              <a:cs typeface="Calibri"/>
              <a:sym typeface="Calibri"/>
            </a:endParaRPr>
          </a:p>
        </p:txBody>
      </p:sp>
      <p:sp>
        <p:nvSpPr>
          <p:cNvPr id="352" name="Google Shape;352;p37"/>
          <p:cNvSpPr/>
          <p:nvPr/>
        </p:nvSpPr>
        <p:spPr>
          <a:xfrm>
            <a:off x="3459268"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17_review2.png" id="353" name="Google Shape;353;p37"/>
          <p:cNvPicPr preferRelativeResize="0"/>
          <p:nvPr/>
        </p:nvPicPr>
        <p:blipFill rotWithShape="1">
          <a:blip r:embed="rId4">
            <a:alphaModFix/>
          </a:blip>
          <a:srcRect b="0" l="0" r="0" t="0"/>
          <a:stretch/>
        </p:blipFill>
        <p:spPr>
          <a:xfrm>
            <a:off x="3514132" y="987552"/>
            <a:ext cx="2115735" cy="3063240"/>
          </a:xfrm>
          <a:prstGeom prst="rect">
            <a:avLst/>
          </a:prstGeom>
          <a:noFill/>
          <a:ln>
            <a:noFill/>
          </a:ln>
        </p:spPr>
      </p:pic>
      <p:sp>
        <p:nvSpPr>
          <p:cNvPr id="354" name="Google Shape;354;p37"/>
          <p:cNvSpPr/>
          <p:nvPr/>
        </p:nvSpPr>
        <p:spPr>
          <a:xfrm>
            <a:off x="3459268"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7"/>
          <p:cNvSpPr txBox="1"/>
          <p:nvPr/>
        </p:nvSpPr>
        <p:spPr>
          <a:xfrm>
            <a:off x="3459268"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356" name="Google Shape;356;p37"/>
          <p:cNvSpPr txBox="1"/>
          <p:nvPr/>
        </p:nvSpPr>
        <p:spPr>
          <a:xfrm>
            <a:off x="3825028"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Cek dokumen, total &amp; detail per unit → Submit Reserve Order</a:t>
            </a:r>
            <a:endParaRPr b="0" i="0" sz="1100" u="none" cap="none" strike="noStrike">
              <a:solidFill>
                <a:schemeClr val="dk1"/>
              </a:solidFill>
              <a:latin typeface="Calibri"/>
              <a:ea typeface="Calibri"/>
              <a:cs typeface="Calibri"/>
              <a:sym typeface="Calibri"/>
            </a:endParaRPr>
          </a:p>
        </p:txBody>
      </p:sp>
      <p:sp>
        <p:nvSpPr>
          <p:cNvPr id="357" name="Google Shape;357;p37"/>
          <p:cNvSpPr/>
          <p:nvPr/>
        </p:nvSpPr>
        <p:spPr>
          <a:xfrm>
            <a:off x="6077924"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18_sukses.png" id="358" name="Google Shape;358;p37"/>
          <p:cNvPicPr preferRelativeResize="0"/>
          <p:nvPr/>
        </p:nvPicPr>
        <p:blipFill rotWithShape="1">
          <a:blip r:embed="rId5">
            <a:alphaModFix/>
          </a:blip>
          <a:srcRect b="0" l="0" r="0" t="0"/>
          <a:stretch/>
        </p:blipFill>
        <p:spPr>
          <a:xfrm>
            <a:off x="6132788" y="987552"/>
            <a:ext cx="2115735" cy="3063240"/>
          </a:xfrm>
          <a:prstGeom prst="rect">
            <a:avLst/>
          </a:prstGeom>
          <a:noFill/>
          <a:ln>
            <a:noFill/>
          </a:ln>
        </p:spPr>
      </p:pic>
      <p:sp>
        <p:nvSpPr>
          <p:cNvPr id="359" name="Google Shape;359;p37"/>
          <p:cNvSpPr/>
          <p:nvPr/>
        </p:nvSpPr>
        <p:spPr>
          <a:xfrm>
            <a:off x="6077924"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7"/>
          <p:cNvSpPr txBox="1"/>
          <p:nvPr/>
        </p:nvSpPr>
        <p:spPr>
          <a:xfrm>
            <a:off x="6077924"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61" name="Google Shape;361;p37"/>
          <p:cNvSpPr txBox="1"/>
          <p:nvPr/>
        </p:nvSpPr>
        <p:spPr>
          <a:xfrm>
            <a:off x="6443684"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RO berhasil: status Diproses + nomor TTS</a:t>
            </a:r>
            <a:endParaRPr b="0" i="0" sz="1100" u="none" cap="none" strike="noStrike">
              <a:solidFill>
                <a:schemeClr val="dk1"/>
              </a:solidFill>
              <a:latin typeface="Calibri"/>
              <a:ea typeface="Calibri"/>
              <a:cs typeface="Calibri"/>
              <a:sym typeface="Calibri"/>
            </a:endParaRPr>
          </a:p>
        </p:txBody>
      </p:sp>
      <p:sp>
        <p:nvSpPr>
          <p:cNvPr id="362" name="Google Shape;362;p37"/>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8"/>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Detail RO &amp; timeline</a:t>
            </a:r>
            <a:endParaRPr sz="2800"/>
          </a:p>
        </p:txBody>
      </p:sp>
      <p:sp>
        <p:nvSpPr>
          <p:cNvPr id="369" name="Google Shape;369;p38"/>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8"/>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2</a:t>
            </a:r>
            <a:endParaRPr b="0" i="0" sz="1000" u="none" cap="none" strike="noStrike">
              <a:solidFill>
                <a:schemeClr val="dk1"/>
              </a:solidFill>
              <a:latin typeface="Calibri"/>
              <a:ea typeface="Calibri"/>
              <a:cs typeface="Calibri"/>
              <a:sym typeface="Calibri"/>
            </a:endParaRPr>
          </a:p>
        </p:txBody>
      </p:sp>
      <p:sp>
        <p:nvSpPr>
          <p:cNvPr id="371" name="Google Shape;371;p38"/>
          <p:cNvSpPr/>
          <p:nvPr/>
        </p:nvSpPr>
        <p:spPr>
          <a:xfrm>
            <a:off x="493776" y="950976"/>
            <a:ext cx="2604401" cy="3721608"/>
          </a:xfrm>
          <a:prstGeom prst="roundRect">
            <a:avLst>
              <a:gd fmla="val 4213"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20_timeline.png" id="372" name="Google Shape;372;p38"/>
          <p:cNvPicPr preferRelativeResize="0"/>
          <p:nvPr/>
        </p:nvPicPr>
        <p:blipFill rotWithShape="1">
          <a:blip r:embed="rId3">
            <a:alphaModFix/>
          </a:blip>
          <a:srcRect b="0" l="0" r="0" t="0"/>
          <a:stretch/>
        </p:blipFill>
        <p:spPr>
          <a:xfrm>
            <a:off x="548640" y="1005840"/>
            <a:ext cx="2494673" cy="3611880"/>
          </a:xfrm>
          <a:prstGeom prst="rect">
            <a:avLst/>
          </a:prstGeom>
          <a:noFill/>
          <a:ln>
            <a:noFill/>
          </a:ln>
        </p:spPr>
      </p:pic>
      <p:sp>
        <p:nvSpPr>
          <p:cNvPr id="373" name="Google Shape;373;p38"/>
          <p:cNvSpPr/>
          <p:nvPr/>
        </p:nvSpPr>
        <p:spPr>
          <a:xfrm>
            <a:off x="3354209" y="950976"/>
            <a:ext cx="2604401" cy="3721608"/>
          </a:xfrm>
          <a:prstGeom prst="roundRect">
            <a:avLst>
              <a:gd fmla="val 4213"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21_timeline_btn.png" id="374" name="Google Shape;374;p38"/>
          <p:cNvPicPr preferRelativeResize="0"/>
          <p:nvPr/>
        </p:nvPicPr>
        <p:blipFill rotWithShape="1">
          <a:blip r:embed="rId4">
            <a:alphaModFix/>
          </a:blip>
          <a:srcRect b="0" l="0" r="0" t="0"/>
          <a:stretch/>
        </p:blipFill>
        <p:spPr>
          <a:xfrm>
            <a:off x="3409073" y="1005840"/>
            <a:ext cx="2494673" cy="3611880"/>
          </a:xfrm>
          <a:prstGeom prst="rect">
            <a:avLst/>
          </a:prstGeom>
          <a:noFill/>
          <a:ln>
            <a:noFill/>
          </a:ln>
        </p:spPr>
      </p:pic>
      <p:sp>
        <p:nvSpPr>
          <p:cNvPr id="375" name="Google Shape;375;p38"/>
          <p:cNvSpPr/>
          <p:nvPr/>
        </p:nvSpPr>
        <p:spPr>
          <a:xfrm>
            <a:off x="6406666" y="106984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8"/>
          <p:cNvSpPr txBox="1"/>
          <p:nvPr/>
        </p:nvSpPr>
        <p:spPr>
          <a:xfrm>
            <a:off x="6406666"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77" name="Google Shape;377;p38"/>
          <p:cNvSpPr txBox="1"/>
          <p:nvPr/>
        </p:nvSpPr>
        <p:spPr>
          <a:xfrm>
            <a:off x="6818146" y="1051560"/>
            <a:ext cx="1868654" cy="932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Buka detail</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Tap kartu RO di daftar Reserve Order</a:t>
            </a:r>
            <a:endParaRPr b="0" i="0" sz="1200" u="none" cap="none" strike="noStrike">
              <a:solidFill>
                <a:schemeClr val="dk1"/>
              </a:solidFill>
              <a:latin typeface="Calibri"/>
              <a:ea typeface="Calibri"/>
              <a:cs typeface="Calibri"/>
              <a:sym typeface="Calibri"/>
            </a:endParaRPr>
          </a:p>
        </p:txBody>
      </p:sp>
      <p:sp>
        <p:nvSpPr>
          <p:cNvPr id="378" name="Google Shape;378;p38"/>
          <p:cNvSpPr/>
          <p:nvPr/>
        </p:nvSpPr>
        <p:spPr>
          <a:xfrm>
            <a:off x="6406666" y="207568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8"/>
          <p:cNvSpPr txBox="1"/>
          <p:nvPr/>
        </p:nvSpPr>
        <p:spPr>
          <a:xfrm>
            <a:off x="6406666" y="207568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380" name="Google Shape;380;p38"/>
          <p:cNvSpPr txBox="1"/>
          <p:nvPr/>
        </p:nvSpPr>
        <p:spPr>
          <a:xfrm>
            <a:off x="6818146" y="2057400"/>
            <a:ext cx="1868654" cy="932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Baca timeline</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Hijau = selesai, biru = tahap aktif (nominal &amp; status), abu = belum</a:t>
            </a:r>
            <a:endParaRPr b="0" i="0" sz="1200" u="none" cap="none" strike="noStrike">
              <a:solidFill>
                <a:schemeClr val="dk1"/>
              </a:solidFill>
              <a:latin typeface="Calibri"/>
              <a:ea typeface="Calibri"/>
              <a:cs typeface="Calibri"/>
              <a:sym typeface="Calibri"/>
            </a:endParaRPr>
          </a:p>
        </p:txBody>
      </p:sp>
      <p:sp>
        <p:nvSpPr>
          <p:cNvPr id="381" name="Google Shape;381;p38"/>
          <p:cNvSpPr/>
          <p:nvPr/>
        </p:nvSpPr>
        <p:spPr>
          <a:xfrm>
            <a:off x="6406666" y="3081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8"/>
          <p:cNvSpPr txBox="1"/>
          <p:nvPr/>
        </p:nvSpPr>
        <p:spPr>
          <a:xfrm>
            <a:off x="6406666" y="3081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83" name="Google Shape;383;p38"/>
          <p:cNvSpPr txBox="1"/>
          <p:nvPr/>
        </p:nvSpPr>
        <p:spPr>
          <a:xfrm>
            <a:off x="6818146" y="3063240"/>
            <a:ext cx="1868654" cy="932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Tap + Top Up Pembayaran</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Tombol di bagian bawah timeline</a:t>
            </a:r>
            <a:endParaRPr b="0" i="0" sz="1200" u="none" cap="none" strike="noStrike">
              <a:solidFill>
                <a:schemeClr val="dk1"/>
              </a:solidFill>
              <a:latin typeface="Calibri"/>
              <a:ea typeface="Calibri"/>
              <a:cs typeface="Calibri"/>
              <a:sym typeface="Calibri"/>
            </a:endParaRPr>
          </a:p>
        </p:txBody>
      </p:sp>
      <p:sp>
        <p:nvSpPr>
          <p:cNvPr id="384" name="Google Shape;384;p38"/>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9"/>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Top Up Pembayaran — isi form</a:t>
            </a:r>
            <a:endParaRPr sz="2800"/>
          </a:p>
        </p:txBody>
      </p:sp>
      <p:sp>
        <p:nvSpPr>
          <p:cNvPr id="391" name="Google Shape;391;p39"/>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9"/>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2</a:t>
            </a:r>
            <a:endParaRPr b="0" i="0" sz="1000" u="none" cap="none" strike="noStrike">
              <a:solidFill>
                <a:schemeClr val="dk1"/>
              </a:solidFill>
              <a:latin typeface="Calibri"/>
              <a:ea typeface="Calibri"/>
              <a:cs typeface="Calibri"/>
              <a:sym typeface="Calibri"/>
            </a:endParaRPr>
          </a:p>
        </p:txBody>
      </p:sp>
      <p:sp>
        <p:nvSpPr>
          <p:cNvPr id="393" name="Google Shape;393;p39"/>
          <p:cNvSpPr/>
          <p:nvPr/>
        </p:nvSpPr>
        <p:spPr>
          <a:xfrm>
            <a:off x="840613"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22_topup_form.png" id="394" name="Google Shape;394;p39"/>
          <p:cNvPicPr preferRelativeResize="0"/>
          <p:nvPr/>
        </p:nvPicPr>
        <p:blipFill rotWithShape="1">
          <a:blip r:embed="rId3">
            <a:alphaModFix/>
          </a:blip>
          <a:srcRect b="0" l="0" r="0" t="0"/>
          <a:stretch/>
        </p:blipFill>
        <p:spPr>
          <a:xfrm>
            <a:off x="895477" y="987552"/>
            <a:ext cx="2115735" cy="3063240"/>
          </a:xfrm>
          <a:prstGeom prst="rect">
            <a:avLst/>
          </a:prstGeom>
          <a:noFill/>
          <a:ln>
            <a:noFill/>
          </a:ln>
        </p:spPr>
      </p:pic>
      <p:sp>
        <p:nvSpPr>
          <p:cNvPr id="395" name="Google Shape;395;p39"/>
          <p:cNvSpPr/>
          <p:nvPr/>
        </p:nvSpPr>
        <p:spPr>
          <a:xfrm>
            <a:off x="840613"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9"/>
          <p:cNvSpPr txBox="1"/>
          <p:nvPr/>
        </p:nvSpPr>
        <p:spPr>
          <a:xfrm>
            <a:off x="840613"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97" name="Google Shape;397;p39"/>
          <p:cNvSpPr txBox="1"/>
          <p:nvPr/>
        </p:nvSpPr>
        <p:spPr>
          <a:xfrm>
            <a:off x="1206373"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Cek status &amp; total dibayar; pilih Jenis Pembayaran (mis. RB)</a:t>
            </a:r>
            <a:endParaRPr b="0" i="0" sz="1100" u="none" cap="none" strike="noStrike">
              <a:solidFill>
                <a:schemeClr val="dk1"/>
              </a:solidFill>
              <a:latin typeface="Calibri"/>
              <a:ea typeface="Calibri"/>
              <a:cs typeface="Calibri"/>
              <a:sym typeface="Calibri"/>
            </a:endParaRPr>
          </a:p>
        </p:txBody>
      </p:sp>
      <p:sp>
        <p:nvSpPr>
          <p:cNvPr id="398" name="Google Shape;398;p39"/>
          <p:cNvSpPr/>
          <p:nvPr/>
        </p:nvSpPr>
        <p:spPr>
          <a:xfrm>
            <a:off x="3459268"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23_topup_bukti.png" id="399" name="Google Shape;399;p39"/>
          <p:cNvPicPr preferRelativeResize="0"/>
          <p:nvPr/>
        </p:nvPicPr>
        <p:blipFill rotWithShape="1">
          <a:blip r:embed="rId4">
            <a:alphaModFix/>
          </a:blip>
          <a:srcRect b="0" l="0" r="0" t="0"/>
          <a:stretch/>
        </p:blipFill>
        <p:spPr>
          <a:xfrm>
            <a:off x="3514132" y="987552"/>
            <a:ext cx="2115735" cy="3063240"/>
          </a:xfrm>
          <a:prstGeom prst="rect">
            <a:avLst/>
          </a:prstGeom>
          <a:noFill/>
          <a:ln>
            <a:noFill/>
          </a:ln>
        </p:spPr>
      </p:pic>
      <p:sp>
        <p:nvSpPr>
          <p:cNvPr id="400" name="Google Shape;400;p39"/>
          <p:cNvSpPr/>
          <p:nvPr/>
        </p:nvSpPr>
        <p:spPr>
          <a:xfrm>
            <a:off x="3459268"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9"/>
          <p:cNvSpPr txBox="1"/>
          <p:nvPr/>
        </p:nvSpPr>
        <p:spPr>
          <a:xfrm>
            <a:off x="3459268"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402" name="Google Shape;402;p39"/>
          <p:cNvSpPr txBox="1"/>
          <p:nvPr/>
        </p:nvSpPr>
        <p:spPr>
          <a:xfrm>
            <a:off x="3825028"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Pilih Tunai / Non Tunai; upload bukti transfer</a:t>
            </a:r>
            <a:endParaRPr b="0" i="0" sz="1100" u="none" cap="none" strike="noStrike">
              <a:solidFill>
                <a:schemeClr val="dk1"/>
              </a:solidFill>
              <a:latin typeface="Calibri"/>
              <a:ea typeface="Calibri"/>
              <a:cs typeface="Calibri"/>
              <a:sym typeface="Calibri"/>
            </a:endParaRPr>
          </a:p>
        </p:txBody>
      </p:sp>
      <p:sp>
        <p:nvSpPr>
          <p:cNvPr id="403" name="Google Shape;403;p39"/>
          <p:cNvSpPr/>
          <p:nvPr/>
        </p:nvSpPr>
        <p:spPr>
          <a:xfrm>
            <a:off x="6077924"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24_topup_nominal.png" id="404" name="Google Shape;404;p39"/>
          <p:cNvPicPr preferRelativeResize="0"/>
          <p:nvPr/>
        </p:nvPicPr>
        <p:blipFill rotWithShape="1">
          <a:blip r:embed="rId5">
            <a:alphaModFix/>
          </a:blip>
          <a:srcRect b="0" l="0" r="0" t="0"/>
          <a:stretch/>
        </p:blipFill>
        <p:spPr>
          <a:xfrm>
            <a:off x="6132788" y="987552"/>
            <a:ext cx="2115735" cy="3063240"/>
          </a:xfrm>
          <a:prstGeom prst="rect">
            <a:avLst/>
          </a:prstGeom>
          <a:noFill/>
          <a:ln>
            <a:noFill/>
          </a:ln>
        </p:spPr>
      </p:pic>
      <p:sp>
        <p:nvSpPr>
          <p:cNvPr id="405" name="Google Shape;405;p39"/>
          <p:cNvSpPr/>
          <p:nvPr/>
        </p:nvSpPr>
        <p:spPr>
          <a:xfrm>
            <a:off x="6077924"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9"/>
          <p:cNvSpPr txBox="1"/>
          <p:nvPr/>
        </p:nvSpPr>
        <p:spPr>
          <a:xfrm>
            <a:off x="6077924"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407" name="Google Shape;407;p39"/>
          <p:cNvSpPr txBox="1"/>
          <p:nvPr/>
        </p:nvSpPr>
        <p:spPr>
          <a:xfrm>
            <a:off x="6443684"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Isi tanggal bukti &amp; nominal; tombol menampilkan total</a:t>
            </a:r>
            <a:endParaRPr b="0" i="0" sz="1100" u="none" cap="none" strike="noStrike">
              <a:solidFill>
                <a:schemeClr val="dk1"/>
              </a:solidFill>
              <a:latin typeface="Calibri"/>
              <a:ea typeface="Calibri"/>
              <a:cs typeface="Calibri"/>
              <a:sym typeface="Calibri"/>
            </a:endParaRPr>
          </a:p>
        </p:txBody>
      </p:sp>
      <p:sp>
        <p:nvSpPr>
          <p:cNvPr id="408" name="Google Shape;408;p39"/>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0"/>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Top Up — ajukan &amp; cek timeline</a:t>
            </a:r>
            <a:endParaRPr sz="2800"/>
          </a:p>
        </p:txBody>
      </p:sp>
      <p:sp>
        <p:nvSpPr>
          <p:cNvPr id="415" name="Google Shape;415;p40"/>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0"/>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2</a:t>
            </a:r>
            <a:endParaRPr b="0" i="0" sz="1000" u="none" cap="none" strike="noStrike">
              <a:solidFill>
                <a:schemeClr val="dk1"/>
              </a:solidFill>
              <a:latin typeface="Calibri"/>
              <a:ea typeface="Calibri"/>
              <a:cs typeface="Calibri"/>
              <a:sym typeface="Calibri"/>
            </a:endParaRPr>
          </a:p>
        </p:txBody>
      </p:sp>
      <p:sp>
        <p:nvSpPr>
          <p:cNvPr id="417" name="Google Shape;417;p40"/>
          <p:cNvSpPr/>
          <p:nvPr/>
        </p:nvSpPr>
        <p:spPr>
          <a:xfrm>
            <a:off x="840613"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25_topup_catatan.png" id="418" name="Google Shape;418;p40"/>
          <p:cNvPicPr preferRelativeResize="0"/>
          <p:nvPr/>
        </p:nvPicPr>
        <p:blipFill rotWithShape="1">
          <a:blip r:embed="rId3">
            <a:alphaModFix/>
          </a:blip>
          <a:srcRect b="0" l="0" r="0" t="0"/>
          <a:stretch/>
        </p:blipFill>
        <p:spPr>
          <a:xfrm>
            <a:off x="895477" y="987552"/>
            <a:ext cx="2115735" cy="3063240"/>
          </a:xfrm>
          <a:prstGeom prst="rect">
            <a:avLst/>
          </a:prstGeom>
          <a:noFill/>
          <a:ln>
            <a:noFill/>
          </a:ln>
        </p:spPr>
      </p:pic>
      <p:sp>
        <p:nvSpPr>
          <p:cNvPr id="419" name="Google Shape;419;p40"/>
          <p:cNvSpPr/>
          <p:nvPr/>
        </p:nvSpPr>
        <p:spPr>
          <a:xfrm>
            <a:off x="840613"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0"/>
          <p:cNvSpPr txBox="1"/>
          <p:nvPr/>
        </p:nvSpPr>
        <p:spPr>
          <a:xfrm>
            <a:off x="840613"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421" name="Google Shape;421;p40"/>
          <p:cNvSpPr txBox="1"/>
          <p:nvPr/>
        </p:nvSpPr>
        <p:spPr>
          <a:xfrm>
            <a:off x="1206373"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Tambahkan catatan → Ajukan Top Up</a:t>
            </a:r>
            <a:endParaRPr b="0" i="0" sz="1100" u="none" cap="none" strike="noStrike">
              <a:solidFill>
                <a:schemeClr val="dk1"/>
              </a:solidFill>
              <a:latin typeface="Calibri"/>
              <a:ea typeface="Calibri"/>
              <a:cs typeface="Calibri"/>
              <a:sym typeface="Calibri"/>
            </a:endParaRPr>
          </a:p>
        </p:txBody>
      </p:sp>
      <p:sp>
        <p:nvSpPr>
          <p:cNvPr id="422" name="Google Shape;422;p40"/>
          <p:cNvSpPr/>
          <p:nvPr/>
        </p:nvSpPr>
        <p:spPr>
          <a:xfrm>
            <a:off x="3459268"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26_topup_sukses.png" id="423" name="Google Shape;423;p40"/>
          <p:cNvPicPr preferRelativeResize="0"/>
          <p:nvPr/>
        </p:nvPicPr>
        <p:blipFill rotWithShape="1">
          <a:blip r:embed="rId4">
            <a:alphaModFix/>
          </a:blip>
          <a:srcRect b="0" l="0" r="0" t="0"/>
          <a:stretch/>
        </p:blipFill>
        <p:spPr>
          <a:xfrm>
            <a:off x="3514132" y="987552"/>
            <a:ext cx="2115735" cy="3063240"/>
          </a:xfrm>
          <a:prstGeom prst="rect">
            <a:avLst/>
          </a:prstGeom>
          <a:noFill/>
          <a:ln>
            <a:noFill/>
          </a:ln>
        </p:spPr>
      </p:pic>
      <p:sp>
        <p:nvSpPr>
          <p:cNvPr id="424" name="Google Shape;424;p40"/>
          <p:cNvSpPr/>
          <p:nvPr/>
        </p:nvSpPr>
        <p:spPr>
          <a:xfrm>
            <a:off x="3459268"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40"/>
          <p:cNvSpPr txBox="1"/>
          <p:nvPr/>
        </p:nvSpPr>
        <p:spPr>
          <a:xfrm>
            <a:off x="3459268"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426" name="Google Shape;426;p40"/>
          <p:cNvSpPr txBox="1"/>
          <p:nvPr/>
        </p:nvSpPr>
        <p:spPr>
          <a:xfrm>
            <a:off x="3825028"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Berhasil: status Menunggu, terlihat total setelah transaksi</a:t>
            </a:r>
            <a:endParaRPr b="0" i="0" sz="1100" u="none" cap="none" strike="noStrike">
              <a:solidFill>
                <a:schemeClr val="dk1"/>
              </a:solidFill>
              <a:latin typeface="Calibri"/>
              <a:ea typeface="Calibri"/>
              <a:cs typeface="Calibri"/>
              <a:sym typeface="Calibri"/>
            </a:endParaRPr>
          </a:p>
        </p:txBody>
      </p:sp>
      <p:sp>
        <p:nvSpPr>
          <p:cNvPr id="427" name="Google Shape;427;p40"/>
          <p:cNvSpPr/>
          <p:nvPr/>
        </p:nvSpPr>
        <p:spPr>
          <a:xfrm>
            <a:off x="6077924"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27_timeline_after.png" id="428" name="Google Shape;428;p40"/>
          <p:cNvPicPr preferRelativeResize="0"/>
          <p:nvPr/>
        </p:nvPicPr>
        <p:blipFill rotWithShape="1">
          <a:blip r:embed="rId5">
            <a:alphaModFix/>
          </a:blip>
          <a:srcRect b="0" l="0" r="0" t="0"/>
          <a:stretch/>
        </p:blipFill>
        <p:spPr>
          <a:xfrm>
            <a:off x="6132788" y="987552"/>
            <a:ext cx="2115735" cy="3063240"/>
          </a:xfrm>
          <a:prstGeom prst="rect">
            <a:avLst/>
          </a:prstGeom>
          <a:noFill/>
          <a:ln>
            <a:noFill/>
          </a:ln>
        </p:spPr>
      </p:pic>
      <p:sp>
        <p:nvSpPr>
          <p:cNvPr id="429" name="Google Shape;429;p40"/>
          <p:cNvSpPr/>
          <p:nvPr/>
        </p:nvSpPr>
        <p:spPr>
          <a:xfrm>
            <a:off x="6077924"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40"/>
          <p:cNvSpPr txBox="1"/>
          <p:nvPr/>
        </p:nvSpPr>
        <p:spPr>
          <a:xfrm>
            <a:off x="6077924"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431" name="Google Shape;431;p40"/>
          <p:cNvSpPr txBox="1"/>
          <p:nvPr/>
        </p:nvSpPr>
        <p:spPr>
          <a:xfrm>
            <a:off x="6443684"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Timeline maju ke tahap berikut beserta catatan TTS</a:t>
            </a:r>
            <a:endParaRPr b="0" i="0" sz="1100" u="none" cap="none" strike="noStrike">
              <a:solidFill>
                <a:schemeClr val="dk1"/>
              </a:solidFill>
              <a:latin typeface="Calibri"/>
              <a:ea typeface="Calibri"/>
              <a:cs typeface="Calibri"/>
              <a:sym typeface="Calibri"/>
            </a:endParaRPr>
          </a:p>
        </p:txBody>
      </p:sp>
      <p:sp>
        <p:nvSpPr>
          <p:cNvPr id="432" name="Google Shape;432;p40"/>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1"/>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Update data customer</a:t>
            </a:r>
            <a:endParaRPr sz="2800"/>
          </a:p>
        </p:txBody>
      </p:sp>
      <p:sp>
        <p:nvSpPr>
          <p:cNvPr id="439" name="Google Shape;439;p41"/>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41"/>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3</a:t>
            </a:r>
            <a:endParaRPr b="0" i="0" sz="1000" u="none" cap="none" strike="noStrike">
              <a:solidFill>
                <a:schemeClr val="dk1"/>
              </a:solidFill>
              <a:latin typeface="Calibri"/>
              <a:ea typeface="Calibri"/>
              <a:cs typeface="Calibri"/>
              <a:sym typeface="Calibri"/>
            </a:endParaRPr>
          </a:p>
        </p:txBody>
      </p:sp>
      <p:sp>
        <p:nvSpPr>
          <p:cNvPr id="441" name="Google Shape;441;p41"/>
          <p:cNvSpPr/>
          <p:nvPr/>
        </p:nvSpPr>
        <p:spPr>
          <a:xfrm>
            <a:off x="840613"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30_menu.png" id="442" name="Google Shape;442;p41"/>
          <p:cNvPicPr preferRelativeResize="0"/>
          <p:nvPr/>
        </p:nvPicPr>
        <p:blipFill rotWithShape="1">
          <a:blip r:embed="rId3">
            <a:alphaModFix/>
          </a:blip>
          <a:srcRect b="0" l="0" r="0" t="0"/>
          <a:stretch/>
        </p:blipFill>
        <p:spPr>
          <a:xfrm>
            <a:off x="895477" y="987552"/>
            <a:ext cx="2115735" cy="3063240"/>
          </a:xfrm>
          <a:prstGeom prst="rect">
            <a:avLst/>
          </a:prstGeom>
          <a:noFill/>
          <a:ln>
            <a:noFill/>
          </a:ln>
        </p:spPr>
      </p:pic>
      <p:sp>
        <p:nvSpPr>
          <p:cNvPr id="443" name="Google Shape;443;p41"/>
          <p:cNvSpPr/>
          <p:nvPr/>
        </p:nvSpPr>
        <p:spPr>
          <a:xfrm>
            <a:off x="840613"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41"/>
          <p:cNvSpPr txBox="1"/>
          <p:nvPr/>
        </p:nvSpPr>
        <p:spPr>
          <a:xfrm>
            <a:off x="840613"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445" name="Google Shape;445;p41"/>
          <p:cNvSpPr txBox="1"/>
          <p:nvPr/>
        </p:nvSpPr>
        <p:spPr>
          <a:xfrm>
            <a:off x="1206373"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Detail RO → ⋮ → Edit Data Pembeli</a:t>
            </a:r>
            <a:endParaRPr b="0" i="0" sz="1100" u="none" cap="none" strike="noStrike">
              <a:solidFill>
                <a:schemeClr val="dk1"/>
              </a:solidFill>
              <a:latin typeface="Calibri"/>
              <a:ea typeface="Calibri"/>
              <a:cs typeface="Calibri"/>
              <a:sym typeface="Calibri"/>
            </a:endParaRPr>
          </a:p>
        </p:txBody>
      </p:sp>
      <p:sp>
        <p:nvSpPr>
          <p:cNvPr id="446" name="Google Shape;446;p41"/>
          <p:cNvSpPr/>
          <p:nvPr/>
        </p:nvSpPr>
        <p:spPr>
          <a:xfrm>
            <a:off x="3459268"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31_edit_form.png" id="447" name="Google Shape;447;p41"/>
          <p:cNvPicPr preferRelativeResize="0"/>
          <p:nvPr/>
        </p:nvPicPr>
        <p:blipFill rotWithShape="1">
          <a:blip r:embed="rId4">
            <a:alphaModFix/>
          </a:blip>
          <a:srcRect b="0" l="0" r="0" t="0"/>
          <a:stretch/>
        </p:blipFill>
        <p:spPr>
          <a:xfrm>
            <a:off x="3514132" y="987552"/>
            <a:ext cx="2115735" cy="3063240"/>
          </a:xfrm>
          <a:prstGeom prst="rect">
            <a:avLst/>
          </a:prstGeom>
          <a:noFill/>
          <a:ln>
            <a:noFill/>
          </a:ln>
        </p:spPr>
      </p:pic>
      <p:sp>
        <p:nvSpPr>
          <p:cNvPr id="448" name="Google Shape;448;p41"/>
          <p:cNvSpPr/>
          <p:nvPr/>
        </p:nvSpPr>
        <p:spPr>
          <a:xfrm>
            <a:off x="3459268"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1"/>
          <p:cNvSpPr txBox="1"/>
          <p:nvPr/>
        </p:nvSpPr>
        <p:spPr>
          <a:xfrm>
            <a:off x="3459268"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450" name="Google Shape;450;p41"/>
          <p:cNvSpPr txBox="1"/>
          <p:nvPr/>
        </p:nvSpPr>
        <p:spPr>
          <a:xfrm>
            <a:off x="3825028"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Form per bagian: Pembeli, Pasangan, Anak, Alamat, Kantor</a:t>
            </a:r>
            <a:endParaRPr b="0" i="0" sz="1100" u="none" cap="none" strike="noStrike">
              <a:solidFill>
                <a:schemeClr val="dk1"/>
              </a:solidFill>
              <a:latin typeface="Calibri"/>
              <a:ea typeface="Calibri"/>
              <a:cs typeface="Calibri"/>
              <a:sym typeface="Calibri"/>
            </a:endParaRPr>
          </a:p>
        </p:txBody>
      </p:sp>
      <p:sp>
        <p:nvSpPr>
          <p:cNvPr id="451" name="Google Shape;451;p41"/>
          <p:cNvSpPr/>
          <p:nvPr/>
        </p:nvSpPr>
        <p:spPr>
          <a:xfrm>
            <a:off x="6077924"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32_edit_isi.png" id="452" name="Google Shape;452;p41"/>
          <p:cNvPicPr preferRelativeResize="0"/>
          <p:nvPr/>
        </p:nvPicPr>
        <p:blipFill rotWithShape="1">
          <a:blip r:embed="rId5">
            <a:alphaModFix/>
          </a:blip>
          <a:srcRect b="0" l="0" r="0" t="0"/>
          <a:stretch/>
        </p:blipFill>
        <p:spPr>
          <a:xfrm>
            <a:off x="6132788" y="987552"/>
            <a:ext cx="2115735" cy="3063240"/>
          </a:xfrm>
          <a:prstGeom prst="rect">
            <a:avLst/>
          </a:prstGeom>
          <a:noFill/>
          <a:ln>
            <a:noFill/>
          </a:ln>
        </p:spPr>
      </p:pic>
      <p:sp>
        <p:nvSpPr>
          <p:cNvPr id="453" name="Google Shape;453;p41"/>
          <p:cNvSpPr/>
          <p:nvPr/>
        </p:nvSpPr>
        <p:spPr>
          <a:xfrm>
            <a:off x="6077924"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41"/>
          <p:cNvSpPr txBox="1"/>
          <p:nvPr/>
        </p:nvSpPr>
        <p:spPr>
          <a:xfrm>
            <a:off x="6077924"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455" name="Google Shape;455;p41"/>
          <p:cNvSpPr txBox="1"/>
          <p:nvPr/>
        </p:nvSpPr>
        <p:spPr>
          <a:xfrm>
            <a:off x="6443684"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Ubah field yang perlu → Save di kanan atas</a:t>
            </a:r>
            <a:endParaRPr b="0" i="0" sz="1100" u="none" cap="none" strike="noStrike">
              <a:solidFill>
                <a:schemeClr val="dk1"/>
              </a:solidFill>
              <a:latin typeface="Calibri"/>
              <a:ea typeface="Calibri"/>
              <a:cs typeface="Calibri"/>
              <a:sym typeface="Calibri"/>
            </a:endParaRPr>
          </a:p>
        </p:txBody>
      </p:sp>
      <p:sp>
        <p:nvSpPr>
          <p:cNvPr id="456" name="Google Shape;456;p41"/>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2"/>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Cara cepat: dari tab Customer</a:t>
            </a:r>
            <a:endParaRPr sz="2800"/>
          </a:p>
        </p:txBody>
      </p:sp>
      <p:sp>
        <p:nvSpPr>
          <p:cNvPr id="463" name="Google Shape;463;p42"/>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2"/>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3</a:t>
            </a:r>
            <a:endParaRPr b="0" i="0" sz="1000" u="none" cap="none" strike="noStrike">
              <a:solidFill>
                <a:schemeClr val="dk1"/>
              </a:solidFill>
              <a:latin typeface="Calibri"/>
              <a:ea typeface="Calibri"/>
              <a:cs typeface="Calibri"/>
              <a:sym typeface="Calibri"/>
            </a:endParaRPr>
          </a:p>
        </p:txBody>
      </p:sp>
      <p:sp>
        <p:nvSpPr>
          <p:cNvPr id="465" name="Google Shape;465;p42"/>
          <p:cNvSpPr/>
          <p:nvPr/>
        </p:nvSpPr>
        <p:spPr>
          <a:xfrm>
            <a:off x="493776" y="950976"/>
            <a:ext cx="2604401" cy="3721608"/>
          </a:xfrm>
          <a:prstGeom prst="roundRect">
            <a:avLst>
              <a:gd fmla="val 4213"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33_tab_customer.png" id="466" name="Google Shape;466;p42"/>
          <p:cNvPicPr preferRelativeResize="0"/>
          <p:nvPr/>
        </p:nvPicPr>
        <p:blipFill rotWithShape="1">
          <a:blip r:embed="rId3">
            <a:alphaModFix/>
          </a:blip>
          <a:srcRect b="0" l="0" r="0" t="0"/>
          <a:stretch/>
        </p:blipFill>
        <p:spPr>
          <a:xfrm>
            <a:off x="548640" y="1005840"/>
            <a:ext cx="2494673" cy="3611880"/>
          </a:xfrm>
          <a:prstGeom prst="rect">
            <a:avLst/>
          </a:prstGeom>
          <a:noFill/>
          <a:ln>
            <a:noFill/>
          </a:ln>
        </p:spPr>
      </p:pic>
      <p:sp>
        <p:nvSpPr>
          <p:cNvPr id="467" name="Google Shape;467;p42"/>
          <p:cNvSpPr/>
          <p:nvPr/>
        </p:nvSpPr>
        <p:spPr>
          <a:xfrm>
            <a:off x="3354209" y="950976"/>
            <a:ext cx="2604401" cy="3721608"/>
          </a:xfrm>
          <a:prstGeom prst="roundRect">
            <a:avLst>
              <a:gd fmla="val 4213"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34_tap_row.png" id="468" name="Google Shape;468;p42"/>
          <p:cNvPicPr preferRelativeResize="0"/>
          <p:nvPr/>
        </p:nvPicPr>
        <p:blipFill rotWithShape="1">
          <a:blip r:embed="rId4">
            <a:alphaModFix/>
          </a:blip>
          <a:srcRect b="0" l="0" r="0" t="0"/>
          <a:stretch/>
        </p:blipFill>
        <p:spPr>
          <a:xfrm>
            <a:off x="3409073" y="1005840"/>
            <a:ext cx="2494673" cy="3611880"/>
          </a:xfrm>
          <a:prstGeom prst="rect">
            <a:avLst/>
          </a:prstGeom>
          <a:noFill/>
          <a:ln>
            <a:noFill/>
          </a:ln>
        </p:spPr>
      </p:pic>
      <p:sp>
        <p:nvSpPr>
          <p:cNvPr id="469" name="Google Shape;469;p42"/>
          <p:cNvSpPr/>
          <p:nvPr/>
        </p:nvSpPr>
        <p:spPr>
          <a:xfrm>
            <a:off x="6406666" y="106984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2"/>
          <p:cNvSpPr txBox="1"/>
          <p:nvPr/>
        </p:nvSpPr>
        <p:spPr>
          <a:xfrm>
            <a:off x="6406666"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471" name="Google Shape;471;p42"/>
          <p:cNvSpPr txBox="1"/>
          <p:nvPr/>
        </p:nvSpPr>
        <p:spPr>
          <a:xfrm>
            <a:off x="6818146" y="1051560"/>
            <a:ext cx="1868654" cy="932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Buka tab Customer</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Semua data pembeli tampil per baris</a:t>
            </a:r>
            <a:endParaRPr b="0" i="0" sz="1200" u="none" cap="none" strike="noStrike">
              <a:solidFill>
                <a:schemeClr val="dk1"/>
              </a:solidFill>
              <a:latin typeface="Calibri"/>
              <a:ea typeface="Calibri"/>
              <a:cs typeface="Calibri"/>
              <a:sym typeface="Calibri"/>
            </a:endParaRPr>
          </a:p>
        </p:txBody>
      </p:sp>
      <p:sp>
        <p:nvSpPr>
          <p:cNvPr id="472" name="Google Shape;472;p42"/>
          <p:cNvSpPr/>
          <p:nvPr/>
        </p:nvSpPr>
        <p:spPr>
          <a:xfrm>
            <a:off x="6406666" y="207568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2"/>
          <p:cNvSpPr txBox="1"/>
          <p:nvPr/>
        </p:nvSpPr>
        <p:spPr>
          <a:xfrm>
            <a:off x="6406666" y="207568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474" name="Google Shape;474;p42"/>
          <p:cNvSpPr txBox="1"/>
          <p:nvPr/>
        </p:nvSpPr>
        <p:spPr>
          <a:xfrm>
            <a:off x="6818146" y="2057400"/>
            <a:ext cx="1868654" cy="932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Tap baris bertanda ›</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Langsung membuka form edit di field tersebut</a:t>
            </a:r>
            <a:endParaRPr b="0" i="0" sz="1200" u="none" cap="none" strike="noStrike">
              <a:solidFill>
                <a:schemeClr val="dk1"/>
              </a:solidFill>
              <a:latin typeface="Calibri"/>
              <a:ea typeface="Calibri"/>
              <a:cs typeface="Calibri"/>
              <a:sym typeface="Calibri"/>
            </a:endParaRPr>
          </a:p>
        </p:txBody>
      </p:sp>
      <p:sp>
        <p:nvSpPr>
          <p:cNvPr id="475" name="Google Shape;475;p42"/>
          <p:cNvSpPr/>
          <p:nvPr/>
        </p:nvSpPr>
        <p:spPr>
          <a:xfrm>
            <a:off x="6406666" y="3081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2"/>
          <p:cNvSpPr txBox="1"/>
          <p:nvPr/>
        </p:nvSpPr>
        <p:spPr>
          <a:xfrm>
            <a:off x="6406666" y="3081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477" name="Google Shape;477;p42"/>
          <p:cNvSpPr txBox="1"/>
          <p:nvPr/>
        </p:nvSpPr>
        <p:spPr>
          <a:xfrm>
            <a:off x="6818146" y="3063240"/>
            <a:ext cx="1868654" cy="932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Save</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Messages otomatis mencatat "Data customer diperbarui."</a:t>
            </a:r>
            <a:endParaRPr b="0" i="0" sz="1200" u="none" cap="none" strike="noStrike">
              <a:solidFill>
                <a:schemeClr val="dk1"/>
              </a:solidFill>
              <a:latin typeface="Calibri"/>
              <a:ea typeface="Calibri"/>
              <a:cs typeface="Calibri"/>
              <a:sym typeface="Calibri"/>
            </a:endParaRPr>
          </a:p>
        </p:txBody>
      </p:sp>
      <p:sp>
        <p:nvSpPr>
          <p:cNvPr id="478" name="Google Shape;478;p42"/>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3"/>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Upload dokumen — tab Attachment</a:t>
            </a:r>
            <a:endParaRPr sz="2800"/>
          </a:p>
        </p:txBody>
      </p:sp>
      <p:sp>
        <p:nvSpPr>
          <p:cNvPr id="485" name="Google Shape;485;p43"/>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3"/>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4</a:t>
            </a:r>
            <a:endParaRPr b="0" i="0" sz="1000" u="none" cap="none" strike="noStrike">
              <a:solidFill>
                <a:schemeClr val="dk1"/>
              </a:solidFill>
              <a:latin typeface="Calibri"/>
              <a:ea typeface="Calibri"/>
              <a:cs typeface="Calibri"/>
              <a:sym typeface="Calibri"/>
            </a:endParaRPr>
          </a:p>
        </p:txBody>
      </p:sp>
      <p:sp>
        <p:nvSpPr>
          <p:cNvPr id="487" name="Google Shape;487;p43"/>
          <p:cNvSpPr/>
          <p:nvPr/>
        </p:nvSpPr>
        <p:spPr>
          <a:xfrm>
            <a:off x="840613"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40_att_tab.png" id="488" name="Google Shape;488;p43"/>
          <p:cNvPicPr preferRelativeResize="0"/>
          <p:nvPr/>
        </p:nvPicPr>
        <p:blipFill rotWithShape="1">
          <a:blip r:embed="rId3">
            <a:alphaModFix/>
          </a:blip>
          <a:srcRect b="0" l="0" r="0" t="0"/>
          <a:stretch/>
        </p:blipFill>
        <p:spPr>
          <a:xfrm>
            <a:off x="895477" y="987552"/>
            <a:ext cx="2115735" cy="3063240"/>
          </a:xfrm>
          <a:prstGeom prst="rect">
            <a:avLst/>
          </a:prstGeom>
          <a:noFill/>
          <a:ln>
            <a:noFill/>
          </a:ln>
        </p:spPr>
      </p:pic>
      <p:sp>
        <p:nvSpPr>
          <p:cNvPr id="489" name="Google Shape;489;p43"/>
          <p:cNvSpPr/>
          <p:nvPr/>
        </p:nvSpPr>
        <p:spPr>
          <a:xfrm>
            <a:off x="840613"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3"/>
          <p:cNvSpPr txBox="1"/>
          <p:nvPr/>
        </p:nvSpPr>
        <p:spPr>
          <a:xfrm>
            <a:off x="840613"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491" name="Google Shape;491;p43"/>
          <p:cNvSpPr txBox="1"/>
          <p:nvPr/>
        </p:nvSpPr>
        <p:spPr>
          <a:xfrm>
            <a:off x="1206373"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Tab Attachment → Add New File, atau tap kotak dokumen</a:t>
            </a:r>
            <a:endParaRPr b="0" i="0" sz="1100" u="none" cap="none" strike="noStrike">
              <a:solidFill>
                <a:schemeClr val="dk1"/>
              </a:solidFill>
              <a:latin typeface="Calibri"/>
              <a:ea typeface="Calibri"/>
              <a:cs typeface="Calibri"/>
              <a:sym typeface="Calibri"/>
            </a:endParaRPr>
          </a:p>
        </p:txBody>
      </p:sp>
      <p:sp>
        <p:nvSpPr>
          <p:cNvPr id="492" name="Google Shape;492;p43"/>
          <p:cNvSpPr/>
          <p:nvPr/>
        </p:nvSpPr>
        <p:spPr>
          <a:xfrm>
            <a:off x="3459268"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41_att_form.png" id="493" name="Google Shape;493;p43"/>
          <p:cNvPicPr preferRelativeResize="0"/>
          <p:nvPr/>
        </p:nvPicPr>
        <p:blipFill rotWithShape="1">
          <a:blip r:embed="rId4">
            <a:alphaModFix/>
          </a:blip>
          <a:srcRect b="0" l="0" r="0" t="0"/>
          <a:stretch/>
        </p:blipFill>
        <p:spPr>
          <a:xfrm>
            <a:off x="3514132" y="987552"/>
            <a:ext cx="2115735" cy="3063240"/>
          </a:xfrm>
          <a:prstGeom prst="rect">
            <a:avLst/>
          </a:prstGeom>
          <a:noFill/>
          <a:ln>
            <a:noFill/>
          </a:ln>
        </p:spPr>
      </p:pic>
      <p:sp>
        <p:nvSpPr>
          <p:cNvPr id="494" name="Google Shape;494;p43"/>
          <p:cNvSpPr/>
          <p:nvPr/>
        </p:nvSpPr>
        <p:spPr>
          <a:xfrm>
            <a:off x="3459268"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3"/>
          <p:cNvSpPr txBox="1"/>
          <p:nvPr/>
        </p:nvSpPr>
        <p:spPr>
          <a:xfrm>
            <a:off x="3459268"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496" name="Google Shape;496;p43"/>
          <p:cNvSpPr txBox="1"/>
          <p:nvPr/>
        </p:nvSpPr>
        <p:spPr>
          <a:xfrm>
            <a:off x="3825028"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Tap Upload Files untuk memilih file</a:t>
            </a:r>
            <a:endParaRPr b="0" i="0" sz="1100" u="none" cap="none" strike="noStrike">
              <a:solidFill>
                <a:schemeClr val="dk1"/>
              </a:solidFill>
              <a:latin typeface="Calibri"/>
              <a:ea typeface="Calibri"/>
              <a:cs typeface="Calibri"/>
              <a:sym typeface="Calibri"/>
            </a:endParaRPr>
          </a:p>
        </p:txBody>
      </p:sp>
      <p:sp>
        <p:nvSpPr>
          <p:cNvPr id="497" name="Google Shape;497;p43"/>
          <p:cNvSpPr/>
          <p:nvPr/>
        </p:nvSpPr>
        <p:spPr>
          <a:xfrm>
            <a:off x="6077924"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42_att_type.png" id="498" name="Google Shape;498;p43"/>
          <p:cNvPicPr preferRelativeResize="0"/>
          <p:nvPr/>
        </p:nvPicPr>
        <p:blipFill rotWithShape="1">
          <a:blip r:embed="rId5">
            <a:alphaModFix/>
          </a:blip>
          <a:srcRect b="0" l="0" r="0" t="0"/>
          <a:stretch/>
        </p:blipFill>
        <p:spPr>
          <a:xfrm>
            <a:off x="6132788" y="987552"/>
            <a:ext cx="2115735" cy="3063240"/>
          </a:xfrm>
          <a:prstGeom prst="rect">
            <a:avLst/>
          </a:prstGeom>
          <a:noFill/>
          <a:ln>
            <a:noFill/>
          </a:ln>
        </p:spPr>
      </p:pic>
      <p:sp>
        <p:nvSpPr>
          <p:cNvPr id="499" name="Google Shape;499;p43"/>
          <p:cNvSpPr/>
          <p:nvPr/>
        </p:nvSpPr>
        <p:spPr>
          <a:xfrm>
            <a:off x="6077924"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3"/>
          <p:cNvSpPr txBox="1"/>
          <p:nvPr/>
        </p:nvSpPr>
        <p:spPr>
          <a:xfrm>
            <a:off x="6077924"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501" name="Google Shape;501;p43"/>
          <p:cNvSpPr txBox="1"/>
          <p:nvPr/>
        </p:nvSpPr>
        <p:spPr>
          <a:xfrm>
            <a:off x="6443684"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Pilih Attachment Type yang sesuai</a:t>
            </a:r>
            <a:endParaRPr b="0" i="0" sz="1100" u="none" cap="none" strike="noStrike">
              <a:solidFill>
                <a:schemeClr val="dk1"/>
              </a:solidFill>
              <a:latin typeface="Calibri"/>
              <a:ea typeface="Calibri"/>
              <a:cs typeface="Calibri"/>
              <a:sym typeface="Calibri"/>
            </a:endParaRPr>
          </a:p>
        </p:txBody>
      </p:sp>
      <p:sp>
        <p:nvSpPr>
          <p:cNvPr id="502" name="Google Shape;502;p43"/>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4"/>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Upload dokumen — simpan &amp; cek</a:t>
            </a:r>
            <a:endParaRPr sz="2800"/>
          </a:p>
        </p:txBody>
      </p:sp>
      <p:sp>
        <p:nvSpPr>
          <p:cNvPr id="509" name="Google Shape;509;p44"/>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4"/>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4</a:t>
            </a:r>
            <a:endParaRPr b="0" i="0" sz="1000" u="none" cap="none" strike="noStrike">
              <a:solidFill>
                <a:schemeClr val="dk1"/>
              </a:solidFill>
              <a:latin typeface="Calibri"/>
              <a:ea typeface="Calibri"/>
              <a:cs typeface="Calibri"/>
              <a:sym typeface="Calibri"/>
            </a:endParaRPr>
          </a:p>
        </p:txBody>
      </p:sp>
      <p:sp>
        <p:nvSpPr>
          <p:cNvPr id="511" name="Google Shape;511;p44"/>
          <p:cNvSpPr/>
          <p:nvPr/>
        </p:nvSpPr>
        <p:spPr>
          <a:xfrm>
            <a:off x="493776" y="950976"/>
            <a:ext cx="2604401" cy="3721608"/>
          </a:xfrm>
          <a:prstGeom prst="roundRect">
            <a:avLst>
              <a:gd fmla="val 4213"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43_att_isi.png" id="512" name="Google Shape;512;p44"/>
          <p:cNvPicPr preferRelativeResize="0"/>
          <p:nvPr/>
        </p:nvPicPr>
        <p:blipFill rotWithShape="1">
          <a:blip r:embed="rId3">
            <a:alphaModFix/>
          </a:blip>
          <a:srcRect b="0" l="0" r="0" t="0"/>
          <a:stretch/>
        </p:blipFill>
        <p:spPr>
          <a:xfrm>
            <a:off x="548640" y="1005840"/>
            <a:ext cx="2494673" cy="3611880"/>
          </a:xfrm>
          <a:prstGeom prst="rect">
            <a:avLst/>
          </a:prstGeom>
          <a:noFill/>
          <a:ln>
            <a:noFill/>
          </a:ln>
        </p:spPr>
      </p:pic>
      <p:sp>
        <p:nvSpPr>
          <p:cNvPr id="513" name="Google Shape;513;p44"/>
          <p:cNvSpPr/>
          <p:nvPr/>
        </p:nvSpPr>
        <p:spPr>
          <a:xfrm>
            <a:off x="3354209" y="950976"/>
            <a:ext cx="2604401" cy="3721608"/>
          </a:xfrm>
          <a:prstGeom prst="roundRect">
            <a:avLst>
              <a:gd fmla="val 4213"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44_att_hasil.png" id="514" name="Google Shape;514;p44"/>
          <p:cNvPicPr preferRelativeResize="0"/>
          <p:nvPr/>
        </p:nvPicPr>
        <p:blipFill rotWithShape="1">
          <a:blip r:embed="rId4">
            <a:alphaModFix/>
          </a:blip>
          <a:srcRect b="0" l="0" r="0" t="0"/>
          <a:stretch/>
        </p:blipFill>
        <p:spPr>
          <a:xfrm>
            <a:off x="3409073" y="1005840"/>
            <a:ext cx="2494673" cy="3611880"/>
          </a:xfrm>
          <a:prstGeom prst="rect">
            <a:avLst/>
          </a:prstGeom>
          <a:noFill/>
          <a:ln>
            <a:noFill/>
          </a:ln>
        </p:spPr>
      </p:pic>
      <p:sp>
        <p:nvSpPr>
          <p:cNvPr id="515" name="Google Shape;515;p44"/>
          <p:cNvSpPr/>
          <p:nvPr/>
        </p:nvSpPr>
        <p:spPr>
          <a:xfrm>
            <a:off x="6406666" y="106984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4"/>
          <p:cNvSpPr txBox="1"/>
          <p:nvPr/>
        </p:nvSpPr>
        <p:spPr>
          <a:xfrm>
            <a:off x="6406666"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517" name="Google Shape;517;p44"/>
          <p:cNvSpPr txBox="1"/>
          <p:nvPr/>
        </p:nvSpPr>
        <p:spPr>
          <a:xfrm>
            <a:off x="6818146" y="1051560"/>
            <a:ext cx="1868654" cy="932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Isi Description</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Jelaskan isi dokumen secara singkat</a:t>
            </a:r>
            <a:endParaRPr b="0" i="0" sz="1200" u="none" cap="none" strike="noStrike">
              <a:solidFill>
                <a:schemeClr val="dk1"/>
              </a:solidFill>
              <a:latin typeface="Calibri"/>
              <a:ea typeface="Calibri"/>
              <a:cs typeface="Calibri"/>
              <a:sym typeface="Calibri"/>
            </a:endParaRPr>
          </a:p>
        </p:txBody>
      </p:sp>
      <p:sp>
        <p:nvSpPr>
          <p:cNvPr id="518" name="Google Shape;518;p44"/>
          <p:cNvSpPr/>
          <p:nvPr/>
        </p:nvSpPr>
        <p:spPr>
          <a:xfrm>
            <a:off x="6406666" y="207568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4"/>
          <p:cNvSpPr txBox="1"/>
          <p:nvPr/>
        </p:nvSpPr>
        <p:spPr>
          <a:xfrm>
            <a:off x="6406666" y="207568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520" name="Google Shape;520;p44"/>
          <p:cNvSpPr txBox="1"/>
          <p:nvPr/>
        </p:nvSpPr>
        <p:spPr>
          <a:xfrm>
            <a:off x="6818146" y="2057400"/>
            <a:ext cx="1868654" cy="932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Tap Save</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File masuk ke kelompok jenisnya beserta tanggal upload</a:t>
            </a:r>
            <a:endParaRPr b="0" i="0" sz="1200" u="none" cap="none" strike="noStrike">
              <a:solidFill>
                <a:schemeClr val="dk1"/>
              </a:solidFill>
              <a:latin typeface="Calibri"/>
              <a:ea typeface="Calibri"/>
              <a:cs typeface="Calibri"/>
              <a:sym typeface="Calibri"/>
            </a:endParaRPr>
          </a:p>
        </p:txBody>
      </p:sp>
      <p:sp>
        <p:nvSpPr>
          <p:cNvPr id="521" name="Google Shape;521;p44"/>
          <p:cNvSpPr/>
          <p:nvPr/>
        </p:nvSpPr>
        <p:spPr>
          <a:xfrm>
            <a:off x="6406666" y="3081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4"/>
          <p:cNvSpPr txBox="1"/>
          <p:nvPr/>
        </p:nvSpPr>
        <p:spPr>
          <a:xfrm>
            <a:off x="6406666" y="3081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523" name="Google Shape;523;p44"/>
          <p:cNvSpPr txBox="1"/>
          <p:nvPr/>
        </p:nvSpPr>
        <p:spPr>
          <a:xfrm>
            <a:off x="6818146" y="3063240"/>
            <a:ext cx="1868654" cy="932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200"/>
              <a:buFont typeface="Calibri"/>
              <a:buNone/>
            </a:pPr>
            <a:r>
              <a:rPr b="1" i="0" lang="en" sz="1200" u="none" cap="none" strike="noStrike">
                <a:solidFill>
                  <a:srgbClr val="1B2A41"/>
                </a:solidFill>
                <a:latin typeface="Calibri"/>
                <a:ea typeface="Calibri"/>
                <a:cs typeface="Calibri"/>
                <a:sym typeface="Calibri"/>
              </a:rPr>
              <a:t>Pantau status</a:t>
            </a:r>
            <a:endParaRPr b="0" i="0" sz="1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4"/>
              </a:buClr>
              <a:buSzPts val="1200"/>
              <a:buFont typeface="Calibri"/>
              <a:buNone/>
            </a:pPr>
            <a:r>
              <a:rPr b="0" i="0" lang="en" sz="1200" u="none" cap="none" strike="noStrike">
                <a:solidFill>
                  <a:srgbClr val="5B6B84"/>
                </a:solidFill>
                <a:latin typeface="Calibri"/>
                <a:ea typeface="Calibri"/>
                <a:cs typeface="Calibri"/>
                <a:sym typeface="Calibri"/>
              </a:rPr>
              <a:t>Dokumen tertentu (mis. KTP) berstatus "Menunggu verifikasi"</a:t>
            </a:r>
            <a:endParaRPr b="0" i="0" sz="1200" u="none" cap="none" strike="noStrike">
              <a:solidFill>
                <a:schemeClr val="dk1"/>
              </a:solidFill>
              <a:latin typeface="Calibri"/>
              <a:ea typeface="Calibri"/>
              <a:cs typeface="Calibri"/>
              <a:sym typeface="Calibri"/>
            </a:endParaRPr>
          </a:p>
        </p:txBody>
      </p:sp>
      <p:sp>
        <p:nvSpPr>
          <p:cNvPr id="524" name="Google Shape;524;p44"/>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5"/>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Message — catatan RO</a:t>
            </a:r>
            <a:endParaRPr sz="2800"/>
          </a:p>
        </p:txBody>
      </p:sp>
      <p:sp>
        <p:nvSpPr>
          <p:cNvPr id="531" name="Google Shape;531;p45"/>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5"/>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5</a:t>
            </a:r>
            <a:endParaRPr b="0" i="0" sz="1000" u="none" cap="none" strike="noStrike">
              <a:solidFill>
                <a:schemeClr val="dk1"/>
              </a:solidFill>
              <a:latin typeface="Calibri"/>
              <a:ea typeface="Calibri"/>
              <a:cs typeface="Calibri"/>
              <a:sym typeface="Calibri"/>
            </a:endParaRPr>
          </a:p>
        </p:txBody>
      </p:sp>
      <p:sp>
        <p:nvSpPr>
          <p:cNvPr id="533" name="Google Shape;533;p45"/>
          <p:cNvSpPr/>
          <p:nvPr/>
        </p:nvSpPr>
        <p:spPr>
          <a:xfrm>
            <a:off x="840613"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50_msg_tab.png" id="534" name="Google Shape;534;p45"/>
          <p:cNvPicPr preferRelativeResize="0"/>
          <p:nvPr/>
        </p:nvPicPr>
        <p:blipFill rotWithShape="1">
          <a:blip r:embed="rId3">
            <a:alphaModFix/>
          </a:blip>
          <a:srcRect b="0" l="0" r="0" t="0"/>
          <a:stretch/>
        </p:blipFill>
        <p:spPr>
          <a:xfrm>
            <a:off x="895477" y="987552"/>
            <a:ext cx="2115735" cy="3063240"/>
          </a:xfrm>
          <a:prstGeom prst="rect">
            <a:avLst/>
          </a:prstGeom>
          <a:noFill/>
          <a:ln>
            <a:noFill/>
          </a:ln>
        </p:spPr>
      </p:pic>
      <p:sp>
        <p:nvSpPr>
          <p:cNvPr id="535" name="Google Shape;535;p45"/>
          <p:cNvSpPr/>
          <p:nvPr/>
        </p:nvSpPr>
        <p:spPr>
          <a:xfrm>
            <a:off x="840613"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5"/>
          <p:cNvSpPr txBox="1"/>
          <p:nvPr/>
        </p:nvSpPr>
        <p:spPr>
          <a:xfrm>
            <a:off x="840613"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537" name="Google Shape;537;p45"/>
          <p:cNvSpPr txBox="1"/>
          <p:nvPr/>
        </p:nvSpPr>
        <p:spPr>
          <a:xfrm>
            <a:off x="1206373"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Tab Messages: log otomatis RO dibuat, catatan, update data</a:t>
            </a:r>
            <a:endParaRPr b="0" i="0" sz="1100" u="none" cap="none" strike="noStrike">
              <a:solidFill>
                <a:schemeClr val="dk1"/>
              </a:solidFill>
              <a:latin typeface="Calibri"/>
              <a:ea typeface="Calibri"/>
              <a:cs typeface="Calibri"/>
              <a:sym typeface="Calibri"/>
            </a:endParaRPr>
          </a:p>
        </p:txBody>
      </p:sp>
      <p:sp>
        <p:nvSpPr>
          <p:cNvPr id="538" name="Google Shape;538;p45"/>
          <p:cNvSpPr/>
          <p:nvPr/>
        </p:nvSpPr>
        <p:spPr>
          <a:xfrm>
            <a:off x="3459268"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51_msg_ketik.png" id="539" name="Google Shape;539;p45"/>
          <p:cNvPicPr preferRelativeResize="0"/>
          <p:nvPr/>
        </p:nvPicPr>
        <p:blipFill rotWithShape="1">
          <a:blip r:embed="rId4">
            <a:alphaModFix/>
          </a:blip>
          <a:srcRect b="0" l="0" r="0" t="0"/>
          <a:stretch/>
        </p:blipFill>
        <p:spPr>
          <a:xfrm>
            <a:off x="3514132" y="987552"/>
            <a:ext cx="2115735" cy="3063240"/>
          </a:xfrm>
          <a:prstGeom prst="rect">
            <a:avLst/>
          </a:prstGeom>
          <a:noFill/>
          <a:ln>
            <a:noFill/>
          </a:ln>
        </p:spPr>
      </p:pic>
      <p:sp>
        <p:nvSpPr>
          <p:cNvPr id="540" name="Google Shape;540;p45"/>
          <p:cNvSpPr/>
          <p:nvPr/>
        </p:nvSpPr>
        <p:spPr>
          <a:xfrm>
            <a:off x="3459268"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5"/>
          <p:cNvSpPr txBox="1"/>
          <p:nvPr/>
        </p:nvSpPr>
        <p:spPr>
          <a:xfrm>
            <a:off x="3459268"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542" name="Google Shape;542;p45"/>
          <p:cNvSpPr txBox="1"/>
          <p:nvPr/>
        </p:nvSpPr>
        <p:spPr>
          <a:xfrm>
            <a:off x="3825028"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Ketik di "Tulis catatan…"; ikon klip untuk lampiran</a:t>
            </a:r>
            <a:endParaRPr b="0" i="0" sz="1100" u="none" cap="none" strike="noStrike">
              <a:solidFill>
                <a:schemeClr val="dk1"/>
              </a:solidFill>
              <a:latin typeface="Calibri"/>
              <a:ea typeface="Calibri"/>
              <a:cs typeface="Calibri"/>
              <a:sym typeface="Calibri"/>
            </a:endParaRPr>
          </a:p>
        </p:txBody>
      </p:sp>
      <p:sp>
        <p:nvSpPr>
          <p:cNvPr id="543" name="Google Shape;543;p45"/>
          <p:cNvSpPr/>
          <p:nvPr/>
        </p:nvSpPr>
        <p:spPr>
          <a:xfrm>
            <a:off x="6077924"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52_msg_terkirim.png" id="544" name="Google Shape;544;p45"/>
          <p:cNvPicPr preferRelativeResize="0"/>
          <p:nvPr/>
        </p:nvPicPr>
        <p:blipFill rotWithShape="1">
          <a:blip r:embed="rId5">
            <a:alphaModFix/>
          </a:blip>
          <a:srcRect b="0" l="0" r="0" t="0"/>
          <a:stretch/>
        </p:blipFill>
        <p:spPr>
          <a:xfrm>
            <a:off x="6132788" y="987552"/>
            <a:ext cx="2115735" cy="3063240"/>
          </a:xfrm>
          <a:prstGeom prst="rect">
            <a:avLst/>
          </a:prstGeom>
          <a:noFill/>
          <a:ln>
            <a:noFill/>
          </a:ln>
        </p:spPr>
      </p:pic>
      <p:sp>
        <p:nvSpPr>
          <p:cNvPr id="545" name="Google Shape;545;p45"/>
          <p:cNvSpPr/>
          <p:nvPr/>
        </p:nvSpPr>
        <p:spPr>
          <a:xfrm>
            <a:off x="6077924"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5"/>
          <p:cNvSpPr txBox="1"/>
          <p:nvPr/>
        </p:nvSpPr>
        <p:spPr>
          <a:xfrm>
            <a:off x="6077924"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547" name="Google Shape;547;p45"/>
          <p:cNvSpPr txBox="1"/>
          <p:nvPr/>
        </p:nvSpPr>
        <p:spPr>
          <a:xfrm>
            <a:off x="6443684"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Tap kirim — catatan tampil dengan tanggal &amp; jam</a:t>
            </a:r>
            <a:endParaRPr b="0" i="0" sz="1100" u="none" cap="none" strike="noStrike">
              <a:solidFill>
                <a:schemeClr val="dk1"/>
              </a:solidFill>
              <a:latin typeface="Calibri"/>
              <a:ea typeface="Calibri"/>
              <a:cs typeface="Calibri"/>
              <a:sym typeface="Calibri"/>
            </a:endParaRPr>
          </a:p>
        </p:txBody>
      </p:sp>
      <p:sp>
        <p:nvSpPr>
          <p:cNvPr id="548" name="Google Shape;548;p45"/>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6"/>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Buat RO dari Detail Contact</a:t>
            </a:r>
            <a:endParaRPr sz="2800"/>
          </a:p>
        </p:txBody>
      </p:sp>
      <p:sp>
        <p:nvSpPr>
          <p:cNvPr id="555" name="Google Shape;555;p46"/>
          <p:cNvSpPr/>
          <p:nvPr/>
        </p:nvSpPr>
        <p:spPr>
          <a:xfrm>
            <a:off x="7269480" y="347472"/>
            <a:ext cx="1417320" cy="329184"/>
          </a:xfrm>
          <a:prstGeom prst="roundRect">
            <a:avLst>
              <a:gd fmla="val 500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6"/>
          <p:cNvSpPr txBox="1"/>
          <p:nvPr/>
        </p:nvSpPr>
        <p:spPr>
          <a:xfrm>
            <a:off x="7269480" y="347472"/>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7CE0"/>
              </a:buClr>
              <a:buSzPts val="1000"/>
              <a:buFont typeface="Calibri"/>
              <a:buNone/>
            </a:pPr>
            <a:r>
              <a:rPr b="1" i="0" lang="en" sz="1000" u="none" cap="none" strike="noStrike">
                <a:solidFill>
                  <a:srgbClr val="2F7CE0"/>
                </a:solidFill>
                <a:latin typeface="Calibri"/>
                <a:ea typeface="Calibri"/>
                <a:cs typeface="Calibri"/>
                <a:sym typeface="Calibri"/>
              </a:rPr>
              <a:t>Modul 6</a:t>
            </a:r>
            <a:endParaRPr b="0" i="0" sz="1000" u="none" cap="none" strike="noStrike">
              <a:solidFill>
                <a:schemeClr val="dk1"/>
              </a:solidFill>
              <a:latin typeface="Calibri"/>
              <a:ea typeface="Calibri"/>
              <a:cs typeface="Calibri"/>
              <a:sym typeface="Calibri"/>
            </a:endParaRPr>
          </a:p>
        </p:txBody>
      </p:sp>
      <p:sp>
        <p:nvSpPr>
          <p:cNvPr id="557" name="Google Shape;557;p46"/>
          <p:cNvSpPr/>
          <p:nvPr/>
        </p:nvSpPr>
        <p:spPr>
          <a:xfrm>
            <a:off x="840613"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60_contact.png" id="558" name="Google Shape;558;p46"/>
          <p:cNvPicPr preferRelativeResize="0"/>
          <p:nvPr/>
        </p:nvPicPr>
        <p:blipFill rotWithShape="1">
          <a:blip r:embed="rId3">
            <a:alphaModFix/>
          </a:blip>
          <a:srcRect b="0" l="0" r="0" t="0"/>
          <a:stretch/>
        </p:blipFill>
        <p:spPr>
          <a:xfrm>
            <a:off x="895477" y="987552"/>
            <a:ext cx="2115735" cy="3063240"/>
          </a:xfrm>
          <a:prstGeom prst="rect">
            <a:avLst/>
          </a:prstGeom>
          <a:noFill/>
          <a:ln>
            <a:noFill/>
          </a:ln>
        </p:spPr>
      </p:pic>
      <p:sp>
        <p:nvSpPr>
          <p:cNvPr id="559" name="Google Shape;559;p46"/>
          <p:cNvSpPr/>
          <p:nvPr/>
        </p:nvSpPr>
        <p:spPr>
          <a:xfrm>
            <a:off x="840613"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6"/>
          <p:cNvSpPr txBox="1"/>
          <p:nvPr/>
        </p:nvSpPr>
        <p:spPr>
          <a:xfrm>
            <a:off x="840613"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561" name="Google Shape;561;p46"/>
          <p:cNvSpPr txBox="1"/>
          <p:nvPr/>
        </p:nvSpPr>
        <p:spPr>
          <a:xfrm>
            <a:off x="1206373"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Buka contact → tap tombol + biru</a:t>
            </a:r>
            <a:endParaRPr b="0" i="0" sz="1100" u="none" cap="none" strike="noStrike">
              <a:solidFill>
                <a:schemeClr val="dk1"/>
              </a:solidFill>
              <a:latin typeface="Calibri"/>
              <a:ea typeface="Calibri"/>
              <a:cs typeface="Calibri"/>
              <a:sym typeface="Calibri"/>
            </a:endParaRPr>
          </a:p>
        </p:txBody>
      </p:sp>
      <p:sp>
        <p:nvSpPr>
          <p:cNvPr id="562" name="Google Shape;562;p46"/>
          <p:cNvSpPr/>
          <p:nvPr/>
        </p:nvSpPr>
        <p:spPr>
          <a:xfrm>
            <a:off x="3459268"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61_log_activity.png" id="563" name="Google Shape;563;p46"/>
          <p:cNvPicPr preferRelativeResize="0"/>
          <p:nvPr/>
        </p:nvPicPr>
        <p:blipFill rotWithShape="1">
          <a:blip r:embed="rId4">
            <a:alphaModFix/>
          </a:blip>
          <a:srcRect b="0" l="0" r="0" t="0"/>
          <a:stretch/>
        </p:blipFill>
        <p:spPr>
          <a:xfrm>
            <a:off x="3514132" y="987552"/>
            <a:ext cx="2115735" cy="3063240"/>
          </a:xfrm>
          <a:prstGeom prst="rect">
            <a:avLst/>
          </a:prstGeom>
          <a:noFill/>
          <a:ln>
            <a:noFill/>
          </a:ln>
        </p:spPr>
      </p:pic>
      <p:sp>
        <p:nvSpPr>
          <p:cNvPr id="564" name="Google Shape;564;p46"/>
          <p:cNvSpPr/>
          <p:nvPr/>
        </p:nvSpPr>
        <p:spPr>
          <a:xfrm>
            <a:off x="3459268"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46"/>
          <p:cNvSpPr txBox="1"/>
          <p:nvPr/>
        </p:nvSpPr>
        <p:spPr>
          <a:xfrm>
            <a:off x="3459268"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566" name="Google Shape;566;p46"/>
          <p:cNvSpPr txBox="1"/>
          <p:nvPr/>
        </p:nvSpPr>
        <p:spPr>
          <a:xfrm>
            <a:off x="3825028"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Di Log Activity pilih Reserve Order</a:t>
            </a:r>
            <a:endParaRPr b="0" i="0" sz="1100" u="none" cap="none" strike="noStrike">
              <a:solidFill>
                <a:schemeClr val="dk1"/>
              </a:solidFill>
              <a:latin typeface="Calibri"/>
              <a:ea typeface="Calibri"/>
              <a:cs typeface="Calibri"/>
              <a:sym typeface="Calibri"/>
            </a:endParaRPr>
          </a:p>
        </p:txBody>
      </p:sp>
      <p:sp>
        <p:nvSpPr>
          <p:cNvPr id="567" name="Google Shape;567;p46"/>
          <p:cNvSpPr/>
          <p:nvPr/>
        </p:nvSpPr>
        <p:spPr>
          <a:xfrm>
            <a:off x="6077924" y="932688"/>
            <a:ext cx="2225463" cy="3172968"/>
          </a:xfrm>
          <a:prstGeom prst="roundRect">
            <a:avLst>
              <a:gd fmla="val 4931" name="adj"/>
            </a:avLst>
          </a:prstGeom>
          <a:solidFill>
            <a:srgbClr val="1B2A41"/>
          </a:solidFill>
          <a:ln cap="flat" cmpd="sng" w="12700">
            <a:solidFill>
              <a:srgbClr val="1B2A41"/>
            </a:solidFill>
            <a:prstDash val="solid"/>
            <a:round/>
            <a:headEnd len="sm" w="sm" type="none"/>
            <a:tailEnd len="sm" w="sm" type="none"/>
          </a:ln>
          <a:effectLst>
            <a:outerShdw blurRad="762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62_form_dari_contact.png" id="568" name="Google Shape;568;p46"/>
          <p:cNvPicPr preferRelativeResize="0"/>
          <p:nvPr/>
        </p:nvPicPr>
        <p:blipFill rotWithShape="1">
          <a:blip r:embed="rId5">
            <a:alphaModFix/>
          </a:blip>
          <a:srcRect b="0" l="0" r="0" t="0"/>
          <a:stretch/>
        </p:blipFill>
        <p:spPr>
          <a:xfrm>
            <a:off x="6132788" y="987552"/>
            <a:ext cx="2115735" cy="3063240"/>
          </a:xfrm>
          <a:prstGeom prst="rect">
            <a:avLst/>
          </a:prstGeom>
          <a:noFill/>
          <a:ln>
            <a:noFill/>
          </a:ln>
        </p:spPr>
      </p:pic>
      <p:sp>
        <p:nvSpPr>
          <p:cNvPr id="569" name="Google Shape;569;p46"/>
          <p:cNvSpPr/>
          <p:nvPr/>
        </p:nvSpPr>
        <p:spPr>
          <a:xfrm>
            <a:off x="6077924" y="4224528"/>
            <a:ext cx="292608" cy="29260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6"/>
          <p:cNvSpPr txBox="1"/>
          <p:nvPr/>
        </p:nvSpPr>
        <p:spPr>
          <a:xfrm>
            <a:off x="6077924" y="4224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571" name="Google Shape;571;p46"/>
          <p:cNvSpPr txBox="1"/>
          <p:nvPr/>
        </p:nvSpPr>
        <p:spPr>
          <a:xfrm>
            <a:off x="6443684" y="4169664"/>
            <a:ext cx="1887135"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1"/>
              </a:buClr>
              <a:buSzPts val="1100"/>
              <a:buFont typeface="Calibri"/>
              <a:buNone/>
            </a:pPr>
            <a:r>
              <a:rPr b="0" i="0" lang="en" sz="1100" u="none" cap="none" strike="noStrike">
                <a:solidFill>
                  <a:srgbClr val="1B2A41"/>
                </a:solidFill>
                <a:latin typeface="Calibri"/>
                <a:ea typeface="Calibri"/>
                <a:cs typeface="Calibri"/>
                <a:sym typeface="Calibri"/>
              </a:rPr>
              <a:t>Form RO terbuka dengan data contact → lanjut 4 langkah</a:t>
            </a:r>
            <a:endParaRPr b="0" i="0" sz="1100" u="none" cap="none" strike="noStrike">
              <a:solidFill>
                <a:schemeClr val="dk1"/>
              </a:solidFill>
              <a:latin typeface="Calibri"/>
              <a:ea typeface="Calibri"/>
              <a:cs typeface="Calibri"/>
              <a:sym typeface="Calibri"/>
            </a:endParaRPr>
          </a:p>
        </p:txBody>
      </p:sp>
      <p:sp>
        <p:nvSpPr>
          <p:cNvPr id="572" name="Google Shape;572;p46"/>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47"/>
          <p:cNvSpPr txBox="1"/>
          <p:nvPr>
            <p:ph type="title"/>
          </p:nvPr>
        </p:nvSpPr>
        <p:spPr>
          <a:xfrm>
            <a:off x="457200" y="256032"/>
            <a:ext cx="676656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2800"/>
              <a:buFont typeface="Calibri"/>
              <a:buNone/>
            </a:pPr>
            <a:r>
              <a:rPr b="1" lang="en" sz="2800">
                <a:solidFill>
                  <a:schemeClr val="dk1"/>
                </a:solidFill>
              </a:rPr>
              <a:t>Checklist &amp; perhatian</a:t>
            </a:r>
            <a:endParaRPr sz="2800"/>
          </a:p>
        </p:txBody>
      </p:sp>
      <p:sp>
        <p:nvSpPr>
          <p:cNvPr id="579" name="Google Shape;579;p47"/>
          <p:cNvSpPr/>
          <p:nvPr/>
        </p:nvSpPr>
        <p:spPr>
          <a:xfrm>
            <a:off x="457200" y="1051560"/>
            <a:ext cx="4023360" cy="3429000"/>
          </a:xfrm>
          <a:prstGeom prst="roundRect">
            <a:avLst>
              <a:gd fmla="val 32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7"/>
          <p:cNvSpPr/>
          <p:nvPr/>
        </p:nvSpPr>
        <p:spPr>
          <a:xfrm>
            <a:off x="731520" y="1280160"/>
            <a:ext cx="384048" cy="384048"/>
          </a:xfrm>
          <a:prstGeom prst="ellipse">
            <a:avLst/>
          </a:prstGeom>
          <a:solidFill>
            <a:srgbClr val="2F7CE0"/>
          </a:solidFill>
          <a:ln cap="flat" cmpd="sng" w="12700">
            <a:solidFill>
              <a:srgbClr val="2F7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7"/>
          <p:cNvSpPr txBox="1"/>
          <p:nvPr/>
        </p:nvSpPr>
        <p:spPr>
          <a:xfrm>
            <a:off x="731520" y="12801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582" name="Google Shape;582;p47"/>
          <p:cNvSpPr txBox="1"/>
          <p:nvPr/>
        </p:nvSpPr>
        <p:spPr>
          <a:xfrm>
            <a:off x="1280160" y="1280160"/>
            <a:ext cx="3017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1"/>
              </a:buClr>
              <a:buSzPts val="1800"/>
              <a:buFont typeface="Calibri"/>
              <a:buNone/>
            </a:pPr>
            <a:r>
              <a:rPr b="1" i="0" lang="en" sz="1800" u="none" cap="none" strike="noStrike">
                <a:solidFill>
                  <a:srgbClr val="1B2A41"/>
                </a:solidFill>
                <a:latin typeface="Calibri"/>
                <a:ea typeface="Calibri"/>
                <a:cs typeface="Calibri"/>
                <a:sym typeface="Calibri"/>
              </a:rPr>
              <a:t>Sebelum Submit</a:t>
            </a:r>
            <a:endParaRPr b="0" i="0" sz="1800" u="none" cap="none" strike="noStrike">
              <a:solidFill>
                <a:schemeClr val="dk1"/>
              </a:solidFill>
              <a:latin typeface="Calibri"/>
              <a:ea typeface="Calibri"/>
              <a:cs typeface="Calibri"/>
              <a:sym typeface="Calibri"/>
            </a:endParaRPr>
          </a:p>
        </p:txBody>
      </p:sp>
      <p:sp>
        <p:nvSpPr>
          <p:cNvPr id="583" name="Google Shape;583;p47"/>
          <p:cNvSpPr txBox="1"/>
          <p:nvPr/>
        </p:nvSpPr>
        <p:spPr>
          <a:xfrm>
            <a:off x="731520" y="1874520"/>
            <a:ext cx="3520440" cy="24688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1"/>
              </a:buClr>
              <a:buSzPts val="1600"/>
              <a:buFont typeface="Calibri"/>
              <a:buChar char="•"/>
            </a:pPr>
            <a:r>
              <a:rPr b="0" i="0" lang="en" sz="1600" u="none" cap="none" strike="noStrike">
                <a:solidFill>
                  <a:srgbClr val="1B2A41"/>
                </a:solidFill>
                <a:latin typeface="Calibri"/>
                <a:ea typeface="Calibri"/>
                <a:cs typeface="Calibri"/>
                <a:sym typeface="Calibri"/>
              </a:rPr>
              <a:t>No. KTP &amp; nama sesuai KTP</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A41"/>
              </a:buClr>
              <a:buSzPts val="1600"/>
              <a:buFont typeface="Calibri"/>
              <a:buChar char="•"/>
            </a:pPr>
            <a:r>
              <a:rPr b="0" i="0" lang="en" sz="1600" u="none" cap="none" strike="noStrike">
                <a:solidFill>
                  <a:srgbClr val="1B2A41"/>
                </a:solidFill>
                <a:latin typeface="Calibri"/>
                <a:ea typeface="Calibri"/>
                <a:cs typeface="Calibri"/>
                <a:sym typeface="Calibri"/>
              </a:rPr>
              <a:t>Unit &amp; project benar</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A41"/>
              </a:buClr>
              <a:buSzPts val="1600"/>
              <a:buFont typeface="Calibri"/>
              <a:buChar char="•"/>
            </a:pPr>
            <a:r>
              <a:rPr b="0" i="0" lang="en" sz="1600" u="none" cap="none" strike="noStrike">
                <a:solidFill>
                  <a:srgbClr val="1B2A41"/>
                </a:solidFill>
                <a:latin typeface="Calibri"/>
                <a:ea typeface="Calibri"/>
                <a:cs typeface="Calibri"/>
                <a:sym typeface="Calibri"/>
              </a:rPr>
              <a:t>Jenis pembayaran &amp; tanggal reserve</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A41"/>
              </a:buClr>
              <a:buSzPts val="1600"/>
              <a:buFont typeface="Calibri"/>
              <a:buChar char="•"/>
            </a:pPr>
            <a:r>
              <a:rPr b="0" i="0" lang="en" sz="1600" u="none" cap="none" strike="noStrike">
                <a:solidFill>
                  <a:srgbClr val="1B2A41"/>
                </a:solidFill>
                <a:latin typeface="Calibri"/>
                <a:ea typeface="Calibri"/>
                <a:cs typeface="Calibri"/>
                <a:sym typeface="Calibri"/>
              </a:rPr>
              <a:t>Bukti transfer untuk Non Tunai</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A41"/>
              </a:buClr>
              <a:buSzPts val="1600"/>
              <a:buFont typeface="Calibri"/>
              <a:buChar char="•"/>
            </a:pPr>
            <a:r>
              <a:rPr b="0" i="0" lang="en" sz="1600" u="none" cap="none" strike="noStrike">
                <a:solidFill>
                  <a:srgbClr val="1B2A41"/>
                </a:solidFill>
                <a:latin typeface="Calibri"/>
                <a:ea typeface="Calibri"/>
                <a:cs typeface="Calibri"/>
                <a:sym typeface="Calibri"/>
              </a:rPr>
              <a:t>Nominal &amp; total di Review</a:t>
            </a:r>
            <a:endParaRPr b="0" i="0" sz="1600" u="none" cap="none" strike="noStrike">
              <a:solidFill>
                <a:schemeClr val="dk1"/>
              </a:solidFill>
              <a:latin typeface="Calibri"/>
              <a:ea typeface="Calibri"/>
              <a:cs typeface="Calibri"/>
              <a:sym typeface="Calibri"/>
            </a:endParaRPr>
          </a:p>
        </p:txBody>
      </p:sp>
      <p:sp>
        <p:nvSpPr>
          <p:cNvPr id="584" name="Google Shape;584;p47"/>
          <p:cNvSpPr/>
          <p:nvPr/>
        </p:nvSpPr>
        <p:spPr>
          <a:xfrm>
            <a:off x="4663440" y="1051560"/>
            <a:ext cx="4023360" cy="3429000"/>
          </a:xfrm>
          <a:prstGeom prst="roundRect">
            <a:avLst>
              <a:gd fmla="val 3200" name="adj"/>
            </a:avLst>
          </a:prstGeom>
          <a:solidFill>
            <a:srgbClr val="EEF3FA"/>
          </a:solidFill>
          <a:ln cap="flat" cmpd="sng" w="12700">
            <a:solidFill>
              <a:srgbClr val="EEF3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7"/>
          <p:cNvSpPr/>
          <p:nvPr/>
        </p:nvSpPr>
        <p:spPr>
          <a:xfrm>
            <a:off x="4937760" y="1280160"/>
            <a:ext cx="384048" cy="384048"/>
          </a:xfrm>
          <a:prstGeom prst="ellipse">
            <a:avLst/>
          </a:prstGeom>
          <a:solidFill>
            <a:srgbClr val="F39A2B"/>
          </a:solidFill>
          <a:ln cap="flat" cmpd="sng" w="12700">
            <a:solidFill>
              <a:srgbClr val="F39A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7"/>
          <p:cNvSpPr txBox="1"/>
          <p:nvPr/>
        </p:nvSpPr>
        <p:spPr>
          <a:xfrm>
            <a:off x="4937760" y="12801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587" name="Google Shape;587;p47"/>
          <p:cNvSpPr txBox="1"/>
          <p:nvPr/>
        </p:nvSpPr>
        <p:spPr>
          <a:xfrm>
            <a:off x="5486400" y="1280160"/>
            <a:ext cx="3017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1"/>
              </a:buClr>
              <a:buSzPts val="1800"/>
              <a:buFont typeface="Calibri"/>
              <a:buNone/>
            </a:pPr>
            <a:r>
              <a:rPr b="1" i="0" lang="en" sz="1800" u="none" cap="none" strike="noStrike">
                <a:solidFill>
                  <a:srgbClr val="1B2A41"/>
                </a:solidFill>
                <a:latin typeface="Calibri"/>
                <a:ea typeface="Calibri"/>
                <a:cs typeface="Calibri"/>
                <a:sym typeface="Calibri"/>
              </a:rPr>
              <a:t>Perlu diperhatikan</a:t>
            </a:r>
            <a:endParaRPr b="0" i="0" sz="1800" u="none" cap="none" strike="noStrike">
              <a:solidFill>
                <a:schemeClr val="dk1"/>
              </a:solidFill>
              <a:latin typeface="Calibri"/>
              <a:ea typeface="Calibri"/>
              <a:cs typeface="Calibri"/>
              <a:sym typeface="Calibri"/>
            </a:endParaRPr>
          </a:p>
        </p:txBody>
      </p:sp>
      <p:sp>
        <p:nvSpPr>
          <p:cNvPr id="588" name="Google Shape;588;p47"/>
          <p:cNvSpPr txBox="1"/>
          <p:nvPr/>
        </p:nvSpPr>
        <p:spPr>
          <a:xfrm>
            <a:off x="4937760" y="1874520"/>
            <a:ext cx="3520440" cy="24688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1"/>
              </a:buClr>
              <a:buSzPts val="1600"/>
              <a:buFont typeface="Calibri"/>
              <a:buChar char="•"/>
            </a:pPr>
            <a:r>
              <a:rPr b="0" i="0" lang="en" sz="1600" u="none" cap="none" strike="noStrike">
                <a:solidFill>
                  <a:srgbClr val="1B2A41"/>
                </a:solidFill>
                <a:latin typeface="Calibri"/>
                <a:ea typeface="Calibri"/>
                <a:cs typeface="Calibri"/>
                <a:sym typeface="Calibri"/>
              </a:rPr>
              <a:t>Tanggal lahir sempat tersimpan mundur 1 hari (temuan di dev) — cek ulang</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A41"/>
              </a:buClr>
              <a:buSzPts val="1600"/>
              <a:buFont typeface="Calibri"/>
              <a:buChar char="•"/>
            </a:pPr>
            <a:r>
              <a:rPr b="0" i="0" lang="en" sz="1600" u="none" cap="none" strike="noStrike">
                <a:solidFill>
                  <a:srgbClr val="1B2A41"/>
                </a:solidFill>
                <a:latin typeface="Calibri"/>
                <a:ea typeface="Calibri"/>
                <a:cs typeface="Calibri"/>
                <a:sym typeface="Calibri"/>
              </a:rPr>
              <a:t>Isi Otomatis tetap perlu dicek</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A41"/>
              </a:buClr>
              <a:buSzPts val="1600"/>
              <a:buFont typeface="Calibri"/>
              <a:buChar char="•"/>
            </a:pPr>
            <a:r>
              <a:rPr b="0" i="0" lang="en" sz="1600" u="none" cap="none" strike="noStrike">
                <a:solidFill>
                  <a:srgbClr val="1B2A41"/>
                </a:solidFill>
                <a:latin typeface="Calibri"/>
                <a:ea typeface="Calibri"/>
                <a:cs typeface="Calibri"/>
                <a:sym typeface="Calibri"/>
              </a:rPr>
              <a:t>Delete RO hanya untuk RO batal</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A41"/>
              </a:buClr>
              <a:buSzPts val="1600"/>
              <a:buFont typeface="Calibri"/>
              <a:buChar char="•"/>
            </a:pPr>
            <a:r>
              <a:rPr b="0" i="0" lang="en" sz="1600" u="none" cap="none" strike="noStrike">
                <a:solidFill>
                  <a:srgbClr val="1B2A41"/>
                </a:solidFill>
                <a:latin typeface="Calibri"/>
                <a:ea typeface="Calibri"/>
                <a:cs typeface="Calibri"/>
                <a:sym typeface="Calibri"/>
              </a:rPr>
              <a:t>Gunakan Messages untuk follow up</a:t>
            </a:r>
            <a:endParaRPr b="0" i="0" sz="1600" u="none" cap="none" strike="noStrike">
              <a:solidFill>
                <a:schemeClr val="dk1"/>
              </a:solidFill>
              <a:latin typeface="Calibri"/>
              <a:ea typeface="Calibri"/>
              <a:cs typeface="Calibri"/>
              <a:sym typeface="Calibri"/>
            </a:endParaRPr>
          </a:p>
        </p:txBody>
      </p:sp>
      <p:sp>
        <p:nvSpPr>
          <p:cNvPr id="589" name="Google Shape;589;p47"/>
          <p:cNvSpPr txBox="1"/>
          <p:nvPr>
            <p:ph idx="4294967295" type="sldNum"/>
          </p:nvPr>
        </p:nvSpPr>
        <p:spPr>
          <a:xfrm>
            <a:off x="8321040" y="4846320"/>
            <a:ext cx="36576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7A8BA6"/>
                </a:solidFill>
                <a:latin typeface="Calibri"/>
                <a:ea typeface="Calibri"/>
                <a:cs typeface="Calibri"/>
                <a:sym typeface="Calibri"/>
              </a:rPr>
              <a:t>‹#›</a:t>
            </a:fld>
            <a:endParaRPr b="0" i="0" sz="900" u="none" cap="none" strike="noStrike">
              <a:solidFill>
                <a:srgbClr val="7A8BA6"/>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48"/>
          <p:cNvSpPr/>
          <p:nvPr/>
        </p:nvSpPr>
        <p:spPr>
          <a:xfrm>
            <a:off x="548640" y="548640"/>
            <a:ext cx="685800" cy="68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6" name="Google Shape;596;p48"/>
          <p:cNvPicPr preferRelativeResize="0"/>
          <p:nvPr/>
        </p:nvPicPr>
        <p:blipFill rotWithShape="1">
          <a:blip r:embed="rId3">
            <a:alphaModFix/>
          </a:blip>
          <a:srcRect b="0" l="0" r="0" t="0"/>
          <a:stretch/>
        </p:blipFill>
        <p:spPr>
          <a:xfrm>
            <a:off x="713232" y="713232"/>
            <a:ext cx="356616" cy="356616"/>
          </a:xfrm>
          <a:prstGeom prst="rect">
            <a:avLst/>
          </a:prstGeom>
          <a:noFill/>
          <a:ln>
            <a:noFill/>
          </a:ln>
        </p:spPr>
      </p:pic>
      <p:sp>
        <p:nvSpPr>
          <p:cNvPr id="597" name="Google Shape;597;p48"/>
          <p:cNvSpPr txBox="1"/>
          <p:nvPr>
            <p:ph type="title"/>
          </p:nvPr>
        </p:nvSpPr>
        <p:spPr>
          <a:xfrm>
            <a:off x="548640" y="1417320"/>
            <a:ext cx="8046720" cy="128016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4000"/>
              <a:buFont typeface="Arial"/>
              <a:buNone/>
            </a:pPr>
            <a:r>
              <a:rPr b="1" lang="en" sz="4000">
                <a:solidFill>
                  <a:schemeClr val="lt1"/>
                </a:solidFill>
              </a:rPr>
              <a:t>Training Kit Reserve Order</a:t>
            </a:r>
            <a:endParaRPr sz="4000"/>
          </a:p>
        </p:txBody>
      </p:sp>
      <p:sp>
        <p:nvSpPr>
          <p:cNvPr id="598" name="Google Shape;598;p48"/>
          <p:cNvSpPr txBox="1"/>
          <p:nvPr>
            <p:ph idx="1" type="body"/>
          </p:nvPr>
        </p:nvSpPr>
        <p:spPr>
          <a:xfrm>
            <a:off x="548640" y="2834640"/>
            <a:ext cx="8046720" cy="8229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C7C9F5"/>
              </a:buClr>
              <a:buSzPts val="1800"/>
              <a:buNone/>
            </a:pPr>
            <a:r>
              <a:rPr lang="en" sz="1800">
                <a:solidFill>
                  <a:srgbClr val="C7C9F5"/>
                </a:solidFill>
              </a:rPr>
              <a:t>Modul Kasir · Verifikasi pembayaran, setor tunai &amp; pembuatan Reserve Order</a:t>
            </a:r>
            <a:endParaRPr sz="1800"/>
          </a:p>
          <a:p>
            <a:pPr indent="0" lvl="0" marL="0" rtl="0" algn="l">
              <a:spcBef>
                <a:spcPts val="360"/>
              </a:spcBef>
              <a:spcAft>
                <a:spcPts val="0"/>
              </a:spcAft>
              <a:buClr>
                <a:srgbClr val="C7C9F5"/>
              </a:buClr>
              <a:buSzPts val="1800"/>
              <a:buNone/>
            </a:pPr>
            <a:r>
              <a:rPr lang="en" sz="1800">
                <a:solidFill>
                  <a:srgbClr val="C7C9F5"/>
                </a:solidFill>
              </a:rPr>
              <a:t>Sales Pipeline › Reserve Order</a:t>
            </a:r>
            <a:endParaRPr sz="1800"/>
          </a:p>
        </p:txBody>
      </p:sp>
      <p:sp>
        <p:nvSpPr>
          <p:cNvPr id="599" name="Google Shape;599;p48"/>
          <p:cNvSpPr txBox="1"/>
          <p:nvPr/>
        </p:nvSpPr>
        <p:spPr>
          <a:xfrm>
            <a:off x="548640" y="44805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A8E8"/>
              </a:buClr>
              <a:buSzPts val="1200"/>
              <a:buFont typeface="Calibri"/>
              <a:buNone/>
            </a:pPr>
            <a:r>
              <a:rPr b="0" i="0" lang="en" sz="1200" u="none" cap="none" strike="noStrike">
                <a:solidFill>
                  <a:srgbClr val="A5A8E8"/>
                </a:solidFill>
                <a:latin typeface="Calibri"/>
                <a:ea typeface="Calibri"/>
                <a:cs typeface="Calibri"/>
                <a:sym typeface="Calibri"/>
              </a:rPr>
              <a:t>Progress Group · Oktober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9"/>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Tujuan &amp; agenda training</a:t>
            </a:r>
            <a:endParaRPr sz="2800"/>
          </a:p>
        </p:txBody>
      </p:sp>
      <p:sp>
        <p:nvSpPr>
          <p:cNvPr id="606" name="Google Shape;606;p49"/>
          <p:cNvSpPr/>
          <p:nvPr/>
        </p:nvSpPr>
        <p:spPr>
          <a:xfrm>
            <a:off x="457200" y="1143000"/>
            <a:ext cx="2606040" cy="1508760"/>
          </a:xfrm>
          <a:prstGeom prst="roundRect">
            <a:avLst>
              <a:gd fmla="val 606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9"/>
          <p:cNvSpPr/>
          <p:nvPr/>
        </p:nvSpPr>
        <p:spPr>
          <a:xfrm>
            <a:off x="640080" y="132588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08" name="Google Shape;608;p49"/>
          <p:cNvPicPr preferRelativeResize="0"/>
          <p:nvPr/>
        </p:nvPicPr>
        <p:blipFill rotWithShape="1">
          <a:blip r:embed="rId3">
            <a:alphaModFix/>
          </a:blip>
          <a:srcRect b="0" l="0" r="0" t="0"/>
          <a:stretch/>
        </p:blipFill>
        <p:spPr>
          <a:xfrm>
            <a:off x="760781" y="1446581"/>
            <a:ext cx="261518" cy="261518"/>
          </a:xfrm>
          <a:prstGeom prst="rect">
            <a:avLst/>
          </a:prstGeom>
          <a:noFill/>
          <a:ln>
            <a:noFill/>
          </a:ln>
        </p:spPr>
      </p:pic>
      <p:sp>
        <p:nvSpPr>
          <p:cNvPr id="609" name="Google Shape;609;p49"/>
          <p:cNvSpPr txBox="1"/>
          <p:nvPr/>
        </p:nvSpPr>
        <p:spPr>
          <a:xfrm>
            <a:off x="2331720" y="1325880"/>
            <a:ext cx="54864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A8E8"/>
              </a:buClr>
              <a:buSzPts val="1800"/>
              <a:buFont typeface="Calibri"/>
              <a:buNone/>
            </a:pPr>
            <a:r>
              <a:rPr b="1" i="0" lang="en" sz="1800" u="none" cap="none" strike="noStrike">
                <a:solidFill>
                  <a:srgbClr val="A5A8E8"/>
                </a:solidFill>
                <a:latin typeface="Calibri"/>
                <a:ea typeface="Calibri"/>
                <a:cs typeface="Calibri"/>
                <a:sym typeface="Calibri"/>
              </a:rPr>
              <a:t>01</a:t>
            </a:r>
            <a:endParaRPr b="0" i="0" sz="1800" u="none" cap="none" strike="noStrike">
              <a:solidFill>
                <a:schemeClr val="dk1"/>
              </a:solidFill>
              <a:latin typeface="Calibri"/>
              <a:ea typeface="Calibri"/>
              <a:cs typeface="Calibri"/>
              <a:sym typeface="Calibri"/>
            </a:endParaRPr>
          </a:p>
        </p:txBody>
      </p:sp>
      <p:sp>
        <p:nvSpPr>
          <p:cNvPr id="610" name="Google Shape;610;p49"/>
          <p:cNvSpPr txBox="1"/>
          <p:nvPr/>
        </p:nvSpPr>
        <p:spPr>
          <a:xfrm>
            <a:off x="640080" y="1920240"/>
            <a:ext cx="2286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Alur &amp; istilah</a:t>
            </a:r>
            <a:endParaRPr b="0" i="0" sz="1500" u="none" cap="none" strike="noStrike">
              <a:solidFill>
                <a:schemeClr val="dk1"/>
              </a:solidFill>
              <a:latin typeface="Calibri"/>
              <a:ea typeface="Calibri"/>
              <a:cs typeface="Calibri"/>
              <a:sym typeface="Calibri"/>
            </a:endParaRPr>
          </a:p>
        </p:txBody>
      </p:sp>
      <p:sp>
        <p:nvSpPr>
          <p:cNvPr id="611" name="Google Shape;611;p49"/>
          <p:cNvSpPr txBox="1"/>
          <p:nvPr/>
        </p:nvSpPr>
        <p:spPr>
          <a:xfrm>
            <a:off x="640080" y="2212848"/>
            <a:ext cx="22860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Posisi Kasir di pipeline, RO, TTS, RB, SP</a:t>
            </a:r>
            <a:endParaRPr b="0" i="0" sz="1200" u="none" cap="none" strike="noStrike">
              <a:solidFill>
                <a:schemeClr val="dk1"/>
              </a:solidFill>
              <a:latin typeface="Calibri"/>
              <a:ea typeface="Calibri"/>
              <a:cs typeface="Calibri"/>
              <a:sym typeface="Calibri"/>
            </a:endParaRPr>
          </a:p>
        </p:txBody>
      </p:sp>
      <p:sp>
        <p:nvSpPr>
          <p:cNvPr id="612" name="Google Shape;612;p49"/>
          <p:cNvSpPr/>
          <p:nvPr/>
        </p:nvSpPr>
        <p:spPr>
          <a:xfrm>
            <a:off x="3246120" y="1143000"/>
            <a:ext cx="2606040" cy="1508760"/>
          </a:xfrm>
          <a:prstGeom prst="roundRect">
            <a:avLst>
              <a:gd fmla="val 606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9"/>
          <p:cNvSpPr/>
          <p:nvPr/>
        </p:nvSpPr>
        <p:spPr>
          <a:xfrm>
            <a:off x="3429000" y="132588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4" name="Google Shape;614;p49"/>
          <p:cNvPicPr preferRelativeResize="0"/>
          <p:nvPr/>
        </p:nvPicPr>
        <p:blipFill rotWithShape="1">
          <a:blip r:embed="rId4">
            <a:alphaModFix/>
          </a:blip>
          <a:srcRect b="0" l="0" r="0" t="0"/>
          <a:stretch/>
        </p:blipFill>
        <p:spPr>
          <a:xfrm>
            <a:off x="3549701" y="1446581"/>
            <a:ext cx="261518" cy="261518"/>
          </a:xfrm>
          <a:prstGeom prst="rect">
            <a:avLst/>
          </a:prstGeom>
          <a:noFill/>
          <a:ln>
            <a:noFill/>
          </a:ln>
        </p:spPr>
      </p:pic>
      <p:sp>
        <p:nvSpPr>
          <p:cNvPr id="615" name="Google Shape;615;p49"/>
          <p:cNvSpPr txBox="1"/>
          <p:nvPr/>
        </p:nvSpPr>
        <p:spPr>
          <a:xfrm>
            <a:off x="5120640" y="1325880"/>
            <a:ext cx="54864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A8E8"/>
              </a:buClr>
              <a:buSzPts val="1800"/>
              <a:buFont typeface="Calibri"/>
              <a:buNone/>
            </a:pPr>
            <a:r>
              <a:rPr b="1" i="0" lang="en" sz="1800" u="none" cap="none" strike="noStrike">
                <a:solidFill>
                  <a:srgbClr val="A5A8E8"/>
                </a:solidFill>
                <a:latin typeface="Calibri"/>
                <a:ea typeface="Calibri"/>
                <a:cs typeface="Calibri"/>
                <a:sym typeface="Calibri"/>
              </a:rPr>
              <a:t>02</a:t>
            </a:r>
            <a:endParaRPr b="0" i="0" sz="1800" u="none" cap="none" strike="noStrike">
              <a:solidFill>
                <a:schemeClr val="dk1"/>
              </a:solidFill>
              <a:latin typeface="Calibri"/>
              <a:ea typeface="Calibri"/>
              <a:cs typeface="Calibri"/>
              <a:sym typeface="Calibri"/>
            </a:endParaRPr>
          </a:p>
        </p:txBody>
      </p:sp>
      <p:sp>
        <p:nvSpPr>
          <p:cNvPr id="616" name="Google Shape;616;p49"/>
          <p:cNvSpPr txBox="1"/>
          <p:nvPr/>
        </p:nvSpPr>
        <p:spPr>
          <a:xfrm>
            <a:off x="3429000" y="1920240"/>
            <a:ext cx="2286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Mengenal halaman</a:t>
            </a:r>
            <a:endParaRPr b="0" i="0" sz="1500" u="none" cap="none" strike="noStrike">
              <a:solidFill>
                <a:schemeClr val="dk1"/>
              </a:solidFill>
              <a:latin typeface="Calibri"/>
              <a:ea typeface="Calibri"/>
              <a:cs typeface="Calibri"/>
              <a:sym typeface="Calibri"/>
            </a:endParaRPr>
          </a:p>
        </p:txBody>
      </p:sp>
      <p:sp>
        <p:nvSpPr>
          <p:cNvPr id="617" name="Google Shape;617;p49"/>
          <p:cNvSpPr txBox="1"/>
          <p:nvPr/>
        </p:nvSpPr>
        <p:spPr>
          <a:xfrm>
            <a:off x="3429000" y="2212848"/>
            <a:ext cx="22860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Tab Kasir, Approved Kasir, Setor Tunai, filter</a:t>
            </a:r>
            <a:endParaRPr b="0" i="0" sz="1200" u="none" cap="none" strike="noStrike">
              <a:solidFill>
                <a:schemeClr val="dk1"/>
              </a:solidFill>
              <a:latin typeface="Calibri"/>
              <a:ea typeface="Calibri"/>
              <a:cs typeface="Calibri"/>
              <a:sym typeface="Calibri"/>
            </a:endParaRPr>
          </a:p>
        </p:txBody>
      </p:sp>
      <p:sp>
        <p:nvSpPr>
          <p:cNvPr id="618" name="Google Shape;618;p49"/>
          <p:cNvSpPr/>
          <p:nvPr/>
        </p:nvSpPr>
        <p:spPr>
          <a:xfrm>
            <a:off x="6035040" y="1143000"/>
            <a:ext cx="2606040" cy="1508760"/>
          </a:xfrm>
          <a:prstGeom prst="roundRect">
            <a:avLst>
              <a:gd fmla="val 606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9"/>
          <p:cNvSpPr/>
          <p:nvPr/>
        </p:nvSpPr>
        <p:spPr>
          <a:xfrm>
            <a:off x="6217920" y="132588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0" name="Google Shape;620;p49"/>
          <p:cNvPicPr preferRelativeResize="0"/>
          <p:nvPr/>
        </p:nvPicPr>
        <p:blipFill rotWithShape="1">
          <a:blip r:embed="rId5">
            <a:alphaModFix/>
          </a:blip>
          <a:srcRect b="0" l="0" r="0" t="0"/>
          <a:stretch/>
        </p:blipFill>
        <p:spPr>
          <a:xfrm>
            <a:off x="6338621" y="1446581"/>
            <a:ext cx="261518" cy="261518"/>
          </a:xfrm>
          <a:prstGeom prst="rect">
            <a:avLst/>
          </a:prstGeom>
          <a:noFill/>
          <a:ln>
            <a:noFill/>
          </a:ln>
        </p:spPr>
      </p:pic>
      <p:sp>
        <p:nvSpPr>
          <p:cNvPr id="621" name="Google Shape;621;p49"/>
          <p:cNvSpPr txBox="1"/>
          <p:nvPr/>
        </p:nvSpPr>
        <p:spPr>
          <a:xfrm>
            <a:off x="7909560" y="1325880"/>
            <a:ext cx="54864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A8E8"/>
              </a:buClr>
              <a:buSzPts val="1800"/>
              <a:buFont typeface="Calibri"/>
              <a:buNone/>
            </a:pPr>
            <a:r>
              <a:rPr b="1" i="0" lang="en" sz="1800" u="none" cap="none" strike="noStrike">
                <a:solidFill>
                  <a:srgbClr val="A5A8E8"/>
                </a:solidFill>
                <a:latin typeface="Calibri"/>
                <a:ea typeface="Calibri"/>
                <a:cs typeface="Calibri"/>
                <a:sym typeface="Calibri"/>
              </a:rPr>
              <a:t>03</a:t>
            </a:r>
            <a:endParaRPr b="0" i="0" sz="1800" u="none" cap="none" strike="noStrike">
              <a:solidFill>
                <a:schemeClr val="dk1"/>
              </a:solidFill>
              <a:latin typeface="Calibri"/>
              <a:ea typeface="Calibri"/>
              <a:cs typeface="Calibri"/>
              <a:sym typeface="Calibri"/>
            </a:endParaRPr>
          </a:p>
        </p:txBody>
      </p:sp>
      <p:sp>
        <p:nvSpPr>
          <p:cNvPr id="622" name="Google Shape;622;p49"/>
          <p:cNvSpPr txBox="1"/>
          <p:nvPr/>
        </p:nvSpPr>
        <p:spPr>
          <a:xfrm>
            <a:off x="6217920" y="1920240"/>
            <a:ext cx="2286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Verifikasi pembayaran</a:t>
            </a:r>
            <a:endParaRPr b="0" i="0" sz="1500" u="none" cap="none" strike="noStrike">
              <a:solidFill>
                <a:schemeClr val="dk1"/>
              </a:solidFill>
              <a:latin typeface="Calibri"/>
              <a:ea typeface="Calibri"/>
              <a:cs typeface="Calibri"/>
              <a:sym typeface="Calibri"/>
            </a:endParaRPr>
          </a:p>
        </p:txBody>
      </p:sp>
      <p:sp>
        <p:nvSpPr>
          <p:cNvPr id="623" name="Google Shape;623;p49"/>
          <p:cNvSpPr txBox="1"/>
          <p:nvPr/>
        </p:nvSpPr>
        <p:spPr>
          <a:xfrm>
            <a:off x="6217920" y="2212848"/>
            <a:ext cx="22860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Halaman dokumen, TTS, attachment, approve/reject</a:t>
            </a:r>
            <a:endParaRPr b="0" i="0" sz="1200" u="none" cap="none" strike="noStrike">
              <a:solidFill>
                <a:schemeClr val="dk1"/>
              </a:solidFill>
              <a:latin typeface="Calibri"/>
              <a:ea typeface="Calibri"/>
              <a:cs typeface="Calibri"/>
              <a:sym typeface="Calibri"/>
            </a:endParaRPr>
          </a:p>
        </p:txBody>
      </p:sp>
      <p:sp>
        <p:nvSpPr>
          <p:cNvPr id="624" name="Google Shape;624;p49"/>
          <p:cNvSpPr/>
          <p:nvPr/>
        </p:nvSpPr>
        <p:spPr>
          <a:xfrm>
            <a:off x="457200" y="2880360"/>
            <a:ext cx="2606040" cy="1508760"/>
          </a:xfrm>
          <a:prstGeom prst="roundRect">
            <a:avLst>
              <a:gd fmla="val 606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9"/>
          <p:cNvSpPr/>
          <p:nvPr/>
        </p:nvSpPr>
        <p:spPr>
          <a:xfrm>
            <a:off x="640080" y="306324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6" name="Google Shape;626;p49"/>
          <p:cNvPicPr preferRelativeResize="0"/>
          <p:nvPr/>
        </p:nvPicPr>
        <p:blipFill rotWithShape="1">
          <a:blip r:embed="rId6">
            <a:alphaModFix/>
          </a:blip>
          <a:srcRect b="0" l="0" r="0" t="0"/>
          <a:stretch/>
        </p:blipFill>
        <p:spPr>
          <a:xfrm>
            <a:off x="760781" y="3183941"/>
            <a:ext cx="261518" cy="261518"/>
          </a:xfrm>
          <a:prstGeom prst="rect">
            <a:avLst/>
          </a:prstGeom>
          <a:noFill/>
          <a:ln>
            <a:noFill/>
          </a:ln>
        </p:spPr>
      </p:pic>
      <p:sp>
        <p:nvSpPr>
          <p:cNvPr id="627" name="Google Shape;627;p49"/>
          <p:cNvSpPr txBox="1"/>
          <p:nvPr/>
        </p:nvSpPr>
        <p:spPr>
          <a:xfrm>
            <a:off x="2331720" y="3063240"/>
            <a:ext cx="54864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A8E8"/>
              </a:buClr>
              <a:buSzPts val="1800"/>
              <a:buFont typeface="Calibri"/>
              <a:buNone/>
            </a:pPr>
            <a:r>
              <a:rPr b="1" i="0" lang="en" sz="1800" u="none" cap="none" strike="noStrike">
                <a:solidFill>
                  <a:srgbClr val="A5A8E8"/>
                </a:solidFill>
                <a:latin typeface="Calibri"/>
                <a:ea typeface="Calibri"/>
                <a:cs typeface="Calibri"/>
                <a:sym typeface="Calibri"/>
              </a:rPr>
              <a:t>04</a:t>
            </a:r>
            <a:endParaRPr b="0" i="0" sz="1800" u="none" cap="none" strike="noStrike">
              <a:solidFill>
                <a:schemeClr val="dk1"/>
              </a:solidFill>
              <a:latin typeface="Calibri"/>
              <a:ea typeface="Calibri"/>
              <a:cs typeface="Calibri"/>
              <a:sym typeface="Calibri"/>
            </a:endParaRPr>
          </a:p>
        </p:txBody>
      </p:sp>
      <p:sp>
        <p:nvSpPr>
          <p:cNvPr id="628" name="Google Shape;628;p49"/>
          <p:cNvSpPr txBox="1"/>
          <p:nvPr/>
        </p:nvSpPr>
        <p:spPr>
          <a:xfrm>
            <a:off x="640080" y="3657600"/>
            <a:ext cx="2286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Setor tunai</a:t>
            </a:r>
            <a:endParaRPr b="0" i="0" sz="1500" u="none" cap="none" strike="noStrike">
              <a:solidFill>
                <a:schemeClr val="dk1"/>
              </a:solidFill>
              <a:latin typeface="Calibri"/>
              <a:ea typeface="Calibri"/>
              <a:cs typeface="Calibri"/>
              <a:sym typeface="Calibri"/>
            </a:endParaRPr>
          </a:p>
        </p:txBody>
      </p:sp>
      <p:sp>
        <p:nvSpPr>
          <p:cNvPr id="629" name="Google Shape;629;p49"/>
          <p:cNvSpPr txBox="1"/>
          <p:nvPr/>
        </p:nvSpPr>
        <p:spPr>
          <a:xfrm>
            <a:off x="640080" y="3950208"/>
            <a:ext cx="22860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Mencatat uang tunai yang sudah disetor ke bank</a:t>
            </a:r>
            <a:endParaRPr b="0" i="0" sz="1200" u="none" cap="none" strike="noStrike">
              <a:solidFill>
                <a:schemeClr val="dk1"/>
              </a:solidFill>
              <a:latin typeface="Calibri"/>
              <a:ea typeface="Calibri"/>
              <a:cs typeface="Calibri"/>
              <a:sym typeface="Calibri"/>
            </a:endParaRPr>
          </a:p>
        </p:txBody>
      </p:sp>
      <p:sp>
        <p:nvSpPr>
          <p:cNvPr id="630" name="Google Shape;630;p49"/>
          <p:cNvSpPr/>
          <p:nvPr/>
        </p:nvSpPr>
        <p:spPr>
          <a:xfrm>
            <a:off x="3246120" y="2880360"/>
            <a:ext cx="2606040" cy="1508760"/>
          </a:xfrm>
          <a:prstGeom prst="roundRect">
            <a:avLst>
              <a:gd fmla="val 606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9"/>
          <p:cNvSpPr/>
          <p:nvPr/>
        </p:nvSpPr>
        <p:spPr>
          <a:xfrm>
            <a:off x="3429000" y="306324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2" name="Google Shape;632;p49"/>
          <p:cNvPicPr preferRelativeResize="0"/>
          <p:nvPr/>
        </p:nvPicPr>
        <p:blipFill rotWithShape="1">
          <a:blip r:embed="rId7">
            <a:alphaModFix/>
          </a:blip>
          <a:srcRect b="0" l="0" r="0" t="0"/>
          <a:stretch/>
        </p:blipFill>
        <p:spPr>
          <a:xfrm>
            <a:off x="3549701" y="3183941"/>
            <a:ext cx="261518" cy="261518"/>
          </a:xfrm>
          <a:prstGeom prst="rect">
            <a:avLst/>
          </a:prstGeom>
          <a:noFill/>
          <a:ln>
            <a:noFill/>
          </a:ln>
        </p:spPr>
      </p:pic>
      <p:sp>
        <p:nvSpPr>
          <p:cNvPr id="633" name="Google Shape;633;p49"/>
          <p:cNvSpPr txBox="1"/>
          <p:nvPr/>
        </p:nvSpPr>
        <p:spPr>
          <a:xfrm>
            <a:off x="5120640" y="3063240"/>
            <a:ext cx="54864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A8E8"/>
              </a:buClr>
              <a:buSzPts val="1800"/>
              <a:buFont typeface="Calibri"/>
              <a:buNone/>
            </a:pPr>
            <a:r>
              <a:rPr b="1" i="0" lang="en" sz="1800" u="none" cap="none" strike="noStrike">
                <a:solidFill>
                  <a:srgbClr val="A5A8E8"/>
                </a:solidFill>
                <a:latin typeface="Calibri"/>
                <a:ea typeface="Calibri"/>
                <a:cs typeface="Calibri"/>
                <a:sym typeface="Calibri"/>
              </a:rPr>
              <a:t>05</a:t>
            </a:r>
            <a:endParaRPr b="0" i="0" sz="1800" u="none" cap="none" strike="noStrike">
              <a:solidFill>
                <a:schemeClr val="dk1"/>
              </a:solidFill>
              <a:latin typeface="Calibri"/>
              <a:ea typeface="Calibri"/>
              <a:cs typeface="Calibri"/>
              <a:sym typeface="Calibri"/>
            </a:endParaRPr>
          </a:p>
        </p:txBody>
      </p:sp>
      <p:sp>
        <p:nvSpPr>
          <p:cNvPr id="634" name="Google Shape;634;p49"/>
          <p:cNvSpPr txBox="1"/>
          <p:nvPr/>
        </p:nvSpPr>
        <p:spPr>
          <a:xfrm>
            <a:off x="3429000" y="3657600"/>
            <a:ext cx="2286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Buat Reserve Order</a:t>
            </a:r>
            <a:endParaRPr b="0" i="0" sz="1500" u="none" cap="none" strike="noStrike">
              <a:solidFill>
                <a:schemeClr val="dk1"/>
              </a:solidFill>
              <a:latin typeface="Calibri"/>
              <a:ea typeface="Calibri"/>
              <a:cs typeface="Calibri"/>
              <a:sym typeface="Calibri"/>
            </a:endParaRPr>
          </a:p>
        </p:txBody>
      </p:sp>
      <p:sp>
        <p:nvSpPr>
          <p:cNvPr id="635" name="Google Shape;635;p49"/>
          <p:cNvSpPr txBox="1"/>
          <p:nvPr/>
        </p:nvSpPr>
        <p:spPr>
          <a:xfrm>
            <a:off x="3429000" y="3950208"/>
            <a:ext cx="22860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Wizard 4 langkah dari sisi Kasir</a:t>
            </a:r>
            <a:endParaRPr b="0" i="0" sz="1200" u="none" cap="none" strike="noStrike">
              <a:solidFill>
                <a:schemeClr val="dk1"/>
              </a:solidFill>
              <a:latin typeface="Calibri"/>
              <a:ea typeface="Calibri"/>
              <a:cs typeface="Calibri"/>
              <a:sym typeface="Calibri"/>
            </a:endParaRPr>
          </a:p>
        </p:txBody>
      </p:sp>
      <p:sp>
        <p:nvSpPr>
          <p:cNvPr id="636" name="Google Shape;636;p49"/>
          <p:cNvSpPr/>
          <p:nvPr/>
        </p:nvSpPr>
        <p:spPr>
          <a:xfrm>
            <a:off x="6035040" y="2880360"/>
            <a:ext cx="2606040" cy="1508760"/>
          </a:xfrm>
          <a:prstGeom prst="roundRect">
            <a:avLst>
              <a:gd fmla="val 606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9"/>
          <p:cNvSpPr/>
          <p:nvPr/>
        </p:nvSpPr>
        <p:spPr>
          <a:xfrm>
            <a:off x="6217920" y="306324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8" name="Google Shape;638;p49"/>
          <p:cNvPicPr preferRelativeResize="0"/>
          <p:nvPr/>
        </p:nvPicPr>
        <p:blipFill rotWithShape="1">
          <a:blip r:embed="rId8">
            <a:alphaModFix/>
          </a:blip>
          <a:srcRect b="0" l="0" r="0" t="0"/>
          <a:stretch/>
        </p:blipFill>
        <p:spPr>
          <a:xfrm>
            <a:off x="6338621" y="3183941"/>
            <a:ext cx="261518" cy="261518"/>
          </a:xfrm>
          <a:prstGeom prst="rect">
            <a:avLst/>
          </a:prstGeom>
          <a:noFill/>
          <a:ln>
            <a:noFill/>
          </a:ln>
        </p:spPr>
      </p:pic>
      <p:sp>
        <p:nvSpPr>
          <p:cNvPr id="639" name="Google Shape;639;p49"/>
          <p:cNvSpPr txBox="1"/>
          <p:nvPr/>
        </p:nvSpPr>
        <p:spPr>
          <a:xfrm>
            <a:off x="7909560" y="3063240"/>
            <a:ext cx="54864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A8E8"/>
              </a:buClr>
              <a:buSzPts val="1800"/>
              <a:buFont typeface="Calibri"/>
              <a:buNone/>
            </a:pPr>
            <a:r>
              <a:rPr b="1" i="0" lang="en" sz="1800" u="none" cap="none" strike="noStrike">
                <a:solidFill>
                  <a:srgbClr val="A5A8E8"/>
                </a:solidFill>
                <a:latin typeface="Calibri"/>
                <a:ea typeface="Calibri"/>
                <a:cs typeface="Calibri"/>
                <a:sym typeface="Calibri"/>
              </a:rPr>
              <a:t>06</a:t>
            </a:r>
            <a:endParaRPr b="0" i="0" sz="1800" u="none" cap="none" strike="noStrike">
              <a:solidFill>
                <a:schemeClr val="dk1"/>
              </a:solidFill>
              <a:latin typeface="Calibri"/>
              <a:ea typeface="Calibri"/>
              <a:cs typeface="Calibri"/>
              <a:sym typeface="Calibri"/>
            </a:endParaRPr>
          </a:p>
        </p:txBody>
      </p:sp>
      <p:sp>
        <p:nvSpPr>
          <p:cNvPr id="640" name="Google Shape;640;p49"/>
          <p:cNvSpPr txBox="1"/>
          <p:nvPr/>
        </p:nvSpPr>
        <p:spPr>
          <a:xfrm>
            <a:off x="6217920" y="3657600"/>
            <a:ext cx="2286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Checklist &amp; latihan</a:t>
            </a:r>
            <a:endParaRPr b="0" i="0" sz="1500" u="none" cap="none" strike="noStrike">
              <a:solidFill>
                <a:schemeClr val="dk1"/>
              </a:solidFill>
              <a:latin typeface="Calibri"/>
              <a:ea typeface="Calibri"/>
              <a:cs typeface="Calibri"/>
              <a:sym typeface="Calibri"/>
            </a:endParaRPr>
          </a:p>
        </p:txBody>
      </p:sp>
      <p:sp>
        <p:nvSpPr>
          <p:cNvPr id="641" name="Google Shape;641;p49"/>
          <p:cNvSpPr txBox="1"/>
          <p:nvPr/>
        </p:nvSpPr>
        <p:spPr>
          <a:xfrm>
            <a:off x="6217920" y="3950208"/>
            <a:ext cx="22860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SOP harian, do &amp; don't, kuis</a:t>
            </a:r>
            <a:endParaRPr b="0" i="0" sz="1200" u="none" cap="none" strike="noStrike">
              <a:solidFill>
                <a:schemeClr val="dk1"/>
              </a:solidFill>
              <a:latin typeface="Calibri"/>
              <a:ea typeface="Calibri"/>
              <a:cs typeface="Calibri"/>
              <a:sym typeface="Calibri"/>
            </a:endParaRPr>
          </a:p>
        </p:txBody>
      </p:sp>
      <p:sp>
        <p:nvSpPr>
          <p:cNvPr id="642" name="Google Shape;642;p49"/>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0"/>
          <p:cNvSpPr txBox="1"/>
          <p:nvPr>
            <p:ph type="title"/>
          </p:nvPr>
        </p:nvSpPr>
        <p:spPr>
          <a:xfrm>
            <a:off x="548640" y="1828800"/>
            <a:ext cx="804672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 sz="3600">
                <a:solidFill>
                  <a:schemeClr val="lt1"/>
                </a:solidFill>
              </a:rPr>
              <a:t>Alur &amp; istilah</a:t>
            </a:r>
            <a:endParaRPr sz="3600"/>
          </a:p>
        </p:txBody>
      </p:sp>
      <p:sp>
        <p:nvSpPr>
          <p:cNvPr id="649" name="Google Shape;649;p50"/>
          <p:cNvSpPr txBox="1"/>
          <p:nvPr>
            <p:ph idx="1" type="body"/>
          </p:nvPr>
        </p:nvSpPr>
        <p:spPr>
          <a:xfrm>
            <a:off x="548640" y="2834640"/>
            <a:ext cx="8046720" cy="7315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rPr lang="en" sz="1600">
                <a:solidFill>
                  <a:schemeClr val="lt2"/>
                </a:solidFill>
              </a:rPr>
              <a:t>Di mana posisi Kasir dalam perjalanan customer?</a:t>
            </a:r>
            <a:endParaRPr sz="1600"/>
          </a:p>
        </p:txBody>
      </p:sp>
      <p:sp>
        <p:nvSpPr>
          <p:cNvPr id="650" name="Google Shape;650;p50"/>
          <p:cNvSpPr txBox="1"/>
          <p:nvPr>
            <p:ph idx="4294967295"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51"/>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Posisi Kasir dalam pipeline penjualan</a:t>
            </a:r>
            <a:endParaRPr sz="2800"/>
          </a:p>
        </p:txBody>
      </p:sp>
      <p:sp>
        <p:nvSpPr>
          <p:cNvPr id="657" name="Google Shape;657;p51"/>
          <p:cNvSpPr/>
          <p:nvPr/>
        </p:nvSpPr>
        <p:spPr>
          <a:xfrm>
            <a:off x="457200" y="1417320"/>
            <a:ext cx="749808" cy="731520"/>
          </a:xfrm>
          <a:prstGeom prst="roundRect">
            <a:avLst>
              <a:gd fmla="val 1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51"/>
          <p:cNvSpPr txBox="1"/>
          <p:nvPr/>
        </p:nvSpPr>
        <p:spPr>
          <a:xfrm>
            <a:off x="457200" y="1417320"/>
            <a:ext cx="749808"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Leads</a:t>
            </a:r>
            <a:endParaRPr b="0" i="0" sz="1100" u="none" cap="none" strike="noStrike">
              <a:solidFill>
                <a:schemeClr val="dk1"/>
              </a:solidFill>
              <a:latin typeface="Calibri"/>
              <a:ea typeface="Calibri"/>
              <a:cs typeface="Calibri"/>
              <a:sym typeface="Calibri"/>
            </a:endParaRPr>
          </a:p>
        </p:txBody>
      </p:sp>
      <p:sp>
        <p:nvSpPr>
          <p:cNvPr id="659" name="Google Shape;659;p51"/>
          <p:cNvSpPr/>
          <p:nvPr/>
        </p:nvSpPr>
        <p:spPr>
          <a:xfrm>
            <a:off x="1280160" y="1417320"/>
            <a:ext cx="749808" cy="731520"/>
          </a:xfrm>
          <a:prstGeom prst="roundRect">
            <a:avLst>
              <a:gd fmla="val 1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51"/>
          <p:cNvSpPr txBox="1"/>
          <p:nvPr/>
        </p:nvSpPr>
        <p:spPr>
          <a:xfrm>
            <a:off x="1280160" y="1417320"/>
            <a:ext cx="749808"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APPT</a:t>
            </a:r>
            <a:endParaRPr b="0" i="0" sz="1100" u="none" cap="none" strike="noStrike">
              <a:solidFill>
                <a:schemeClr val="dk1"/>
              </a:solidFill>
              <a:latin typeface="Calibri"/>
              <a:ea typeface="Calibri"/>
              <a:cs typeface="Calibri"/>
              <a:sym typeface="Calibri"/>
            </a:endParaRPr>
          </a:p>
        </p:txBody>
      </p:sp>
      <p:sp>
        <p:nvSpPr>
          <p:cNvPr id="661" name="Google Shape;661;p51"/>
          <p:cNvSpPr/>
          <p:nvPr/>
        </p:nvSpPr>
        <p:spPr>
          <a:xfrm>
            <a:off x="2103120" y="1417320"/>
            <a:ext cx="749808" cy="731520"/>
          </a:xfrm>
          <a:prstGeom prst="roundRect">
            <a:avLst>
              <a:gd fmla="val 1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51"/>
          <p:cNvSpPr txBox="1"/>
          <p:nvPr/>
        </p:nvSpPr>
        <p:spPr>
          <a:xfrm>
            <a:off x="2103120" y="1417320"/>
            <a:ext cx="749808"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Visitor</a:t>
            </a:r>
            <a:endParaRPr b="0" i="0" sz="1100" u="none" cap="none" strike="noStrike">
              <a:solidFill>
                <a:schemeClr val="dk1"/>
              </a:solidFill>
              <a:latin typeface="Calibri"/>
              <a:ea typeface="Calibri"/>
              <a:cs typeface="Calibri"/>
              <a:sym typeface="Calibri"/>
            </a:endParaRPr>
          </a:p>
        </p:txBody>
      </p:sp>
      <p:sp>
        <p:nvSpPr>
          <p:cNvPr id="663" name="Google Shape;663;p51"/>
          <p:cNvSpPr/>
          <p:nvPr/>
        </p:nvSpPr>
        <p:spPr>
          <a:xfrm>
            <a:off x="2926080" y="1417320"/>
            <a:ext cx="749808" cy="731520"/>
          </a:xfrm>
          <a:prstGeom prst="roundRect">
            <a:avLst>
              <a:gd fmla="val 1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51"/>
          <p:cNvSpPr txBox="1"/>
          <p:nvPr/>
        </p:nvSpPr>
        <p:spPr>
          <a:xfrm>
            <a:off x="2926080" y="1417320"/>
            <a:ext cx="749808"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Reserve</a:t>
            </a:r>
            <a:endParaRPr b="0" i="0" sz="1100" u="none" cap="none" strike="noStrike">
              <a:solidFill>
                <a:schemeClr val="dk1"/>
              </a:solidFill>
              <a:latin typeface="Calibri"/>
              <a:ea typeface="Calibri"/>
              <a:cs typeface="Calibri"/>
              <a:sym typeface="Calibri"/>
            </a:endParaRPr>
          </a:p>
        </p:txBody>
      </p:sp>
      <p:sp>
        <p:nvSpPr>
          <p:cNvPr id="665" name="Google Shape;665;p51"/>
          <p:cNvSpPr/>
          <p:nvPr/>
        </p:nvSpPr>
        <p:spPr>
          <a:xfrm>
            <a:off x="3749040" y="1417320"/>
            <a:ext cx="749808" cy="731520"/>
          </a:xfrm>
          <a:prstGeom prst="roundRect">
            <a:avLst>
              <a:gd fmla="val 1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51"/>
          <p:cNvSpPr txBox="1"/>
          <p:nvPr/>
        </p:nvSpPr>
        <p:spPr>
          <a:xfrm>
            <a:off x="3749040" y="1417320"/>
            <a:ext cx="749808"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Reserve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Booking</a:t>
            </a:r>
            <a:endParaRPr b="0" i="0" sz="1100" u="none" cap="none" strike="noStrike">
              <a:solidFill>
                <a:schemeClr val="dk1"/>
              </a:solidFill>
              <a:latin typeface="Calibri"/>
              <a:ea typeface="Calibri"/>
              <a:cs typeface="Calibri"/>
              <a:sym typeface="Calibri"/>
            </a:endParaRPr>
          </a:p>
        </p:txBody>
      </p:sp>
      <p:sp>
        <p:nvSpPr>
          <p:cNvPr id="667" name="Google Shape;667;p51"/>
          <p:cNvSpPr/>
          <p:nvPr/>
        </p:nvSpPr>
        <p:spPr>
          <a:xfrm>
            <a:off x="4572000" y="1417320"/>
            <a:ext cx="749808" cy="731520"/>
          </a:xfrm>
          <a:prstGeom prst="roundRect">
            <a:avLst>
              <a:gd fmla="val 1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1"/>
          <p:cNvSpPr txBox="1"/>
          <p:nvPr/>
        </p:nvSpPr>
        <p:spPr>
          <a:xfrm>
            <a:off x="4572000" y="1417320"/>
            <a:ext cx="749808"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SP</a:t>
            </a:r>
            <a:endParaRPr b="0" i="0" sz="1100" u="none" cap="none" strike="noStrike">
              <a:solidFill>
                <a:schemeClr val="dk1"/>
              </a:solidFill>
              <a:latin typeface="Calibri"/>
              <a:ea typeface="Calibri"/>
              <a:cs typeface="Calibri"/>
              <a:sym typeface="Calibri"/>
            </a:endParaRPr>
          </a:p>
        </p:txBody>
      </p:sp>
      <p:sp>
        <p:nvSpPr>
          <p:cNvPr id="669" name="Google Shape;669;p51"/>
          <p:cNvSpPr/>
          <p:nvPr/>
        </p:nvSpPr>
        <p:spPr>
          <a:xfrm>
            <a:off x="5394960" y="1417320"/>
            <a:ext cx="749808" cy="731520"/>
          </a:xfrm>
          <a:prstGeom prst="roundRect">
            <a:avLst>
              <a:gd fmla="val 1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51"/>
          <p:cNvSpPr txBox="1"/>
          <p:nvPr/>
        </p:nvSpPr>
        <p:spPr>
          <a:xfrm>
            <a:off x="5394960" y="1417320"/>
            <a:ext cx="749808"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Collect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Data</a:t>
            </a:r>
            <a:endParaRPr b="0" i="0" sz="1100" u="none" cap="none" strike="noStrike">
              <a:solidFill>
                <a:schemeClr val="dk1"/>
              </a:solidFill>
              <a:latin typeface="Calibri"/>
              <a:ea typeface="Calibri"/>
              <a:cs typeface="Calibri"/>
              <a:sym typeface="Calibri"/>
            </a:endParaRPr>
          </a:p>
        </p:txBody>
      </p:sp>
      <p:sp>
        <p:nvSpPr>
          <p:cNvPr id="671" name="Google Shape;671;p51"/>
          <p:cNvSpPr/>
          <p:nvPr/>
        </p:nvSpPr>
        <p:spPr>
          <a:xfrm>
            <a:off x="6217920" y="1417320"/>
            <a:ext cx="749808" cy="731520"/>
          </a:xfrm>
          <a:prstGeom prst="roundRect">
            <a:avLst>
              <a:gd fmla="val 1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51"/>
          <p:cNvSpPr txBox="1"/>
          <p:nvPr/>
        </p:nvSpPr>
        <p:spPr>
          <a:xfrm>
            <a:off x="6217920" y="1417320"/>
            <a:ext cx="749808"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Proses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Bank</a:t>
            </a:r>
            <a:endParaRPr b="0" i="0" sz="1100" u="none" cap="none" strike="noStrike">
              <a:solidFill>
                <a:schemeClr val="dk1"/>
              </a:solidFill>
              <a:latin typeface="Calibri"/>
              <a:ea typeface="Calibri"/>
              <a:cs typeface="Calibri"/>
              <a:sym typeface="Calibri"/>
            </a:endParaRPr>
          </a:p>
        </p:txBody>
      </p:sp>
      <p:sp>
        <p:nvSpPr>
          <p:cNvPr id="673" name="Google Shape;673;p51"/>
          <p:cNvSpPr/>
          <p:nvPr/>
        </p:nvSpPr>
        <p:spPr>
          <a:xfrm>
            <a:off x="7040880" y="1417320"/>
            <a:ext cx="749808" cy="731520"/>
          </a:xfrm>
          <a:prstGeom prst="roundRect">
            <a:avLst>
              <a:gd fmla="val 1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1"/>
          <p:cNvSpPr txBox="1"/>
          <p:nvPr/>
        </p:nvSpPr>
        <p:spPr>
          <a:xfrm>
            <a:off x="7040880" y="1417320"/>
            <a:ext cx="749808"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SPK</a:t>
            </a:r>
            <a:endParaRPr b="0" i="0" sz="1100" u="none" cap="none" strike="noStrike">
              <a:solidFill>
                <a:schemeClr val="dk1"/>
              </a:solidFill>
              <a:latin typeface="Calibri"/>
              <a:ea typeface="Calibri"/>
              <a:cs typeface="Calibri"/>
              <a:sym typeface="Calibri"/>
            </a:endParaRPr>
          </a:p>
        </p:txBody>
      </p:sp>
      <p:sp>
        <p:nvSpPr>
          <p:cNvPr id="675" name="Google Shape;675;p51"/>
          <p:cNvSpPr/>
          <p:nvPr/>
        </p:nvSpPr>
        <p:spPr>
          <a:xfrm>
            <a:off x="7863840" y="1417320"/>
            <a:ext cx="749808" cy="731520"/>
          </a:xfrm>
          <a:prstGeom prst="roundRect">
            <a:avLst>
              <a:gd fmla="val 1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nvSpPr>
        <p:spPr>
          <a:xfrm>
            <a:off x="7863840" y="1417320"/>
            <a:ext cx="749808"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Akad /</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PPJB</a:t>
            </a:r>
            <a:endParaRPr b="0" i="0" sz="1100" u="none" cap="none" strike="noStrike">
              <a:solidFill>
                <a:schemeClr val="dk1"/>
              </a:solidFill>
              <a:latin typeface="Calibri"/>
              <a:ea typeface="Calibri"/>
              <a:cs typeface="Calibri"/>
              <a:sym typeface="Calibri"/>
            </a:endParaRPr>
          </a:p>
        </p:txBody>
      </p:sp>
      <p:sp>
        <p:nvSpPr>
          <p:cNvPr id="677" name="Google Shape;677;p51"/>
          <p:cNvSpPr/>
          <p:nvPr/>
        </p:nvSpPr>
        <p:spPr>
          <a:xfrm>
            <a:off x="2880360" y="2240280"/>
            <a:ext cx="2487168" cy="384048"/>
          </a:xfrm>
          <a:prstGeom prst="roundRect">
            <a:avLst>
              <a:gd fmla="val 19048"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51"/>
          <p:cNvSpPr txBox="1"/>
          <p:nvPr/>
        </p:nvSpPr>
        <p:spPr>
          <a:xfrm>
            <a:off x="2880360" y="2240280"/>
            <a:ext cx="248716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300"/>
              <a:buFont typeface="Calibri"/>
              <a:buNone/>
            </a:pPr>
            <a:r>
              <a:rPr b="1" i="0" lang="en" sz="1300" u="none" cap="none" strike="noStrike">
                <a:solidFill>
                  <a:schemeClr val="dk2"/>
                </a:solidFill>
                <a:latin typeface="Calibri"/>
                <a:ea typeface="Calibri"/>
                <a:cs typeface="Calibri"/>
                <a:sym typeface="Calibri"/>
              </a:rPr>
              <a:t>Area kerja Kasir</a:t>
            </a:r>
            <a:endParaRPr b="0" i="0" sz="1300" u="none" cap="none" strike="noStrike">
              <a:solidFill>
                <a:schemeClr val="dk1"/>
              </a:solidFill>
              <a:latin typeface="Calibri"/>
              <a:ea typeface="Calibri"/>
              <a:cs typeface="Calibri"/>
              <a:sym typeface="Calibri"/>
            </a:endParaRPr>
          </a:p>
        </p:txBody>
      </p:sp>
      <p:sp>
        <p:nvSpPr>
          <p:cNvPr id="679" name="Google Shape;679;p51"/>
          <p:cNvSpPr txBox="1"/>
          <p:nvPr/>
        </p:nvSpPr>
        <p:spPr>
          <a:xfrm>
            <a:off x="457200" y="2971800"/>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 sz="1500" u="none" cap="none" strike="noStrike">
                <a:solidFill>
                  <a:schemeClr val="accent1"/>
                </a:solidFill>
                <a:latin typeface="Calibri"/>
                <a:ea typeface="Calibri"/>
                <a:cs typeface="Calibri"/>
                <a:sym typeface="Calibri"/>
              </a:rPr>
              <a:t>Sales</a:t>
            </a:r>
            <a:endParaRPr b="0" i="0" sz="1500" u="none" cap="none" strike="noStrike">
              <a:solidFill>
                <a:schemeClr val="dk1"/>
              </a:solidFill>
              <a:latin typeface="Calibri"/>
              <a:ea typeface="Calibri"/>
              <a:cs typeface="Calibri"/>
              <a:sym typeface="Calibri"/>
            </a:endParaRPr>
          </a:p>
        </p:txBody>
      </p:sp>
      <p:sp>
        <p:nvSpPr>
          <p:cNvPr id="680" name="Google Shape;680;p51"/>
          <p:cNvSpPr txBox="1"/>
          <p:nvPr/>
        </p:nvSpPr>
        <p:spPr>
          <a:xfrm>
            <a:off x="457200" y="3291840"/>
            <a:ext cx="260604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Membuat Reserve Order, mengajukan TTS / Top Up, melampirkan bukti &amp; KTP.</a:t>
            </a:r>
            <a:endParaRPr b="0" i="0" sz="1300" u="none" cap="none" strike="noStrike">
              <a:solidFill>
                <a:schemeClr val="dk1"/>
              </a:solidFill>
              <a:latin typeface="Calibri"/>
              <a:ea typeface="Calibri"/>
              <a:cs typeface="Calibri"/>
              <a:sym typeface="Calibri"/>
            </a:endParaRPr>
          </a:p>
        </p:txBody>
      </p:sp>
      <p:sp>
        <p:nvSpPr>
          <p:cNvPr id="681" name="Google Shape;681;p51"/>
          <p:cNvSpPr txBox="1"/>
          <p:nvPr/>
        </p:nvSpPr>
        <p:spPr>
          <a:xfrm>
            <a:off x="3246120" y="2971800"/>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 sz="1500" u="none" cap="none" strike="noStrike">
                <a:solidFill>
                  <a:schemeClr val="accent1"/>
                </a:solidFill>
                <a:latin typeface="Calibri"/>
                <a:ea typeface="Calibri"/>
                <a:cs typeface="Calibri"/>
                <a:sym typeface="Calibri"/>
              </a:rPr>
              <a:t>Kasir</a:t>
            </a:r>
            <a:endParaRPr b="0" i="0" sz="1500" u="none" cap="none" strike="noStrike">
              <a:solidFill>
                <a:schemeClr val="dk1"/>
              </a:solidFill>
              <a:latin typeface="Calibri"/>
              <a:ea typeface="Calibri"/>
              <a:cs typeface="Calibri"/>
              <a:sym typeface="Calibri"/>
            </a:endParaRPr>
          </a:p>
        </p:txBody>
      </p:sp>
      <p:sp>
        <p:nvSpPr>
          <p:cNvPr id="682" name="Google Shape;682;p51"/>
          <p:cNvSpPr txBox="1"/>
          <p:nvPr/>
        </p:nvSpPr>
        <p:spPr>
          <a:xfrm>
            <a:off x="3246120" y="3291840"/>
            <a:ext cx="260604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Memverifikasi dokumen &amp; pembayaran setiap TTS, lalu Approve / Reject. Mencatat setoran tunai ke bank.</a:t>
            </a:r>
            <a:endParaRPr b="0" i="0" sz="1300" u="none" cap="none" strike="noStrike">
              <a:solidFill>
                <a:schemeClr val="dk1"/>
              </a:solidFill>
              <a:latin typeface="Calibri"/>
              <a:ea typeface="Calibri"/>
              <a:cs typeface="Calibri"/>
              <a:sym typeface="Calibri"/>
            </a:endParaRPr>
          </a:p>
        </p:txBody>
      </p:sp>
      <p:sp>
        <p:nvSpPr>
          <p:cNvPr id="683" name="Google Shape;683;p51"/>
          <p:cNvSpPr txBox="1"/>
          <p:nvPr/>
        </p:nvSpPr>
        <p:spPr>
          <a:xfrm>
            <a:off x="6035040" y="2971800"/>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 sz="1500" u="none" cap="none" strike="noStrike">
                <a:solidFill>
                  <a:schemeClr val="accent1"/>
                </a:solidFill>
                <a:latin typeface="Calibri"/>
                <a:ea typeface="Calibri"/>
                <a:cs typeface="Calibri"/>
                <a:sym typeface="Calibri"/>
              </a:rPr>
              <a:t>Sistem</a:t>
            </a:r>
            <a:endParaRPr b="0" i="0" sz="1500" u="none" cap="none" strike="noStrike">
              <a:solidFill>
                <a:schemeClr val="dk1"/>
              </a:solidFill>
              <a:latin typeface="Calibri"/>
              <a:ea typeface="Calibri"/>
              <a:cs typeface="Calibri"/>
              <a:sym typeface="Calibri"/>
            </a:endParaRPr>
          </a:p>
        </p:txBody>
      </p:sp>
      <p:sp>
        <p:nvSpPr>
          <p:cNvPr id="684" name="Google Shape;684;p51"/>
          <p:cNvSpPr txBox="1"/>
          <p:nvPr/>
        </p:nvSpPr>
        <p:spPr>
          <a:xfrm>
            <a:off x="6035040" y="3291840"/>
            <a:ext cx="260604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Setelah approve: status RO &amp; kavling diperbarui (mis. Available → Reserve), tercatat di Timeline &amp; Message.</a:t>
            </a:r>
            <a:endParaRPr b="0" i="0" sz="1300" u="none" cap="none" strike="noStrike">
              <a:solidFill>
                <a:schemeClr val="dk1"/>
              </a:solidFill>
              <a:latin typeface="Calibri"/>
              <a:ea typeface="Calibri"/>
              <a:cs typeface="Calibri"/>
              <a:sym typeface="Calibri"/>
            </a:endParaRPr>
          </a:p>
        </p:txBody>
      </p:sp>
      <p:sp>
        <p:nvSpPr>
          <p:cNvPr id="685" name="Google Shape;685;p51"/>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52"/>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Istilah yang wajib dipahami</a:t>
            </a:r>
            <a:endParaRPr sz="2800"/>
          </a:p>
        </p:txBody>
      </p:sp>
      <p:sp>
        <p:nvSpPr>
          <p:cNvPr id="692" name="Google Shape;692;p52"/>
          <p:cNvSpPr/>
          <p:nvPr/>
        </p:nvSpPr>
        <p:spPr>
          <a:xfrm>
            <a:off x="457200" y="1097280"/>
            <a:ext cx="1234440" cy="438912"/>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2"/>
          <p:cNvSpPr txBox="1"/>
          <p:nvPr/>
        </p:nvSpPr>
        <p:spPr>
          <a:xfrm>
            <a:off x="457200" y="1097280"/>
            <a:ext cx="12344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 sz="1300" u="none" cap="none" strike="noStrike">
                <a:solidFill>
                  <a:schemeClr val="lt1"/>
                </a:solidFill>
                <a:latin typeface="Calibri"/>
                <a:ea typeface="Calibri"/>
                <a:cs typeface="Calibri"/>
                <a:sym typeface="Calibri"/>
              </a:rPr>
              <a:t>RO</a:t>
            </a:r>
            <a:endParaRPr b="0" i="0" sz="1300" u="none" cap="none" strike="noStrike">
              <a:solidFill>
                <a:schemeClr val="dk1"/>
              </a:solidFill>
              <a:latin typeface="Calibri"/>
              <a:ea typeface="Calibri"/>
              <a:cs typeface="Calibri"/>
              <a:sym typeface="Calibri"/>
            </a:endParaRPr>
          </a:p>
        </p:txBody>
      </p:sp>
      <p:sp>
        <p:nvSpPr>
          <p:cNvPr id="694" name="Google Shape;694;p52"/>
          <p:cNvSpPr txBox="1"/>
          <p:nvPr/>
        </p:nvSpPr>
        <p:spPr>
          <a:xfrm>
            <a:off x="1828800" y="1097280"/>
            <a:ext cx="30175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Reserve Order – pemesanan unit/kavling oleh customer.</a:t>
            </a:r>
            <a:endParaRPr b="0" i="0" sz="1200" u="none" cap="none" strike="noStrike">
              <a:solidFill>
                <a:schemeClr val="dk1"/>
              </a:solidFill>
              <a:latin typeface="Calibri"/>
              <a:ea typeface="Calibri"/>
              <a:cs typeface="Calibri"/>
              <a:sym typeface="Calibri"/>
            </a:endParaRPr>
          </a:p>
        </p:txBody>
      </p:sp>
      <p:sp>
        <p:nvSpPr>
          <p:cNvPr id="695" name="Google Shape;695;p52"/>
          <p:cNvSpPr/>
          <p:nvPr/>
        </p:nvSpPr>
        <p:spPr>
          <a:xfrm>
            <a:off x="457200" y="1664208"/>
            <a:ext cx="1234440" cy="438912"/>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52"/>
          <p:cNvSpPr txBox="1"/>
          <p:nvPr/>
        </p:nvSpPr>
        <p:spPr>
          <a:xfrm>
            <a:off x="457200" y="1664208"/>
            <a:ext cx="12344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 sz="1300" u="none" cap="none" strike="noStrike">
                <a:solidFill>
                  <a:schemeClr val="lt1"/>
                </a:solidFill>
                <a:latin typeface="Calibri"/>
                <a:ea typeface="Calibri"/>
                <a:cs typeface="Calibri"/>
                <a:sym typeface="Calibri"/>
              </a:rPr>
              <a:t>TTS</a:t>
            </a:r>
            <a:endParaRPr b="0" i="0" sz="1300" u="none" cap="none" strike="noStrike">
              <a:solidFill>
                <a:schemeClr val="dk1"/>
              </a:solidFill>
              <a:latin typeface="Calibri"/>
              <a:ea typeface="Calibri"/>
              <a:cs typeface="Calibri"/>
              <a:sym typeface="Calibri"/>
            </a:endParaRPr>
          </a:p>
        </p:txBody>
      </p:sp>
      <p:sp>
        <p:nvSpPr>
          <p:cNvPr id="697" name="Google Shape;697;p52"/>
          <p:cNvSpPr txBox="1"/>
          <p:nvPr/>
        </p:nvSpPr>
        <p:spPr>
          <a:xfrm>
            <a:off x="1828800" y="1664208"/>
            <a:ext cx="30175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Tanda Terima Sementara – bukti penerimaan uang, satu TTS per pembayaran.</a:t>
            </a:r>
            <a:endParaRPr b="0" i="0" sz="1200" u="none" cap="none" strike="noStrike">
              <a:solidFill>
                <a:schemeClr val="dk1"/>
              </a:solidFill>
              <a:latin typeface="Calibri"/>
              <a:ea typeface="Calibri"/>
              <a:cs typeface="Calibri"/>
              <a:sym typeface="Calibri"/>
            </a:endParaRPr>
          </a:p>
        </p:txBody>
      </p:sp>
      <p:sp>
        <p:nvSpPr>
          <p:cNvPr id="698" name="Google Shape;698;p52"/>
          <p:cNvSpPr/>
          <p:nvPr/>
        </p:nvSpPr>
        <p:spPr>
          <a:xfrm>
            <a:off x="457200" y="2231136"/>
            <a:ext cx="1234440" cy="438912"/>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2"/>
          <p:cNvSpPr txBox="1"/>
          <p:nvPr/>
        </p:nvSpPr>
        <p:spPr>
          <a:xfrm>
            <a:off x="457200" y="2231136"/>
            <a:ext cx="12344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 sz="1300" u="none" cap="none" strike="noStrike">
                <a:solidFill>
                  <a:schemeClr val="lt1"/>
                </a:solidFill>
                <a:latin typeface="Calibri"/>
                <a:ea typeface="Calibri"/>
                <a:cs typeface="Calibri"/>
                <a:sym typeface="Calibri"/>
              </a:rPr>
              <a:t>RB</a:t>
            </a:r>
            <a:endParaRPr b="0" i="0" sz="1300" u="none" cap="none" strike="noStrike">
              <a:solidFill>
                <a:schemeClr val="dk1"/>
              </a:solidFill>
              <a:latin typeface="Calibri"/>
              <a:ea typeface="Calibri"/>
              <a:cs typeface="Calibri"/>
              <a:sym typeface="Calibri"/>
            </a:endParaRPr>
          </a:p>
        </p:txBody>
      </p:sp>
      <p:sp>
        <p:nvSpPr>
          <p:cNvPr id="700" name="Google Shape;700;p52"/>
          <p:cNvSpPr txBox="1"/>
          <p:nvPr/>
        </p:nvSpPr>
        <p:spPr>
          <a:xfrm>
            <a:off x="1828800" y="2231136"/>
            <a:ext cx="30175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Reserve Booking – pembayaran booking setelah Reserve.</a:t>
            </a:r>
            <a:endParaRPr b="0" i="0" sz="1200" u="none" cap="none" strike="noStrike">
              <a:solidFill>
                <a:schemeClr val="dk1"/>
              </a:solidFill>
              <a:latin typeface="Calibri"/>
              <a:ea typeface="Calibri"/>
              <a:cs typeface="Calibri"/>
              <a:sym typeface="Calibri"/>
            </a:endParaRPr>
          </a:p>
        </p:txBody>
      </p:sp>
      <p:sp>
        <p:nvSpPr>
          <p:cNvPr id="701" name="Google Shape;701;p52"/>
          <p:cNvSpPr/>
          <p:nvPr/>
        </p:nvSpPr>
        <p:spPr>
          <a:xfrm>
            <a:off x="457200" y="2798064"/>
            <a:ext cx="1234440" cy="438912"/>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52"/>
          <p:cNvSpPr txBox="1"/>
          <p:nvPr/>
        </p:nvSpPr>
        <p:spPr>
          <a:xfrm>
            <a:off x="457200" y="2798064"/>
            <a:ext cx="12344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 sz="1300" u="none" cap="none" strike="noStrike">
                <a:solidFill>
                  <a:schemeClr val="lt1"/>
                </a:solidFill>
                <a:latin typeface="Calibri"/>
                <a:ea typeface="Calibri"/>
                <a:cs typeface="Calibri"/>
                <a:sym typeface="Calibri"/>
              </a:rPr>
              <a:t>SP</a:t>
            </a:r>
            <a:endParaRPr b="0" i="0" sz="1300" u="none" cap="none" strike="noStrike">
              <a:solidFill>
                <a:schemeClr val="dk1"/>
              </a:solidFill>
              <a:latin typeface="Calibri"/>
              <a:ea typeface="Calibri"/>
              <a:cs typeface="Calibri"/>
              <a:sym typeface="Calibri"/>
            </a:endParaRPr>
          </a:p>
        </p:txBody>
      </p:sp>
      <p:sp>
        <p:nvSpPr>
          <p:cNvPr id="703" name="Google Shape;703;p52"/>
          <p:cNvSpPr txBox="1"/>
          <p:nvPr/>
        </p:nvSpPr>
        <p:spPr>
          <a:xfrm>
            <a:off x="1828800" y="2798064"/>
            <a:ext cx="30175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Surat Pemesanan – tahap pembayaran berikutnya.</a:t>
            </a:r>
            <a:endParaRPr b="0" i="0" sz="1200" u="none" cap="none" strike="noStrike">
              <a:solidFill>
                <a:schemeClr val="dk1"/>
              </a:solidFill>
              <a:latin typeface="Calibri"/>
              <a:ea typeface="Calibri"/>
              <a:cs typeface="Calibri"/>
              <a:sym typeface="Calibri"/>
            </a:endParaRPr>
          </a:p>
        </p:txBody>
      </p:sp>
      <p:sp>
        <p:nvSpPr>
          <p:cNvPr id="704" name="Google Shape;704;p52"/>
          <p:cNvSpPr/>
          <p:nvPr/>
        </p:nvSpPr>
        <p:spPr>
          <a:xfrm>
            <a:off x="457200" y="3364992"/>
            <a:ext cx="1234440" cy="438912"/>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52"/>
          <p:cNvSpPr txBox="1"/>
          <p:nvPr/>
        </p:nvSpPr>
        <p:spPr>
          <a:xfrm>
            <a:off x="457200" y="3364992"/>
            <a:ext cx="12344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 sz="1300" u="none" cap="none" strike="noStrike">
                <a:solidFill>
                  <a:schemeClr val="lt1"/>
                </a:solidFill>
                <a:latin typeface="Calibri"/>
                <a:ea typeface="Calibri"/>
                <a:cs typeface="Calibri"/>
                <a:sym typeface="Calibri"/>
              </a:rPr>
              <a:t>Top Up</a:t>
            </a:r>
            <a:endParaRPr b="0" i="0" sz="1300" u="none" cap="none" strike="noStrike">
              <a:solidFill>
                <a:schemeClr val="dk1"/>
              </a:solidFill>
              <a:latin typeface="Calibri"/>
              <a:ea typeface="Calibri"/>
              <a:cs typeface="Calibri"/>
              <a:sym typeface="Calibri"/>
            </a:endParaRPr>
          </a:p>
        </p:txBody>
      </p:sp>
      <p:sp>
        <p:nvSpPr>
          <p:cNvPr id="706" name="Google Shape;706;p52"/>
          <p:cNvSpPr txBox="1"/>
          <p:nvPr/>
        </p:nvSpPr>
        <p:spPr>
          <a:xfrm>
            <a:off x="1828800" y="3364992"/>
            <a:ext cx="30175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Tambahan pembayaran RB atau SP pada RO yang sama.</a:t>
            </a:r>
            <a:endParaRPr b="0" i="0" sz="1200" u="none" cap="none" strike="noStrike">
              <a:solidFill>
                <a:schemeClr val="dk1"/>
              </a:solidFill>
              <a:latin typeface="Calibri"/>
              <a:ea typeface="Calibri"/>
              <a:cs typeface="Calibri"/>
              <a:sym typeface="Calibri"/>
            </a:endParaRPr>
          </a:p>
        </p:txBody>
      </p:sp>
      <p:sp>
        <p:nvSpPr>
          <p:cNvPr id="707" name="Google Shape;707;p52"/>
          <p:cNvSpPr/>
          <p:nvPr/>
        </p:nvSpPr>
        <p:spPr>
          <a:xfrm>
            <a:off x="457200" y="3931920"/>
            <a:ext cx="1234440" cy="438912"/>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2"/>
          <p:cNvSpPr txBox="1"/>
          <p:nvPr/>
        </p:nvSpPr>
        <p:spPr>
          <a:xfrm>
            <a:off x="457200" y="3931920"/>
            <a:ext cx="12344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 sz="1300" u="none" cap="none" strike="noStrike">
                <a:solidFill>
                  <a:schemeClr val="lt1"/>
                </a:solidFill>
                <a:latin typeface="Calibri"/>
                <a:ea typeface="Calibri"/>
                <a:cs typeface="Calibri"/>
                <a:sym typeface="Calibri"/>
              </a:rPr>
              <a:t>Setor Tunai</a:t>
            </a:r>
            <a:endParaRPr b="0" i="0" sz="1300" u="none" cap="none" strike="noStrike">
              <a:solidFill>
                <a:schemeClr val="dk1"/>
              </a:solidFill>
              <a:latin typeface="Calibri"/>
              <a:ea typeface="Calibri"/>
              <a:cs typeface="Calibri"/>
              <a:sym typeface="Calibri"/>
            </a:endParaRPr>
          </a:p>
        </p:txBody>
      </p:sp>
      <p:sp>
        <p:nvSpPr>
          <p:cNvPr id="709" name="Google Shape;709;p52"/>
          <p:cNvSpPr txBox="1"/>
          <p:nvPr/>
        </p:nvSpPr>
        <p:spPr>
          <a:xfrm>
            <a:off x="1828800" y="3931920"/>
            <a:ext cx="30175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Pencatatan uang tunai TTS yang sudah disetor ke rekening perusahaan.</a:t>
            </a:r>
            <a:endParaRPr b="0" i="0" sz="1200" u="none" cap="none" strike="noStrike">
              <a:solidFill>
                <a:schemeClr val="dk1"/>
              </a:solidFill>
              <a:latin typeface="Calibri"/>
              <a:ea typeface="Calibri"/>
              <a:cs typeface="Calibri"/>
              <a:sym typeface="Calibri"/>
            </a:endParaRPr>
          </a:p>
        </p:txBody>
      </p:sp>
      <p:sp>
        <p:nvSpPr>
          <p:cNvPr id="710" name="Google Shape;710;p52"/>
          <p:cNvSpPr/>
          <p:nvPr/>
        </p:nvSpPr>
        <p:spPr>
          <a:xfrm>
            <a:off x="5120640" y="1097280"/>
            <a:ext cx="3566160" cy="3291840"/>
          </a:xfrm>
          <a:prstGeom prst="roundRect">
            <a:avLst>
              <a:gd fmla="val 277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2"/>
          <p:cNvSpPr txBox="1"/>
          <p:nvPr/>
        </p:nvSpPr>
        <p:spPr>
          <a:xfrm>
            <a:off x="5349240" y="1234440"/>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Status Reserve</a:t>
            </a:r>
            <a:endParaRPr b="0" i="0" sz="1500" u="none" cap="none" strike="noStrike">
              <a:solidFill>
                <a:schemeClr val="dk1"/>
              </a:solidFill>
              <a:latin typeface="Calibri"/>
              <a:ea typeface="Calibri"/>
              <a:cs typeface="Calibri"/>
              <a:sym typeface="Calibri"/>
            </a:endParaRPr>
          </a:p>
        </p:txBody>
      </p:sp>
      <p:sp>
        <p:nvSpPr>
          <p:cNvPr id="712" name="Google Shape;712;p52"/>
          <p:cNvSpPr/>
          <p:nvPr/>
        </p:nvSpPr>
        <p:spPr>
          <a:xfrm>
            <a:off x="5349240" y="1691640"/>
            <a:ext cx="1463040" cy="365760"/>
          </a:xfrm>
          <a:prstGeom prst="roundRect">
            <a:avLst>
              <a:gd fmla="val 50000" name="adj"/>
            </a:avLst>
          </a:prstGeom>
          <a:solidFill>
            <a:srgbClr val="F5E6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52"/>
          <p:cNvSpPr txBox="1"/>
          <p:nvPr/>
        </p:nvSpPr>
        <p:spPr>
          <a:xfrm>
            <a:off x="5349240" y="1691640"/>
            <a:ext cx="1463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200"/>
              <a:buFont typeface="Calibri"/>
              <a:buNone/>
            </a:pPr>
            <a:r>
              <a:rPr b="1" i="0" lang="en" sz="1200" u="none" cap="none" strike="noStrike">
                <a:solidFill>
                  <a:srgbClr val="1F2937"/>
                </a:solidFill>
                <a:latin typeface="Calibri"/>
                <a:ea typeface="Calibri"/>
                <a:cs typeface="Calibri"/>
                <a:sym typeface="Calibri"/>
              </a:rPr>
              <a:t>Reserve</a:t>
            </a:r>
            <a:endParaRPr b="0" i="0" sz="1200" u="none" cap="none" strike="noStrike">
              <a:solidFill>
                <a:schemeClr val="dk1"/>
              </a:solidFill>
              <a:latin typeface="Calibri"/>
              <a:ea typeface="Calibri"/>
              <a:cs typeface="Calibri"/>
              <a:sym typeface="Calibri"/>
            </a:endParaRPr>
          </a:p>
        </p:txBody>
      </p:sp>
      <p:sp>
        <p:nvSpPr>
          <p:cNvPr id="714" name="Google Shape;714;p52"/>
          <p:cNvSpPr/>
          <p:nvPr/>
        </p:nvSpPr>
        <p:spPr>
          <a:xfrm>
            <a:off x="6949440" y="1691640"/>
            <a:ext cx="1463040" cy="365760"/>
          </a:xfrm>
          <a:prstGeom prst="roundRect">
            <a:avLst>
              <a:gd fmla="val 50000" name="adj"/>
            </a:avLst>
          </a:prstGeom>
          <a:solidFill>
            <a:srgbClr val="8A8F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52"/>
          <p:cNvSpPr txBox="1"/>
          <p:nvPr/>
        </p:nvSpPr>
        <p:spPr>
          <a:xfrm>
            <a:off x="6949440" y="1691640"/>
            <a:ext cx="1463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Waitinglist</a:t>
            </a:r>
            <a:endParaRPr b="0" i="0" sz="1200" u="none" cap="none" strike="noStrike">
              <a:solidFill>
                <a:schemeClr val="dk1"/>
              </a:solidFill>
              <a:latin typeface="Calibri"/>
              <a:ea typeface="Calibri"/>
              <a:cs typeface="Calibri"/>
              <a:sym typeface="Calibri"/>
            </a:endParaRPr>
          </a:p>
        </p:txBody>
      </p:sp>
      <p:sp>
        <p:nvSpPr>
          <p:cNvPr id="716" name="Google Shape;716;p52"/>
          <p:cNvSpPr/>
          <p:nvPr/>
        </p:nvSpPr>
        <p:spPr>
          <a:xfrm>
            <a:off x="5349240" y="2194560"/>
            <a:ext cx="1463040" cy="365760"/>
          </a:xfrm>
          <a:prstGeom prst="roundRect">
            <a:avLst>
              <a:gd fmla="val 50000" name="adj"/>
            </a:avLst>
          </a:prstGeom>
          <a:solidFill>
            <a:srgbClr val="5B5B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52"/>
          <p:cNvSpPr txBox="1"/>
          <p:nvPr/>
        </p:nvSpPr>
        <p:spPr>
          <a:xfrm>
            <a:off x="5349240" y="2194560"/>
            <a:ext cx="1463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SP</a:t>
            </a:r>
            <a:endParaRPr b="0" i="0" sz="1200" u="none" cap="none" strike="noStrike">
              <a:solidFill>
                <a:schemeClr val="dk1"/>
              </a:solidFill>
              <a:latin typeface="Calibri"/>
              <a:ea typeface="Calibri"/>
              <a:cs typeface="Calibri"/>
              <a:sym typeface="Calibri"/>
            </a:endParaRPr>
          </a:p>
        </p:txBody>
      </p:sp>
      <p:sp>
        <p:nvSpPr>
          <p:cNvPr id="718" name="Google Shape;718;p52"/>
          <p:cNvSpPr/>
          <p:nvPr/>
        </p:nvSpPr>
        <p:spPr>
          <a:xfrm>
            <a:off x="6949440" y="2194560"/>
            <a:ext cx="1463040" cy="365760"/>
          </a:xfrm>
          <a:prstGeom prst="roundRect">
            <a:avLst>
              <a:gd fmla="val 50000" name="adj"/>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2"/>
          <p:cNvSpPr txBox="1"/>
          <p:nvPr/>
        </p:nvSpPr>
        <p:spPr>
          <a:xfrm>
            <a:off x="6949440" y="2194560"/>
            <a:ext cx="1463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SP Batal</a:t>
            </a:r>
            <a:endParaRPr b="0" i="0" sz="1200" u="none" cap="none" strike="noStrike">
              <a:solidFill>
                <a:schemeClr val="dk1"/>
              </a:solidFill>
              <a:latin typeface="Calibri"/>
              <a:ea typeface="Calibri"/>
              <a:cs typeface="Calibri"/>
              <a:sym typeface="Calibri"/>
            </a:endParaRPr>
          </a:p>
        </p:txBody>
      </p:sp>
      <p:sp>
        <p:nvSpPr>
          <p:cNvPr id="720" name="Google Shape;720;p52"/>
          <p:cNvSpPr/>
          <p:nvPr/>
        </p:nvSpPr>
        <p:spPr>
          <a:xfrm>
            <a:off x="5349240" y="2697480"/>
            <a:ext cx="1463040" cy="365760"/>
          </a:xfrm>
          <a:prstGeom prst="roundRect">
            <a:avLst>
              <a:gd fmla="val 50000" name="adj"/>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52"/>
          <p:cNvSpPr txBox="1"/>
          <p:nvPr/>
        </p:nvSpPr>
        <p:spPr>
          <a:xfrm>
            <a:off x="5349240" y="2697480"/>
            <a:ext cx="1463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Reserve Batal</a:t>
            </a:r>
            <a:endParaRPr b="0" i="0" sz="1200" u="none" cap="none" strike="noStrike">
              <a:solidFill>
                <a:schemeClr val="dk1"/>
              </a:solidFill>
              <a:latin typeface="Calibri"/>
              <a:ea typeface="Calibri"/>
              <a:cs typeface="Calibri"/>
              <a:sym typeface="Calibri"/>
            </a:endParaRPr>
          </a:p>
        </p:txBody>
      </p:sp>
      <p:sp>
        <p:nvSpPr>
          <p:cNvPr id="722" name="Google Shape;722;p52"/>
          <p:cNvSpPr/>
          <p:nvPr/>
        </p:nvSpPr>
        <p:spPr>
          <a:xfrm>
            <a:off x="6949440" y="2697480"/>
            <a:ext cx="1463040" cy="365760"/>
          </a:xfrm>
          <a:prstGeom prst="roundRect">
            <a:avLst>
              <a:gd fmla="val 50000" name="adj"/>
            </a:avLst>
          </a:prstGeom>
          <a:solidFill>
            <a:srgbClr val="E0E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52"/>
          <p:cNvSpPr txBox="1"/>
          <p:nvPr/>
        </p:nvSpPr>
        <p:spPr>
          <a:xfrm>
            <a:off x="6949440" y="2697480"/>
            <a:ext cx="1463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1B4B"/>
              </a:buClr>
              <a:buSzPts val="1200"/>
              <a:buFont typeface="Calibri"/>
              <a:buNone/>
            </a:pPr>
            <a:r>
              <a:rPr b="1" i="0" lang="en" sz="1200" u="none" cap="none" strike="noStrike">
                <a:solidFill>
                  <a:srgbClr val="1E1B4B"/>
                </a:solidFill>
                <a:latin typeface="Calibri"/>
                <a:ea typeface="Calibri"/>
                <a:cs typeface="Calibri"/>
                <a:sym typeface="Calibri"/>
              </a:rPr>
              <a:t>RBB</a:t>
            </a:r>
            <a:endParaRPr b="0" i="0" sz="1200" u="none" cap="none" strike="noStrike">
              <a:solidFill>
                <a:schemeClr val="dk1"/>
              </a:solidFill>
              <a:latin typeface="Calibri"/>
              <a:ea typeface="Calibri"/>
              <a:cs typeface="Calibri"/>
              <a:sym typeface="Calibri"/>
            </a:endParaRPr>
          </a:p>
        </p:txBody>
      </p:sp>
      <p:sp>
        <p:nvSpPr>
          <p:cNvPr id="724" name="Google Shape;724;p52"/>
          <p:cNvSpPr/>
          <p:nvPr/>
        </p:nvSpPr>
        <p:spPr>
          <a:xfrm>
            <a:off x="5349240" y="3200400"/>
            <a:ext cx="1463040" cy="365760"/>
          </a:xfrm>
          <a:prstGeom prst="roundRect">
            <a:avLst>
              <a:gd fmla="val 50000" name="adj"/>
            </a:avLst>
          </a:prstGeom>
          <a:solidFill>
            <a:srgbClr val="E0E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52"/>
          <p:cNvSpPr txBox="1"/>
          <p:nvPr/>
        </p:nvSpPr>
        <p:spPr>
          <a:xfrm>
            <a:off x="5349240" y="3200400"/>
            <a:ext cx="1463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1B4B"/>
              </a:buClr>
              <a:buSzPts val="1200"/>
              <a:buFont typeface="Calibri"/>
              <a:buNone/>
            </a:pPr>
            <a:r>
              <a:rPr b="1" i="0" lang="en" sz="1200" u="none" cap="none" strike="noStrike">
                <a:solidFill>
                  <a:srgbClr val="1E1B4B"/>
                </a:solidFill>
                <a:latin typeface="Calibri"/>
                <a:ea typeface="Calibri"/>
                <a:cs typeface="Calibri"/>
                <a:sym typeface="Calibri"/>
              </a:rPr>
              <a:t>RBA</a:t>
            </a:r>
            <a:endParaRPr b="0" i="0" sz="1200" u="none" cap="none" strike="noStrike">
              <a:solidFill>
                <a:schemeClr val="dk1"/>
              </a:solidFill>
              <a:latin typeface="Calibri"/>
              <a:ea typeface="Calibri"/>
              <a:cs typeface="Calibri"/>
              <a:sym typeface="Calibri"/>
            </a:endParaRPr>
          </a:p>
        </p:txBody>
      </p:sp>
      <p:sp>
        <p:nvSpPr>
          <p:cNvPr id="726" name="Google Shape;726;p52"/>
          <p:cNvSpPr txBox="1"/>
          <p:nvPr/>
        </p:nvSpPr>
        <p:spPr>
          <a:xfrm>
            <a:off x="5349240" y="3749040"/>
            <a:ext cx="31546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1" lang="en" sz="1100" u="none" cap="none" strike="noStrike">
                <a:solidFill>
                  <a:schemeClr val="accent5"/>
                </a:solidFill>
                <a:latin typeface="Calibri"/>
                <a:ea typeface="Calibri"/>
                <a:cs typeface="Calibri"/>
                <a:sym typeface="Calibri"/>
              </a:rPr>
              <a:t>Warna badge di atas mengikuti tampilan aplikasi. Daftar status lengkap ada di Filter › Status Reserve.</a:t>
            </a:r>
            <a:endParaRPr b="0" i="0" sz="1100" u="none" cap="none" strike="noStrike">
              <a:solidFill>
                <a:schemeClr val="dk1"/>
              </a:solidFill>
              <a:latin typeface="Calibri"/>
              <a:ea typeface="Calibri"/>
              <a:cs typeface="Calibri"/>
              <a:sym typeface="Calibri"/>
            </a:endParaRPr>
          </a:p>
        </p:txBody>
      </p:sp>
      <p:sp>
        <p:nvSpPr>
          <p:cNvPr id="727" name="Google Shape;727;p52"/>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3"/>
          <p:cNvSpPr txBox="1"/>
          <p:nvPr>
            <p:ph type="title"/>
          </p:nvPr>
        </p:nvSpPr>
        <p:spPr>
          <a:xfrm>
            <a:off x="548640" y="1828800"/>
            <a:ext cx="804672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 sz="3600">
                <a:solidFill>
                  <a:schemeClr val="lt1"/>
                </a:solidFill>
              </a:rPr>
              <a:t>Mengenal halaman Reserve Order</a:t>
            </a:r>
            <a:endParaRPr sz="3600"/>
          </a:p>
        </p:txBody>
      </p:sp>
      <p:sp>
        <p:nvSpPr>
          <p:cNvPr id="734" name="Google Shape;734;p53"/>
          <p:cNvSpPr txBox="1"/>
          <p:nvPr>
            <p:ph idx="1" type="body"/>
          </p:nvPr>
        </p:nvSpPr>
        <p:spPr>
          <a:xfrm>
            <a:off x="548640" y="2834640"/>
            <a:ext cx="8046720" cy="7315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rPr lang="en" sz="1600">
                <a:solidFill>
                  <a:schemeClr val="lt2"/>
                </a:solidFill>
              </a:rPr>
              <a:t>Menu Sales Pipeline › Reserve Order</a:t>
            </a:r>
            <a:endParaRPr sz="1600"/>
          </a:p>
        </p:txBody>
      </p:sp>
      <p:sp>
        <p:nvSpPr>
          <p:cNvPr id="735" name="Google Shape;735;p53"/>
          <p:cNvSpPr txBox="1"/>
          <p:nvPr>
            <p:ph idx="4294967295"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54"/>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Tampilan utama halaman Reserve Order</a:t>
            </a:r>
            <a:endParaRPr sz="2800"/>
          </a:p>
        </p:txBody>
      </p:sp>
      <p:sp>
        <p:nvSpPr>
          <p:cNvPr id="742" name="Google Shape;742;p54"/>
          <p:cNvSpPr/>
          <p:nvPr/>
        </p:nvSpPr>
        <p:spPr>
          <a:xfrm>
            <a:off x="402336" y="996696"/>
            <a:ext cx="5230368" cy="3082834"/>
          </a:xfrm>
          <a:prstGeom prst="roundRect">
            <a:avLst>
              <a:gd fmla="val 2373"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alaman Reserve Order tab Kasir" id="743" name="Google Shape;743;p54"/>
          <p:cNvPicPr preferRelativeResize="0"/>
          <p:nvPr/>
        </p:nvPicPr>
        <p:blipFill rotWithShape="1">
          <a:blip r:embed="rId3">
            <a:alphaModFix/>
          </a:blip>
          <a:srcRect b="0" l="0" r="0" t="0"/>
          <a:stretch/>
        </p:blipFill>
        <p:spPr>
          <a:xfrm>
            <a:off x="457200" y="1051560"/>
            <a:ext cx="5120640" cy="2973106"/>
          </a:xfrm>
          <a:prstGeom prst="rect">
            <a:avLst/>
          </a:prstGeom>
          <a:noFill/>
          <a:ln>
            <a:noFill/>
          </a:ln>
        </p:spPr>
      </p:pic>
      <p:sp>
        <p:nvSpPr>
          <p:cNvPr id="744" name="Google Shape;744;p54"/>
          <p:cNvSpPr/>
          <p:nvPr/>
        </p:nvSpPr>
        <p:spPr>
          <a:xfrm>
            <a:off x="1658983" y="1563624"/>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54"/>
          <p:cNvSpPr txBox="1"/>
          <p:nvPr/>
        </p:nvSpPr>
        <p:spPr>
          <a:xfrm>
            <a:off x="1658983" y="15636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746" name="Google Shape;746;p54"/>
          <p:cNvSpPr/>
          <p:nvPr/>
        </p:nvSpPr>
        <p:spPr>
          <a:xfrm>
            <a:off x="4585063" y="1375519"/>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54"/>
          <p:cNvSpPr txBox="1"/>
          <p:nvPr/>
        </p:nvSpPr>
        <p:spPr>
          <a:xfrm>
            <a:off x="4585063" y="1375519"/>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748" name="Google Shape;748;p54"/>
          <p:cNvSpPr/>
          <p:nvPr/>
        </p:nvSpPr>
        <p:spPr>
          <a:xfrm>
            <a:off x="3174274" y="1939834"/>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54"/>
          <p:cNvSpPr txBox="1"/>
          <p:nvPr/>
        </p:nvSpPr>
        <p:spPr>
          <a:xfrm>
            <a:off x="3174274" y="193983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750" name="Google Shape;750;p54"/>
          <p:cNvSpPr/>
          <p:nvPr/>
        </p:nvSpPr>
        <p:spPr>
          <a:xfrm>
            <a:off x="5316583" y="1939834"/>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54"/>
          <p:cNvSpPr txBox="1"/>
          <p:nvPr/>
        </p:nvSpPr>
        <p:spPr>
          <a:xfrm>
            <a:off x="5316583" y="193983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752" name="Google Shape;752;p54"/>
          <p:cNvSpPr/>
          <p:nvPr/>
        </p:nvSpPr>
        <p:spPr>
          <a:xfrm>
            <a:off x="2965269" y="3115491"/>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54"/>
          <p:cNvSpPr txBox="1"/>
          <p:nvPr/>
        </p:nvSpPr>
        <p:spPr>
          <a:xfrm>
            <a:off x="2965269" y="3115491"/>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754" name="Google Shape;754;p54"/>
          <p:cNvSpPr/>
          <p:nvPr/>
        </p:nvSpPr>
        <p:spPr>
          <a:xfrm>
            <a:off x="5897880" y="10698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54"/>
          <p:cNvSpPr txBox="1"/>
          <p:nvPr/>
        </p:nvSpPr>
        <p:spPr>
          <a:xfrm>
            <a:off x="5897880"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756" name="Google Shape;756;p54"/>
          <p:cNvSpPr txBox="1"/>
          <p:nvPr/>
        </p:nvSpPr>
        <p:spPr>
          <a:xfrm>
            <a:off x="6309360" y="105156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Tab kerja</a:t>
            </a:r>
            <a:endParaRPr b="0" i="0" sz="1500" u="none" cap="none" strike="noStrike">
              <a:solidFill>
                <a:schemeClr val="dk1"/>
              </a:solidFill>
              <a:latin typeface="Calibri"/>
              <a:ea typeface="Calibri"/>
              <a:cs typeface="Calibri"/>
              <a:sym typeface="Calibri"/>
            </a:endParaRPr>
          </a:p>
        </p:txBody>
      </p:sp>
      <p:sp>
        <p:nvSpPr>
          <p:cNvPr id="757" name="Google Shape;757;p54"/>
          <p:cNvSpPr txBox="1"/>
          <p:nvPr/>
        </p:nvSpPr>
        <p:spPr>
          <a:xfrm>
            <a:off x="6309360" y="1353312"/>
            <a:ext cx="2377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Kasir · Approved Kasir · Setor Tunai</a:t>
            </a:r>
            <a:endParaRPr b="0" i="0" sz="1300" u="none" cap="none" strike="noStrike">
              <a:solidFill>
                <a:schemeClr val="dk1"/>
              </a:solidFill>
              <a:latin typeface="Calibri"/>
              <a:ea typeface="Calibri"/>
              <a:cs typeface="Calibri"/>
              <a:sym typeface="Calibri"/>
            </a:endParaRPr>
          </a:p>
        </p:txBody>
      </p:sp>
      <p:sp>
        <p:nvSpPr>
          <p:cNvPr id="758" name="Google Shape;758;p54"/>
          <p:cNvSpPr/>
          <p:nvPr/>
        </p:nvSpPr>
        <p:spPr>
          <a:xfrm>
            <a:off x="5897880" y="17556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54"/>
          <p:cNvSpPr txBox="1"/>
          <p:nvPr/>
        </p:nvSpPr>
        <p:spPr>
          <a:xfrm>
            <a:off x="5897880" y="17556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760" name="Google Shape;760;p54"/>
          <p:cNvSpPr txBox="1"/>
          <p:nvPr/>
        </p:nvSpPr>
        <p:spPr>
          <a:xfrm>
            <a:off x="6309360" y="173736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Buat Reserve Order</a:t>
            </a:r>
            <a:endParaRPr b="0" i="0" sz="1500" u="none" cap="none" strike="noStrike">
              <a:solidFill>
                <a:schemeClr val="dk1"/>
              </a:solidFill>
              <a:latin typeface="Calibri"/>
              <a:ea typeface="Calibri"/>
              <a:cs typeface="Calibri"/>
              <a:sym typeface="Calibri"/>
            </a:endParaRPr>
          </a:p>
        </p:txBody>
      </p:sp>
      <p:sp>
        <p:nvSpPr>
          <p:cNvPr id="761" name="Google Shape;761;p54"/>
          <p:cNvSpPr txBox="1"/>
          <p:nvPr/>
        </p:nvSpPr>
        <p:spPr>
          <a:xfrm>
            <a:off x="6309360" y="2039112"/>
            <a:ext cx="2377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Membuat RO baru</a:t>
            </a:r>
            <a:endParaRPr b="0" i="0" sz="1300" u="none" cap="none" strike="noStrike">
              <a:solidFill>
                <a:schemeClr val="dk1"/>
              </a:solidFill>
              <a:latin typeface="Calibri"/>
              <a:ea typeface="Calibri"/>
              <a:cs typeface="Calibri"/>
              <a:sym typeface="Calibri"/>
            </a:endParaRPr>
          </a:p>
        </p:txBody>
      </p:sp>
      <p:sp>
        <p:nvSpPr>
          <p:cNvPr id="762" name="Google Shape;762;p54"/>
          <p:cNvSpPr/>
          <p:nvPr/>
        </p:nvSpPr>
        <p:spPr>
          <a:xfrm>
            <a:off x="5897880" y="24414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54"/>
          <p:cNvSpPr txBox="1"/>
          <p:nvPr/>
        </p:nvSpPr>
        <p:spPr>
          <a:xfrm>
            <a:off x="5897880" y="24414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764" name="Google Shape;764;p54"/>
          <p:cNvSpPr txBox="1"/>
          <p:nvPr/>
        </p:nvSpPr>
        <p:spPr>
          <a:xfrm>
            <a:off x="6309360" y="242316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Pencarian</a:t>
            </a:r>
            <a:endParaRPr b="0" i="0" sz="1500" u="none" cap="none" strike="noStrike">
              <a:solidFill>
                <a:schemeClr val="dk1"/>
              </a:solidFill>
              <a:latin typeface="Calibri"/>
              <a:ea typeface="Calibri"/>
              <a:cs typeface="Calibri"/>
              <a:sym typeface="Calibri"/>
            </a:endParaRPr>
          </a:p>
        </p:txBody>
      </p:sp>
      <p:sp>
        <p:nvSpPr>
          <p:cNvPr id="765" name="Google Shape;765;p54"/>
          <p:cNvSpPr txBox="1"/>
          <p:nvPr/>
        </p:nvSpPr>
        <p:spPr>
          <a:xfrm>
            <a:off x="6309360" y="2724912"/>
            <a:ext cx="2377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No. reserve, nama, HP, property</a:t>
            </a:r>
            <a:endParaRPr b="0" i="0" sz="1300" u="none" cap="none" strike="noStrike">
              <a:solidFill>
                <a:schemeClr val="dk1"/>
              </a:solidFill>
              <a:latin typeface="Calibri"/>
              <a:ea typeface="Calibri"/>
              <a:cs typeface="Calibri"/>
              <a:sym typeface="Calibri"/>
            </a:endParaRPr>
          </a:p>
        </p:txBody>
      </p:sp>
      <p:sp>
        <p:nvSpPr>
          <p:cNvPr id="766" name="Google Shape;766;p54"/>
          <p:cNvSpPr/>
          <p:nvPr/>
        </p:nvSpPr>
        <p:spPr>
          <a:xfrm>
            <a:off x="5897880" y="31272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54"/>
          <p:cNvSpPr txBox="1"/>
          <p:nvPr/>
        </p:nvSpPr>
        <p:spPr>
          <a:xfrm>
            <a:off x="5897880" y="31272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768" name="Google Shape;768;p54"/>
          <p:cNvSpPr txBox="1"/>
          <p:nvPr/>
        </p:nvSpPr>
        <p:spPr>
          <a:xfrm>
            <a:off x="6309360" y="310896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Urutkan, Filter, Refresh</a:t>
            </a:r>
            <a:endParaRPr b="0" i="0" sz="1500" u="none" cap="none" strike="noStrike">
              <a:solidFill>
                <a:schemeClr val="dk1"/>
              </a:solidFill>
              <a:latin typeface="Calibri"/>
              <a:ea typeface="Calibri"/>
              <a:cs typeface="Calibri"/>
              <a:sym typeface="Calibri"/>
            </a:endParaRPr>
          </a:p>
        </p:txBody>
      </p:sp>
      <p:sp>
        <p:nvSpPr>
          <p:cNvPr id="769" name="Google Shape;769;p54"/>
          <p:cNvSpPr txBox="1"/>
          <p:nvPr/>
        </p:nvSpPr>
        <p:spPr>
          <a:xfrm>
            <a:off x="6309360" y="3410712"/>
            <a:ext cx="2377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Terbaru, Terlama, Nama A–Z/Z–A</a:t>
            </a:r>
            <a:endParaRPr b="0" i="0" sz="1300" u="none" cap="none" strike="noStrike">
              <a:solidFill>
                <a:schemeClr val="dk1"/>
              </a:solidFill>
              <a:latin typeface="Calibri"/>
              <a:ea typeface="Calibri"/>
              <a:cs typeface="Calibri"/>
              <a:sym typeface="Calibri"/>
            </a:endParaRPr>
          </a:p>
        </p:txBody>
      </p:sp>
      <p:sp>
        <p:nvSpPr>
          <p:cNvPr id="770" name="Google Shape;770;p54"/>
          <p:cNvSpPr/>
          <p:nvPr/>
        </p:nvSpPr>
        <p:spPr>
          <a:xfrm>
            <a:off x="5897880" y="38130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54"/>
          <p:cNvSpPr txBox="1"/>
          <p:nvPr/>
        </p:nvSpPr>
        <p:spPr>
          <a:xfrm>
            <a:off x="5897880" y="38130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772" name="Google Shape;772;p54"/>
          <p:cNvSpPr txBox="1"/>
          <p:nvPr/>
        </p:nvSpPr>
        <p:spPr>
          <a:xfrm>
            <a:off x="6309360" y="379476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Tabel RO</a:t>
            </a:r>
            <a:endParaRPr b="0" i="0" sz="1500" u="none" cap="none" strike="noStrike">
              <a:solidFill>
                <a:schemeClr val="dk1"/>
              </a:solidFill>
              <a:latin typeface="Calibri"/>
              <a:ea typeface="Calibri"/>
              <a:cs typeface="Calibri"/>
              <a:sym typeface="Calibri"/>
            </a:endParaRPr>
          </a:p>
        </p:txBody>
      </p:sp>
      <p:sp>
        <p:nvSpPr>
          <p:cNvPr id="773" name="Google Shape;773;p54"/>
          <p:cNvSpPr txBox="1"/>
          <p:nvPr/>
        </p:nvSpPr>
        <p:spPr>
          <a:xfrm>
            <a:off x="6309360" y="4096512"/>
            <a:ext cx="2377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Klik baris → halaman dokumen</a:t>
            </a:r>
            <a:endParaRPr b="0" i="0" sz="1300" u="none" cap="none" strike="noStrike">
              <a:solidFill>
                <a:schemeClr val="dk1"/>
              </a:solidFill>
              <a:latin typeface="Calibri"/>
              <a:ea typeface="Calibri"/>
              <a:cs typeface="Calibri"/>
              <a:sym typeface="Calibri"/>
            </a:endParaRPr>
          </a:p>
        </p:txBody>
      </p:sp>
      <p:sp>
        <p:nvSpPr>
          <p:cNvPr id="774" name="Google Shape;774;p54"/>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55"/>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Tiga tab kerja Kasir</a:t>
            </a:r>
            <a:endParaRPr sz="2800"/>
          </a:p>
        </p:txBody>
      </p:sp>
      <p:sp>
        <p:nvSpPr>
          <p:cNvPr id="781" name="Google Shape;781;p55"/>
          <p:cNvSpPr/>
          <p:nvPr/>
        </p:nvSpPr>
        <p:spPr>
          <a:xfrm>
            <a:off x="457200" y="1097280"/>
            <a:ext cx="2606040" cy="3383280"/>
          </a:xfrm>
          <a:prstGeom prst="roundRect">
            <a:avLst>
              <a:gd fmla="val 3509"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55"/>
          <p:cNvSpPr/>
          <p:nvPr/>
        </p:nvSpPr>
        <p:spPr>
          <a:xfrm>
            <a:off x="685800" y="1325880"/>
            <a:ext cx="640080" cy="64008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3" name="Google Shape;783;p55"/>
          <p:cNvPicPr preferRelativeResize="0"/>
          <p:nvPr/>
        </p:nvPicPr>
        <p:blipFill rotWithShape="1">
          <a:blip r:embed="rId3">
            <a:alphaModFix/>
          </a:blip>
          <a:srcRect b="0" l="0" r="0" t="0"/>
          <a:stretch/>
        </p:blipFill>
        <p:spPr>
          <a:xfrm>
            <a:off x="839419" y="1479499"/>
            <a:ext cx="332842" cy="332842"/>
          </a:xfrm>
          <a:prstGeom prst="rect">
            <a:avLst/>
          </a:prstGeom>
          <a:noFill/>
          <a:ln>
            <a:noFill/>
          </a:ln>
        </p:spPr>
      </p:pic>
      <p:sp>
        <p:nvSpPr>
          <p:cNvPr id="784" name="Google Shape;784;p55"/>
          <p:cNvSpPr txBox="1"/>
          <p:nvPr/>
        </p:nvSpPr>
        <p:spPr>
          <a:xfrm>
            <a:off x="685800" y="214884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 sz="1800" u="none" cap="none" strike="noStrike">
                <a:solidFill>
                  <a:schemeClr val="lt1"/>
                </a:solidFill>
                <a:latin typeface="Calibri"/>
                <a:ea typeface="Calibri"/>
                <a:cs typeface="Calibri"/>
                <a:sym typeface="Calibri"/>
              </a:rPr>
              <a:t>Kasir</a:t>
            </a:r>
            <a:endParaRPr b="0" i="0" sz="1800" u="none" cap="none" strike="noStrike">
              <a:solidFill>
                <a:schemeClr val="dk1"/>
              </a:solidFill>
              <a:latin typeface="Calibri"/>
              <a:ea typeface="Calibri"/>
              <a:cs typeface="Calibri"/>
              <a:sym typeface="Calibri"/>
            </a:endParaRPr>
          </a:p>
        </p:txBody>
      </p:sp>
      <p:sp>
        <p:nvSpPr>
          <p:cNvPr id="785" name="Google Shape;785;p55"/>
          <p:cNvSpPr txBox="1"/>
          <p:nvPr/>
        </p:nvSpPr>
        <p:spPr>
          <a:xfrm>
            <a:off x="685800" y="2560320"/>
            <a:ext cx="21945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 sz="1300" u="none" cap="none" strike="noStrike">
                <a:solidFill>
                  <a:schemeClr val="lt1"/>
                </a:solidFill>
                <a:latin typeface="Calibri"/>
                <a:ea typeface="Calibri"/>
                <a:cs typeface="Calibri"/>
                <a:sym typeface="Calibri"/>
              </a:rPr>
              <a:t>Antrian kerja: RO yang masih menunggu keputusan Kasir atau punya pembayaran baru (top up) yang belum diverifikasi.</a:t>
            </a:r>
            <a:endParaRPr b="0" i="0" sz="1300" u="none" cap="none" strike="noStrike">
              <a:solidFill>
                <a:schemeClr val="dk1"/>
              </a:solidFill>
              <a:latin typeface="Calibri"/>
              <a:ea typeface="Calibri"/>
              <a:cs typeface="Calibri"/>
              <a:sym typeface="Calibri"/>
            </a:endParaRPr>
          </a:p>
        </p:txBody>
      </p:sp>
      <p:sp>
        <p:nvSpPr>
          <p:cNvPr id="786" name="Google Shape;786;p55"/>
          <p:cNvSpPr txBox="1"/>
          <p:nvPr/>
        </p:nvSpPr>
        <p:spPr>
          <a:xfrm>
            <a:off x="685800" y="397764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E663"/>
              </a:buClr>
              <a:buSzPts val="1200"/>
              <a:buFont typeface="Calibri"/>
              <a:buNone/>
            </a:pPr>
            <a:r>
              <a:rPr b="1" i="1" lang="en" sz="1200" u="none" cap="none" strike="noStrike">
                <a:solidFill>
                  <a:srgbClr val="F5E663"/>
                </a:solidFill>
                <a:latin typeface="Calibri"/>
                <a:ea typeface="Calibri"/>
                <a:cs typeface="Calibri"/>
                <a:sym typeface="Calibri"/>
              </a:rPr>
              <a:t>Mulai hari kerja di sini</a:t>
            </a:r>
            <a:endParaRPr b="0" i="0" sz="1200" u="none" cap="none" strike="noStrike">
              <a:solidFill>
                <a:schemeClr val="dk1"/>
              </a:solidFill>
              <a:latin typeface="Calibri"/>
              <a:ea typeface="Calibri"/>
              <a:cs typeface="Calibri"/>
              <a:sym typeface="Calibri"/>
            </a:endParaRPr>
          </a:p>
        </p:txBody>
      </p:sp>
      <p:sp>
        <p:nvSpPr>
          <p:cNvPr id="787" name="Google Shape;787;p55"/>
          <p:cNvSpPr/>
          <p:nvPr/>
        </p:nvSpPr>
        <p:spPr>
          <a:xfrm>
            <a:off x="3246120" y="1097280"/>
            <a:ext cx="2606040" cy="3383280"/>
          </a:xfrm>
          <a:prstGeom prst="roundRect">
            <a:avLst>
              <a:gd fmla="val 350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55"/>
          <p:cNvSpPr/>
          <p:nvPr/>
        </p:nvSpPr>
        <p:spPr>
          <a:xfrm>
            <a:off x="3474720" y="1325880"/>
            <a:ext cx="640080" cy="6400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9" name="Google Shape;789;p55"/>
          <p:cNvPicPr preferRelativeResize="0"/>
          <p:nvPr/>
        </p:nvPicPr>
        <p:blipFill rotWithShape="1">
          <a:blip r:embed="rId4">
            <a:alphaModFix/>
          </a:blip>
          <a:srcRect b="0" l="0" r="0" t="0"/>
          <a:stretch/>
        </p:blipFill>
        <p:spPr>
          <a:xfrm>
            <a:off x="3628339" y="1479499"/>
            <a:ext cx="332842" cy="332842"/>
          </a:xfrm>
          <a:prstGeom prst="rect">
            <a:avLst/>
          </a:prstGeom>
          <a:noFill/>
          <a:ln>
            <a:noFill/>
          </a:ln>
        </p:spPr>
      </p:pic>
      <p:sp>
        <p:nvSpPr>
          <p:cNvPr id="790" name="Google Shape;790;p55"/>
          <p:cNvSpPr txBox="1"/>
          <p:nvPr/>
        </p:nvSpPr>
        <p:spPr>
          <a:xfrm>
            <a:off x="3474720" y="214884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libri"/>
              <a:buNone/>
            </a:pPr>
            <a:r>
              <a:rPr b="1" i="0" lang="en" sz="1800" u="none" cap="none" strike="noStrike">
                <a:solidFill>
                  <a:schemeClr val="dk2"/>
                </a:solidFill>
                <a:latin typeface="Calibri"/>
                <a:ea typeface="Calibri"/>
                <a:cs typeface="Calibri"/>
                <a:sym typeface="Calibri"/>
              </a:rPr>
              <a:t>Approved Kasir</a:t>
            </a:r>
            <a:endParaRPr b="0" i="0" sz="1800" u="none" cap="none" strike="noStrike">
              <a:solidFill>
                <a:schemeClr val="dk1"/>
              </a:solidFill>
              <a:latin typeface="Calibri"/>
              <a:ea typeface="Calibri"/>
              <a:cs typeface="Calibri"/>
              <a:sym typeface="Calibri"/>
            </a:endParaRPr>
          </a:p>
        </p:txBody>
      </p:sp>
      <p:sp>
        <p:nvSpPr>
          <p:cNvPr id="791" name="Google Shape;791;p55"/>
          <p:cNvSpPr txBox="1"/>
          <p:nvPr/>
        </p:nvSpPr>
        <p:spPr>
          <a:xfrm>
            <a:off x="3474720" y="2560320"/>
            <a:ext cx="21945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RO yang sudah disetujui Kasir. Dipakai untuk penelusuran &amp; pengecekan ulang.</a:t>
            </a:r>
            <a:endParaRPr b="0" i="0" sz="1300" u="none" cap="none" strike="noStrike">
              <a:solidFill>
                <a:schemeClr val="dk1"/>
              </a:solidFill>
              <a:latin typeface="Calibri"/>
              <a:ea typeface="Calibri"/>
              <a:cs typeface="Calibri"/>
              <a:sym typeface="Calibri"/>
            </a:endParaRPr>
          </a:p>
        </p:txBody>
      </p:sp>
      <p:sp>
        <p:nvSpPr>
          <p:cNvPr id="792" name="Google Shape;792;p55"/>
          <p:cNvSpPr txBox="1"/>
          <p:nvPr/>
        </p:nvSpPr>
        <p:spPr>
          <a:xfrm>
            <a:off x="3474720" y="397764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i="1" lang="en" sz="1200" u="none" cap="none" strike="noStrike">
                <a:solidFill>
                  <a:schemeClr val="accent1"/>
                </a:solidFill>
                <a:latin typeface="Calibri"/>
                <a:ea typeface="Calibri"/>
                <a:cs typeface="Calibri"/>
                <a:sym typeface="Calibri"/>
              </a:rPr>
              <a:t>Untuk referensi &amp; audit</a:t>
            </a:r>
            <a:endParaRPr b="0" i="0" sz="1200" u="none" cap="none" strike="noStrike">
              <a:solidFill>
                <a:schemeClr val="dk1"/>
              </a:solidFill>
              <a:latin typeface="Calibri"/>
              <a:ea typeface="Calibri"/>
              <a:cs typeface="Calibri"/>
              <a:sym typeface="Calibri"/>
            </a:endParaRPr>
          </a:p>
        </p:txBody>
      </p:sp>
      <p:sp>
        <p:nvSpPr>
          <p:cNvPr id="793" name="Google Shape;793;p55"/>
          <p:cNvSpPr/>
          <p:nvPr/>
        </p:nvSpPr>
        <p:spPr>
          <a:xfrm>
            <a:off x="6035040" y="1097280"/>
            <a:ext cx="2606040" cy="3383280"/>
          </a:xfrm>
          <a:prstGeom prst="roundRect">
            <a:avLst>
              <a:gd fmla="val 350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55"/>
          <p:cNvSpPr/>
          <p:nvPr/>
        </p:nvSpPr>
        <p:spPr>
          <a:xfrm>
            <a:off x="6263640" y="1325880"/>
            <a:ext cx="640080" cy="6400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95" name="Google Shape;795;p55"/>
          <p:cNvPicPr preferRelativeResize="0"/>
          <p:nvPr/>
        </p:nvPicPr>
        <p:blipFill rotWithShape="1">
          <a:blip r:embed="rId5">
            <a:alphaModFix/>
          </a:blip>
          <a:srcRect b="0" l="0" r="0" t="0"/>
          <a:stretch/>
        </p:blipFill>
        <p:spPr>
          <a:xfrm>
            <a:off x="6417259" y="1479499"/>
            <a:ext cx="332842" cy="332842"/>
          </a:xfrm>
          <a:prstGeom prst="rect">
            <a:avLst/>
          </a:prstGeom>
          <a:noFill/>
          <a:ln>
            <a:noFill/>
          </a:ln>
        </p:spPr>
      </p:pic>
      <p:sp>
        <p:nvSpPr>
          <p:cNvPr id="796" name="Google Shape;796;p55"/>
          <p:cNvSpPr txBox="1"/>
          <p:nvPr/>
        </p:nvSpPr>
        <p:spPr>
          <a:xfrm>
            <a:off x="6263640" y="214884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libri"/>
              <a:buNone/>
            </a:pPr>
            <a:r>
              <a:rPr b="1" i="0" lang="en" sz="1800" u="none" cap="none" strike="noStrike">
                <a:solidFill>
                  <a:schemeClr val="dk2"/>
                </a:solidFill>
                <a:latin typeface="Calibri"/>
                <a:ea typeface="Calibri"/>
                <a:cs typeface="Calibri"/>
                <a:sym typeface="Calibri"/>
              </a:rPr>
              <a:t>Setor Tunai</a:t>
            </a:r>
            <a:endParaRPr b="0" i="0" sz="1800" u="none" cap="none" strike="noStrike">
              <a:solidFill>
                <a:schemeClr val="dk1"/>
              </a:solidFill>
              <a:latin typeface="Calibri"/>
              <a:ea typeface="Calibri"/>
              <a:cs typeface="Calibri"/>
              <a:sym typeface="Calibri"/>
            </a:endParaRPr>
          </a:p>
        </p:txBody>
      </p:sp>
      <p:sp>
        <p:nvSpPr>
          <p:cNvPr id="797" name="Google Shape;797;p55"/>
          <p:cNvSpPr txBox="1"/>
          <p:nvPr/>
        </p:nvSpPr>
        <p:spPr>
          <a:xfrm>
            <a:off x="6263640" y="2560320"/>
            <a:ext cx="21945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Daftar TTS dengan pembayaran tunai. Default filter: Belum Disetor (pilihan lain: Sudah Disetor, Semua).</a:t>
            </a:r>
            <a:endParaRPr b="0" i="0" sz="1300" u="none" cap="none" strike="noStrike">
              <a:solidFill>
                <a:schemeClr val="dk1"/>
              </a:solidFill>
              <a:latin typeface="Calibri"/>
              <a:ea typeface="Calibri"/>
              <a:cs typeface="Calibri"/>
              <a:sym typeface="Calibri"/>
            </a:endParaRPr>
          </a:p>
        </p:txBody>
      </p:sp>
      <p:sp>
        <p:nvSpPr>
          <p:cNvPr id="798" name="Google Shape;798;p55"/>
          <p:cNvSpPr txBox="1"/>
          <p:nvPr/>
        </p:nvSpPr>
        <p:spPr>
          <a:xfrm>
            <a:off x="6263640" y="397764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i="1" lang="en" sz="1200" u="none" cap="none" strike="noStrike">
                <a:solidFill>
                  <a:schemeClr val="accent1"/>
                </a:solidFill>
                <a:latin typeface="Calibri"/>
                <a:ea typeface="Calibri"/>
                <a:cs typeface="Calibri"/>
                <a:sym typeface="Calibri"/>
              </a:rPr>
              <a:t>Rekonsiliasi dengan slip bank</a:t>
            </a:r>
            <a:endParaRPr b="0" i="0" sz="1200" u="none" cap="none" strike="noStrike">
              <a:solidFill>
                <a:schemeClr val="dk1"/>
              </a:solidFill>
              <a:latin typeface="Calibri"/>
              <a:ea typeface="Calibri"/>
              <a:cs typeface="Calibri"/>
              <a:sym typeface="Calibri"/>
            </a:endParaRPr>
          </a:p>
        </p:txBody>
      </p:sp>
      <p:sp>
        <p:nvSpPr>
          <p:cNvPr id="799" name="Google Shape;799;p55"/>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56"/>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Membaca tabel &amp; badge status</a:t>
            </a:r>
            <a:endParaRPr sz="2800"/>
          </a:p>
        </p:txBody>
      </p:sp>
      <p:sp>
        <p:nvSpPr>
          <p:cNvPr id="806" name="Google Shape;806;p56"/>
          <p:cNvSpPr/>
          <p:nvPr/>
        </p:nvSpPr>
        <p:spPr>
          <a:xfrm>
            <a:off x="402336" y="996696"/>
            <a:ext cx="4864608" cy="2870470"/>
          </a:xfrm>
          <a:prstGeom prst="roundRect">
            <a:avLst>
              <a:gd fmla="val 2548"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aris RO dengan badge pembayaran baru" id="807" name="Google Shape;807;p56"/>
          <p:cNvPicPr preferRelativeResize="0"/>
          <p:nvPr/>
        </p:nvPicPr>
        <p:blipFill rotWithShape="1">
          <a:blip r:embed="rId3">
            <a:alphaModFix/>
          </a:blip>
          <a:srcRect b="0" l="0" r="0" t="0"/>
          <a:stretch/>
        </p:blipFill>
        <p:spPr>
          <a:xfrm>
            <a:off x="457200" y="1051560"/>
            <a:ext cx="4754880" cy="2760742"/>
          </a:xfrm>
          <a:prstGeom prst="rect">
            <a:avLst/>
          </a:prstGeom>
          <a:noFill/>
          <a:ln>
            <a:noFill/>
          </a:ln>
        </p:spPr>
      </p:pic>
      <p:sp>
        <p:nvSpPr>
          <p:cNvPr id="808" name="Google Shape;808;p56"/>
          <p:cNvSpPr/>
          <p:nvPr/>
        </p:nvSpPr>
        <p:spPr>
          <a:xfrm>
            <a:off x="5532120" y="1097280"/>
            <a:ext cx="1417320" cy="329184"/>
          </a:xfrm>
          <a:prstGeom prst="roundRect">
            <a:avLst>
              <a:gd fmla="val 50000" name="adj"/>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56"/>
          <p:cNvSpPr txBox="1"/>
          <p:nvPr/>
        </p:nvSpPr>
        <p:spPr>
          <a:xfrm>
            <a:off x="5532120" y="1097280"/>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000"/>
              <a:buFont typeface="Calibri"/>
              <a:buNone/>
            </a:pPr>
            <a:r>
              <a:rPr b="1" i="0" lang="en" sz="1000" u="none" cap="none" strike="noStrike">
                <a:solidFill>
                  <a:srgbClr val="6B7280"/>
                </a:solidFill>
                <a:latin typeface="Calibri"/>
                <a:ea typeface="Calibri"/>
                <a:cs typeface="Calibri"/>
                <a:sym typeface="Calibri"/>
              </a:rPr>
              <a:t>Kasir ⏱</a:t>
            </a:r>
            <a:endParaRPr b="0" i="0" sz="1000" u="none" cap="none" strike="noStrike">
              <a:solidFill>
                <a:schemeClr val="dk1"/>
              </a:solidFill>
              <a:latin typeface="Calibri"/>
              <a:ea typeface="Calibri"/>
              <a:cs typeface="Calibri"/>
              <a:sym typeface="Calibri"/>
            </a:endParaRPr>
          </a:p>
        </p:txBody>
      </p:sp>
      <p:sp>
        <p:nvSpPr>
          <p:cNvPr id="810" name="Google Shape;810;p56"/>
          <p:cNvSpPr txBox="1"/>
          <p:nvPr/>
        </p:nvSpPr>
        <p:spPr>
          <a:xfrm>
            <a:off x="7086600" y="1051560"/>
            <a:ext cx="16002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Menunggu keputusan Kasir</a:t>
            </a:r>
            <a:endParaRPr b="0" i="0" sz="1200" u="none" cap="none" strike="noStrike">
              <a:solidFill>
                <a:schemeClr val="dk1"/>
              </a:solidFill>
              <a:latin typeface="Calibri"/>
              <a:ea typeface="Calibri"/>
              <a:cs typeface="Calibri"/>
              <a:sym typeface="Calibri"/>
            </a:endParaRPr>
          </a:p>
        </p:txBody>
      </p:sp>
      <p:sp>
        <p:nvSpPr>
          <p:cNvPr id="811" name="Google Shape;811;p56"/>
          <p:cNvSpPr/>
          <p:nvPr/>
        </p:nvSpPr>
        <p:spPr>
          <a:xfrm>
            <a:off x="5532120" y="1874520"/>
            <a:ext cx="1417320" cy="329184"/>
          </a:xfrm>
          <a:prstGeom prst="roundRect">
            <a:avLst>
              <a:gd fmla="val 50000" name="adj"/>
            </a:avLst>
          </a:prstGeom>
          <a:solidFill>
            <a:srgbClr val="DCFC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56"/>
          <p:cNvSpPr txBox="1"/>
          <p:nvPr/>
        </p:nvSpPr>
        <p:spPr>
          <a:xfrm>
            <a:off x="5532120" y="1874520"/>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803D"/>
              </a:buClr>
              <a:buSzPts val="1000"/>
              <a:buFont typeface="Calibri"/>
              <a:buNone/>
            </a:pPr>
            <a:r>
              <a:rPr b="1" i="0" lang="en" sz="1000" u="none" cap="none" strike="noStrike">
                <a:solidFill>
                  <a:srgbClr val="15803D"/>
                </a:solidFill>
                <a:latin typeface="Calibri"/>
                <a:ea typeface="Calibri"/>
                <a:cs typeface="Calibri"/>
                <a:sym typeface="Calibri"/>
              </a:rPr>
              <a:t>Kasir ✓</a:t>
            </a:r>
            <a:endParaRPr b="0" i="0" sz="1000" u="none" cap="none" strike="noStrike">
              <a:solidFill>
                <a:schemeClr val="dk1"/>
              </a:solidFill>
              <a:latin typeface="Calibri"/>
              <a:ea typeface="Calibri"/>
              <a:cs typeface="Calibri"/>
              <a:sym typeface="Calibri"/>
            </a:endParaRPr>
          </a:p>
        </p:txBody>
      </p:sp>
      <p:sp>
        <p:nvSpPr>
          <p:cNvPr id="813" name="Google Shape;813;p56"/>
          <p:cNvSpPr txBox="1"/>
          <p:nvPr/>
        </p:nvSpPr>
        <p:spPr>
          <a:xfrm>
            <a:off x="7086600" y="1828800"/>
            <a:ext cx="16002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Sudah disetujui Kasir</a:t>
            </a:r>
            <a:endParaRPr b="0" i="0" sz="1200" u="none" cap="none" strike="noStrike">
              <a:solidFill>
                <a:schemeClr val="dk1"/>
              </a:solidFill>
              <a:latin typeface="Calibri"/>
              <a:ea typeface="Calibri"/>
              <a:cs typeface="Calibri"/>
              <a:sym typeface="Calibri"/>
            </a:endParaRPr>
          </a:p>
        </p:txBody>
      </p:sp>
      <p:sp>
        <p:nvSpPr>
          <p:cNvPr id="814" name="Google Shape;814;p56"/>
          <p:cNvSpPr/>
          <p:nvPr/>
        </p:nvSpPr>
        <p:spPr>
          <a:xfrm>
            <a:off x="5532120" y="2651760"/>
            <a:ext cx="1417320" cy="329184"/>
          </a:xfrm>
          <a:prstGeom prst="roundRect">
            <a:avLst>
              <a:gd fmla="val 50000" name="adj"/>
            </a:avLst>
          </a:prstGeom>
          <a:solidFill>
            <a:srgbClr val="F5B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56"/>
          <p:cNvSpPr txBox="1"/>
          <p:nvPr/>
        </p:nvSpPr>
        <p:spPr>
          <a:xfrm>
            <a:off x="5532120" y="2651760"/>
            <a:ext cx="14173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000"/>
              <a:buFont typeface="Calibri"/>
              <a:buNone/>
            </a:pPr>
            <a:r>
              <a:rPr b="1" i="0" lang="en" sz="1000" u="none" cap="none" strike="noStrike">
                <a:solidFill>
                  <a:srgbClr val="1F2937"/>
                </a:solidFill>
                <a:latin typeface="Calibri"/>
                <a:ea typeface="Calibri"/>
                <a:cs typeface="Calibri"/>
                <a:sym typeface="Calibri"/>
              </a:rPr>
              <a:t>Pembayaran baru · RB/SP</a:t>
            </a:r>
            <a:endParaRPr b="0" i="0" sz="1000" u="none" cap="none" strike="noStrike">
              <a:solidFill>
                <a:schemeClr val="dk1"/>
              </a:solidFill>
              <a:latin typeface="Calibri"/>
              <a:ea typeface="Calibri"/>
              <a:cs typeface="Calibri"/>
              <a:sym typeface="Calibri"/>
            </a:endParaRPr>
          </a:p>
        </p:txBody>
      </p:sp>
      <p:sp>
        <p:nvSpPr>
          <p:cNvPr id="816" name="Google Shape;816;p56"/>
          <p:cNvSpPr txBox="1"/>
          <p:nvPr/>
        </p:nvSpPr>
        <p:spPr>
          <a:xfrm>
            <a:off x="7086600" y="2606040"/>
            <a:ext cx="16002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Ada top up baru yang harus diverifikasi (baris berwarna kuning)</a:t>
            </a:r>
            <a:endParaRPr b="0" i="0" sz="1200" u="none" cap="none" strike="noStrike">
              <a:solidFill>
                <a:schemeClr val="dk1"/>
              </a:solidFill>
              <a:latin typeface="Calibri"/>
              <a:ea typeface="Calibri"/>
              <a:cs typeface="Calibri"/>
              <a:sym typeface="Calibri"/>
            </a:endParaRPr>
          </a:p>
        </p:txBody>
      </p:sp>
      <p:sp>
        <p:nvSpPr>
          <p:cNvPr id="817" name="Google Shape;817;p56"/>
          <p:cNvSpPr txBox="1"/>
          <p:nvPr/>
        </p:nvSpPr>
        <p:spPr>
          <a:xfrm>
            <a:off x="5532120" y="352044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 sz="1300" u="none" cap="none" strike="noStrike">
                <a:solidFill>
                  <a:schemeClr val="dk2"/>
                </a:solidFill>
                <a:latin typeface="Calibri"/>
                <a:ea typeface="Calibri"/>
                <a:cs typeface="Calibri"/>
                <a:sym typeface="Calibri"/>
              </a:rPr>
              <a:t>Kolom tabel</a:t>
            </a:r>
            <a:endParaRPr b="0" i="0" sz="1300" u="none" cap="none" strike="noStrike">
              <a:solidFill>
                <a:schemeClr val="dk1"/>
              </a:solidFill>
              <a:latin typeface="Calibri"/>
              <a:ea typeface="Calibri"/>
              <a:cs typeface="Calibri"/>
              <a:sym typeface="Calibri"/>
            </a:endParaRPr>
          </a:p>
        </p:txBody>
      </p:sp>
      <p:sp>
        <p:nvSpPr>
          <p:cNvPr id="818" name="Google Shape;818;p56"/>
          <p:cNvSpPr txBox="1"/>
          <p:nvPr/>
        </p:nvSpPr>
        <p:spPr>
          <a:xfrm>
            <a:off x="5532120" y="3794760"/>
            <a:ext cx="31546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No. Reserve · Customer · Property/Produk · Status · Approval Kasir · Cara Bayar/Amount · Sales · Catatan · Tanggal · Dibuat</a:t>
            </a:r>
            <a:endParaRPr b="0" i="0" sz="1100" u="none" cap="none" strike="noStrike">
              <a:solidFill>
                <a:schemeClr val="dk1"/>
              </a:solidFill>
              <a:latin typeface="Calibri"/>
              <a:ea typeface="Calibri"/>
              <a:cs typeface="Calibri"/>
              <a:sym typeface="Calibri"/>
            </a:endParaRPr>
          </a:p>
        </p:txBody>
      </p:sp>
      <p:sp>
        <p:nvSpPr>
          <p:cNvPr id="819" name="Google Shape;819;p56"/>
          <p:cNvSpPr txBox="1"/>
          <p:nvPr/>
        </p:nvSpPr>
        <p:spPr>
          <a:xfrm>
            <a:off x="457200" y="3931920"/>
            <a:ext cx="4754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 sz="1200" u="none" cap="none" strike="noStrike">
                <a:solidFill>
                  <a:schemeClr val="accent5"/>
                </a:solidFill>
                <a:latin typeface="Calibri"/>
                <a:ea typeface="Calibri"/>
                <a:cs typeface="Calibri"/>
                <a:sym typeface="Calibri"/>
              </a:rPr>
              <a:t>Geser tabel ke kanan untuk melihat kolom Cara Bayar, Sales, Catatan &amp; Tanggal.</a:t>
            </a:r>
            <a:endParaRPr b="0" i="0" sz="1200" u="none" cap="none" strike="noStrike">
              <a:solidFill>
                <a:schemeClr val="dk1"/>
              </a:solidFill>
              <a:latin typeface="Calibri"/>
              <a:ea typeface="Calibri"/>
              <a:cs typeface="Calibri"/>
              <a:sym typeface="Calibri"/>
            </a:endParaRPr>
          </a:p>
        </p:txBody>
      </p:sp>
      <p:sp>
        <p:nvSpPr>
          <p:cNvPr id="820" name="Google Shape;820;p56"/>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57"/>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Cari, urutkan &amp; filter data</a:t>
            </a:r>
            <a:endParaRPr sz="2800"/>
          </a:p>
        </p:txBody>
      </p:sp>
      <p:sp>
        <p:nvSpPr>
          <p:cNvPr id="827" name="Google Shape;827;p57"/>
          <p:cNvSpPr/>
          <p:nvPr/>
        </p:nvSpPr>
        <p:spPr>
          <a:xfrm>
            <a:off x="3877056" y="996696"/>
            <a:ext cx="4864608" cy="2870470"/>
          </a:xfrm>
          <a:prstGeom prst="roundRect">
            <a:avLst>
              <a:gd fmla="val 2548"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anel filter" id="828" name="Google Shape;828;p57"/>
          <p:cNvPicPr preferRelativeResize="0"/>
          <p:nvPr/>
        </p:nvPicPr>
        <p:blipFill rotWithShape="1">
          <a:blip r:embed="rId3">
            <a:alphaModFix/>
          </a:blip>
          <a:srcRect b="0" l="0" r="0" t="0"/>
          <a:stretch/>
        </p:blipFill>
        <p:spPr>
          <a:xfrm>
            <a:off x="3931920" y="1051560"/>
            <a:ext cx="4754880" cy="2760742"/>
          </a:xfrm>
          <a:prstGeom prst="rect">
            <a:avLst/>
          </a:prstGeom>
          <a:noFill/>
          <a:ln>
            <a:noFill/>
          </a:ln>
        </p:spPr>
      </p:pic>
      <p:sp>
        <p:nvSpPr>
          <p:cNvPr id="829" name="Google Shape;829;p57"/>
          <p:cNvSpPr txBox="1"/>
          <p:nvPr/>
        </p:nvSpPr>
        <p:spPr>
          <a:xfrm>
            <a:off x="457200" y="1051560"/>
            <a:ext cx="3246120" cy="3383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Cari: </a:t>
            </a:r>
            <a:r>
              <a:rPr b="0" i="0" lang="en" sz="1300" u="none" cap="none" strike="noStrike">
                <a:solidFill>
                  <a:schemeClr val="dk1"/>
                </a:solidFill>
                <a:latin typeface="Calibri"/>
                <a:ea typeface="Calibri"/>
                <a:cs typeface="Calibri"/>
                <a:sym typeface="Calibri"/>
              </a:rPr>
              <a:t>no. reserve, nama, no. HP, property, produk</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Urutkan: </a:t>
            </a:r>
            <a:r>
              <a:rPr b="0" i="0" lang="en" sz="1300" u="none" cap="none" strike="noStrike">
                <a:solidFill>
                  <a:schemeClr val="dk1"/>
                </a:solidFill>
                <a:latin typeface="Calibri"/>
                <a:ea typeface="Calibri"/>
                <a:cs typeface="Calibri"/>
                <a:sym typeface="Calibri"/>
              </a:rPr>
              <a:t>Terbaru, Terlama, Nama A–Z, Nama Z–A</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Status &amp; Sumber: </a:t>
            </a:r>
            <a:r>
              <a:rPr b="0" i="0" lang="en" sz="1300" u="none" cap="none" strike="noStrike">
                <a:solidFill>
                  <a:schemeClr val="dk1"/>
                </a:solidFill>
                <a:latin typeface="Calibri"/>
                <a:ea typeface="Calibri"/>
                <a:cs typeface="Calibri"/>
                <a:sym typeface="Calibri"/>
              </a:rPr>
              <a:t>Status Reserve, Sales Channel, Sales Channel Detail, Project, tanggal Dibuat Dari–Sampai</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Tim Sales: </a:t>
            </a:r>
            <a:r>
              <a:rPr b="0" i="0" lang="en" sz="1300" u="none" cap="none" strike="noStrike">
                <a:solidFill>
                  <a:schemeClr val="dk1"/>
                </a:solidFill>
                <a:latin typeface="Calibri"/>
                <a:ea typeface="Calibri"/>
                <a:cs typeface="Calibri"/>
                <a:sym typeface="Calibri"/>
              </a:rPr>
              <a:t>Owner, SE, SPV, SM, GM, Sales Team</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Terapkan </a:t>
            </a:r>
            <a:r>
              <a:rPr b="0" i="0" lang="en" sz="1300" u="none" cap="none" strike="noStrike">
                <a:solidFill>
                  <a:schemeClr val="dk1"/>
                </a:solidFill>
                <a:latin typeface="Calibri"/>
                <a:ea typeface="Calibri"/>
                <a:cs typeface="Calibri"/>
                <a:sym typeface="Calibri"/>
              </a:rPr>
              <a:t>untuk memfilter, </a:t>
            </a:r>
            <a:r>
              <a:rPr b="1" i="0" lang="en" sz="1300" u="none" cap="none" strike="noStrike">
                <a:solidFill>
                  <a:schemeClr val="dk1"/>
                </a:solidFill>
                <a:latin typeface="Calibri"/>
                <a:ea typeface="Calibri"/>
                <a:cs typeface="Calibri"/>
                <a:sym typeface="Calibri"/>
              </a:rPr>
              <a:t>Reset </a:t>
            </a:r>
            <a:r>
              <a:rPr b="0" i="0" lang="en" sz="1300" u="none" cap="none" strike="noStrike">
                <a:solidFill>
                  <a:schemeClr val="dk1"/>
                </a:solidFill>
                <a:latin typeface="Calibri"/>
                <a:ea typeface="Calibri"/>
                <a:cs typeface="Calibri"/>
                <a:sym typeface="Calibri"/>
              </a:rPr>
              <a:t>untuk menghapus filter</a:t>
            </a:r>
            <a:endParaRPr b="0" i="0" sz="1300" u="none" cap="none" strike="noStrike">
              <a:solidFill>
                <a:schemeClr val="dk1"/>
              </a:solidFill>
              <a:latin typeface="Calibri"/>
              <a:ea typeface="Calibri"/>
              <a:cs typeface="Calibri"/>
              <a:sym typeface="Calibri"/>
            </a:endParaRPr>
          </a:p>
        </p:txBody>
      </p:sp>
      <p:sp>
        <p:nvSpPr>
          <p:cNvPr id="830" name="Google Shape;830;p57"/>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58"/>
          <p:cNvSpPr txBox="1"/>
          <p:nvPr>
            <p:ph type="title"/>
          </p:nvPr>
        </p:nvSpPr>
        <p:spPr>
          <a:xfrm>
            <a:off x="548640" y="1828800"/>
            <a:ext cx="804672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 sz="3600">
                <a:solidFill>
                  <a:schemeClr val="lt1"/>
                </a:solidFill>
              </a:rPr>
              <a:t>Verifikasi pembayaran</a:t>
            </a:r>
            <a:endParaRPr sz="3600"/>
          </a:p>
        </p:txBody>
      </p:sp>
      <p:sp>
        <p:nvSpPr>
          <p:cNvPr id="837" name="Google Shape;837;p58"/>
          <p:cNvSpPr txBox="1"/>
          <p:nvPr>
            <p:ph idx="1" type="body"/>
          </p:nvPr>
        </p:nvSpPr>
        <p:spPr>
          <a:xfrm>
            <a:off x="548640" y="2834640"/>
            <a:ext cx="8046720" cy="7315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rPr lang="en" sz="1600">
                <a:solidFill>
                  <a:schemeClr val="lt2"/>
                </a:solidFill>
              </a:rPr>
              <a:t>Tugas utama Kasir: memastikan uang &amp; dokumen valid sebelum approve</a:t>
            </a:r>
            <a:endParaRPr sz="1600"/>
          </a:p>
        </p:txBody>
      </p:sp>
      <p:sp>
        <p:nvSpPr>
          <p:cNvPr id="838" name="Google Shape;838;p58"/>
          <p:cNvSpPr txBox="1"/>
          <p:nvPr>
            <p:ph idx="4294967295"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59"/>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Halaman Dokumen Reserve Order</a:t>
            </a:r>
            <a:endParaRPr sz="2800"/>
          </a:p>
        </p:txBody>
      </p:sp>
      <p:sp>
        <p:nvSpPr>
          <p:cNvPr id="845" name="Google Shape;845;p59"/>
          <p:cNvSpPr/>
          <p:nvPr/>
        </p:nvSpPr>
        <p:spPr>
          <a:xfrm>
            <a:off x="402336" y="996696"/>
            <a:ext cx="5230368" cy="3082834"/>
          </a:xfrm>
          <a:prstGeom prst="roundRect">
            <a:avLst>
              <a:gd fmla="val 2373"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eader halaman dokumen RO" id="846" name="Google Shape;846;p59"/>
          <p:cNvPicPr preferRelativeResize="0"/>
          <p:nvPr/>
        </p:nvPicPr>
        <p:blipFill rotWithShape="1">
          <a:blip r:embed="rId3">
            <a:alphaModFix/>
          </a:blip>
          <a:srcRect b="0" l="0" r="0" t="0"/>
          <a:stretch/>
        </p:blipFill>
        <p:spPr>
          <a:xfrm>
            <a:off x="457200" y="1051560"/>
            <a:ext cx="5120640" cy="2973106"/>
          </a:xfrm>
          <a:prstGeom prst="rect">
            <a:avLst/>
          </a:prstGeom>
          <a:noFill/>
          <a:ln>
            <a:noFill/>
          </a:ln>
        </p:spPr>
      </p:pic>
      <p:sp>
        <p:nvSpPr>
          <p:cNvPr id="847" name="Google Shape;847;p59"/>
          <p:cNvSpPr/>
          <p:nvPr/>
        </p:nvSpPr>
        <p:spPr>
          <a:xfrm>
            <a:off x="1502229" y="1835331"/>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59"/>
          <p:cNvSpPr txBox="1"/>
          <p:nvPr/>
        </p:nvSpPr>
        <p:spPr>
          <a:xfrm>
            <a:off x="1502229" y="1835331"/>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849" name="Google Shape;849;p59"/>
          <p:cNvSpPr/>
          <p:nvPr/>
        </p:nvSpPr>
        <p:spPr>
          <a:xfrm>
            <a:off x="4637314" y="2619103"/>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59"/>
          <p:cNvSpPr txBox="1"/>
          <p:nvPr/>
        </p:nvSpPr>
        <p:spPr>
          <a:xfrm>
            <a:off x="4637314" y="2619103"/>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851" name="Google Shape;851;p59"/>
          <p:cNvSpPr/>
          <p:nvPr/>
        </p:nvSpPr>
        <p:spPr>
          <a:xfrm>
            <a:off x="1763486" y="3246120"/>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59"/>
          <p:cNvSpPr txBox="1"/>
          <p:nvPr/>
        </p:nvSpPr>
        <p:spPr>
          <a:xfrm>
            <a:off x="1763486" y="32461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853" name="Google Shape;853;p59"/>
          <p:cNvSpPr/>
          <p:nvPr/>
        </p:nvSpPr>
        <p:spPr>
          <a:xfrm>
            <a:off x="3174274" y="3507377"/>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59"/>
          <p:cNvSpPr txBox="1"/>
          <p:nvPr/>
        </p:nvSpPr>
        <p:spPr>
          <a:xfrm>
            <a:off x="3174274" y="3507377"/>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855" name="Google Shape;855;p59"/>
          <p:cNvSpPr/>
          <p:nvPr/>
        </p:nvSpPr>
        <p:spPr>
          <a:xfrm>
            <a:off x="5897880" y="10698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59"/>
          <p:cNvSpPr txBox="1"/>
          <p:nvPr/>
        </p:nvSpPr>
        <p:spPr>
          <a:xfrm>
            <a:off x="5897880"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857" name="Google Shape;857;p59"/>
          <p:cNvSpPr txBox="1"/>
          <p:nvPr/>
        </p:nvSpPr>
        <p:spPr>
          <a:xfrm>
            <a:off x="6309360" y="105156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Unit</a:t>
            </a:r>
            <a:endParaRPr b="0" i="0" sz="1500" u="none" cap="none" strike="noStrike">
              <a:solidFill>
                <a:schemeClr val="dk1"/>
              </a:solidFill>
              <a:latin typeface="Calibri"/>
              <a:ea typeface="Calibri"/>
              <a:cs typeface="Calibri"/>
              <a:sym typeface="Calibri"/>
            </a:endParaRPr>
          </a:p>
        </p:txBody>
      </p:sp>
      <p:sp>
        <p:nvSpPr>
          <p:cNvPr id="858" name="Google Shape;858;p59"/>
          <p:cNvSpPr txBox="1"/>
          <p:nvPr/>
        </p:nvSpPr>
        <p:spPr>
          <a:xfrm>
            <a:off x="6309360" y="1353312"/>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Kavling, cluster, tahap &amp; project</a:t>
            </a:r>
            <a:endParaRPr b="0" i="0" sz="1300" u="none" cap="none" strike="noStrike">
              <a:solidFill>
                <a:schemeClr val="dk1"/>
              </a:solidFill>
              <a:latin typeface="Calibri"/>
              <a:ea typeface="Calibri"/>
              <a:cs typeface="Calibri"/>
              <a:sym typeface="Calibri"/>
            </a:endParaRPr>
          </a:p>
        </p:txBody>
      </p:sp>
      <p:sp>
        <p:nvSpPr>
          <p:cNvPr id="859" name="Google Shape;859;p59"/>
          <p:cNvSpPr/>
          <p:nvPr/>
        </p:nvSpPr>
        <p:spPr>
          <a:xfrm>
            <a:off x="5897880" y="180136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59"/>
          <p:cNvSpPr txBox="1"/>
          <p:nvPr/>
        </p:nvSpPr>
        <p:spPr>
          <a:xfrm>
            <a:off x="5897880" y="180136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861" name="Google Shape;861;p59"/>
          <p:cNvSpPr txBox="1"/>
          <p:nvPr/>
        </p:nvSpPr>
        <p:spPr>
          <a:xfrm>
            <a:off x="6309360" y="178308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Ringkasan</a:t>
            </a:r>
            <a:endParaRPr b="0" i="0" sz="1500" u="none" cap="none" strike="noStrike">
              <a:solidFill>
                <a:schemeClr val="dk1"/>
              </a:solidFill>
              <a:latin typeface="Calibri"/>
              <a:ea typeface="Calibri"/>
              <a:cs typeface="Calibri"/>
              <a:sym typeface="Calibri"/>
            </a:endParaRPr>
          </a:p>
        </p:txBody>
      </p:sp>
      <p:sp>
        <p:nvSpPr>
          <p:cNvPr id="862" name="Google Shape;862;p59"/>
          <p:cNvSpPr txBox="1"/>
          <p:nvPr/>
        </p:nvSpPr>
        <p:spPr>
          <a:xfrm>
            <a:off x="6309360" y="2084832"/>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Status, cara bayar, total dibayar, customer</a:t>
            </a:r>
            <a:endParaRPr b="0" i="0" sz="1300" u="none" cap="none" strike="noStrike">
              <a:solidFill>
                <a:schemeClr val="dk1"/>
              </a:solidFill>
              <a:latin typeface="Calibri"/>
              <a:ea typeface="Calibri"/>
              <a:cs typeface="Calibri"/>
              <a:sym typeface="Calibri"/>
            </a:endParaRPr>
          </a:p>
        </p:txBody>
      </p:sp>
      <p:sp>
        <p:nvSpPr>
          <p:cNvPr id="863" name="Google Shape;863;p59"/>
          <p:cNvSpPr/>
          <p:nvPr/>
        </p:nvSpPr>
        <p:spPr>
          <a:xfrm>
            <a:off x="5897880" y="253288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59"/>
          <p:cNvSpPr txBox="1"/>
          <p:nvPr/>
        </p:nvSpPr>
        <p:spPr>
          <a:xfrm>
            <a:off x="5897880" y="253288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865" name="Google Shape;865;p59"/>
          <p:cNvSpPr txBox="1"/>
          <p:nvPr/>
        </p:nvSpPr>
        <p:spPr>
          <a:xfrm>
            <a:off x="6309360" y="251460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Google Sheet (RB)</a:t>
            </a:r>
            <a:endParaRPr b="0" i="0" sz="1500" u="none" cap="none" strike="noStrike">
              <a:solidFill>
                <a:schemeClr val="dk1"/>
              </a:solidFill>
              <a:latin typeface="Calibri"/>
              <a:ea typeface="Calibri"/>
              <a:cs typeface="Calibri"/>
              <a:sym typeface="Calibri"/>
            </a:endParaRPr>
          </a:p>
        </p:txBody>
      </p:sp>
      <p:sp>
        <p:nvSpPr>
          <p:cNvPr id="866" name="Google Shape;866;p59"/>
          <p:cNvSpPr txBox="1"/>
          <p:nvPr/>
        </p:nvSpPr>
        <p:spPr>
          <a:xfrm>
            <a:off x="6309360" y="2816352"/>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Sync ulang bila data diubah</a:t>
            </a:r>
            <a:endParaRPr b="0" i="0" sz="1300" u="none" cap="none" strike="noStrike">
              <a:solidFill>
                <a:schemeClr val="dk1"/>
              </a:solidFill>
              <a:latin typeface="Calibri"/>
              <a:ea typeface="Calibri"/>
              <a:cs typeface="Calibri"/>
              <a:sym typeface="Calibri"/>
            </a:endParaRPr>
          </a:p>
        </p:txBody>
      </p:sp>
      <p:sp>
        <p:nvSpPr>
          <p:cNvPr id="867" name="Google Shape;867;p59"/>
          <p:cNvSpPr/>
          <p:nvPr/>
        </p:nvSpPr>
        <p:spPr>
          <a:xfrm>
            <a:off x="5897880" y="326440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59"/>
          <p:cNvSpPr txBox="1"/>
          <p:nvPr/>
        </p:nvSpPr>
        <p:spPr>
          <a:xfrm>
            <a:off x="5897880" y="32644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869" name="Google Shape;869;p59"/>
          <p:cNvSpPr txBox="1"/>
          <p:nvPr/>
        </p:nvSpPr>
        <p:spPr>
          <a:xfrm>
            <a:off x="6309360" y="324612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Approve / Reject</a:t>
            </a:r>
            <a:endParaRPr b="0" i="0" sz="1500" u="none" cap="none" strike="noStrike">
              <a:solidFill>
                <a:schemeClr val="dk1"/>
              </a:solidFill>
              <a:latin typeface="Calibri"/>
              <a:ea typeface="Calibri"/>
              <a:cs typeface="Calibri"/>
              <a:sym typeface="Calibri"/>
            </a:endParaRPr>
          </a:p>
        </p:txBody>
      </p:sp>
      <p:sp>
        <p:nvSpPr>
          <p:cNvPr id="870" name="Google Shape;870;p59"/>
          <p:cNvSpPr txBox="1"/>
          <p:nvPr/>
        </p:nvSpPr>
        <p:spPr>
          <a:xfrm>
            <a:off x="6309360" y="3547872"/>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Keputusan Kasir atas pembayaran</a:t>
            </a:r>
            <a:endParaRPr b="0" i="0" sz="1300" u="none" cap="none" strike="noStrike">
              <a:solidFill>
                <a:schemeClr val="dk1"/>
              </a:solidFill>
              <a:latin typeface="Calibri"/>
              <a:ea typeface="Calibri"/>
              <a:cs typeface="Calibri"/>
              <a:sym typeface="Calibri"/>
            </a:endParaRPr>
          </a:p>
        </p:txBody>
      </p:sp>
      <p:sp>
        <p:nvSpPr>
          <p:cNvPr id="871" name="Google Shape;871;p59"/>
          <p:cNvSpPr txBox="1"/>
          <p:nvPr/>
        </p:nvSpPr>
        <p:spPr>
          <a:xfrm>
            <a:off x="457200" y="411480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 sz="1200" u="none" cap="none" strike="noStrike">
                <a:solidFill>
                  <a:schemeClr val="accent5"/>
                </a:solidFill>
                <a:latin typeface="Calibri"/>
                <a:ea typeface="Calibri"/>
                <a:cs typeface="Calibri"/>
                <a:sym typeface="Calibri"/>
              </a:rPr>
              <a:t>Di bawahnya: Sales Channel, Informasi Sales (Team, GM, SM, SPV, SE) dan tab TTS · Timeline · Attachment · Message.</a:t>
            </a:r>
            <a:endParaRPr b="0" i="0" sz="1200" u="none" cap="none" strike="noStrike">
              <a:solidFill>
                <a:schemeClr val="dk1"/>
              </a:solidFill>
              <a:latin typeface="Calibri"/>
              <a:ea typeface="Calibri"/>
              <a:cs typeface="Calibri"/>
              <a:sym typeface="Calibri"/>
            </a:endParaRPr>
          </a:p>
        </p:txBody>
      </p:sp>
      <p:sp>
        <p:nvSpPr>
          <p:cNvPr id="872" name="Google Shape;872;p59"/>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60"/>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Langkah verifikasi pembayaran</a:t>
            </a:r>
            <a:endParaRPr sz="2800"/>
          </a:p>
        </p:txBody>
      </p:sp>
      <p:sp>
        <p:nvSpPr>
          <p:cNvPr id="879" name="Google Shape;879;p60"/>
          <p:cNvSpPr/>
          <p:nvPr/>
        </p:nvSpPr>
        <p:spPr>
          <a:xfrm>
            <a:off x="457200" y="1188720"/>
            <a:ext cx="1554480" cy="237744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60"/>
          <p:cNvSpPr txBox="1"/>
          <p:nvPr/>
        </p:nvSpPr>
        <p:spPr>
          <a:xfrm>
            <a:off x="594360" y="1298448"/>
            <a:ext cx="548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800"/>
              <a:buFont typeface="Calibri"/>
              <a:buNone/>
            </a:pPr>
            <a:r>
              <a:rPr b="1" i="0" lang="en" sz="2800" u="none" cap="none" strike="noStrike">
                <a:solidFill>
                  <a:schemeClr val="accent1"/>
                </a:solidFill>
                <a:latin typeface="Calibri"/>
                <a:ea typeface="Calibri"/>
                <a:cs typeface="Calibri"/>
                <a:sym typeface="Calibri"/>
              </a:rPr>
              <a:t>1</a:t>
            </a:r>
            <a:endParaRPr b="0" i="0" sz="2800" u="none" cap="none" strike="noStrike">
              <a:solidFill>
                <a:schemeClr val="dk1"/>
              </a:solidFill>
              <a:latin typeface="Calibri"/>
              <a:ea typeface="Calibri"/>
              <a:cs typeface="Calibri"/>
              <a:sym typeface="Calibri"/>
            </a:endParaRPr>
          </a:p>
        </p:txBody>
      </p:sp>
      <p:sp>
        <p:nvSpPr>
          <p:cNvPr id="881" name="Google Shape;881;p60"/>
          <p:cNvSpPr txBox="1"/>
          <p:nvPr/>
        </p:nvSpPr>
        <p:spPr>
          <a:xfrm>
            <a:off x="594360" y="1828800"/>
            <a:ext cx="1325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Buka RO</a:t>
            </a:r>
            <a:endParaRPr b="0" i="0" sz="1400" u="none" cap="none" strike="noStrike">
              <a:solidFill>
                <a:schemeClr val="dk1"/>
              </a:solidFill>
              <a:latin typeface="Calibri"/>
              <a:ea typeface="Calibri"/>
              <a:cs typeface="Calibri"/>
              <a:sym typeface="Calibri"/>
            </a:endParaRPr>
          </a:p>
        </p:txBody>
      </p:sp>
      <p:sp>
        <p:nvSpPr>
          <p:cNvPr id="882" name="Google Shape;882;p60"/>
          <p:cNvSpPr txBox="1"/>
          <p:nvPr/>
        </p:nvSpPr>
        <p:spPr>
          <a:xfrm>
            <a:off x="594360" y="2176272"/>
            <a:ext cx="132588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Klik baris di tab Kasir (prioritaskan baris kuning).</a:t>
            </a:r>
            <a:endParaRPr b="0" i="0" sz="1100" u="none" cap="none" strike="noStrike">
              <a:solidFill>
                <a:schemeClr val="dk1"/>
              </a:solidFill>
              <a:latin typeface="Calibri"/>
              <a:ea typeface="Calibri"/>
              <a:cs typeface="Calibri"/>
              <a:sym typeface="Calibri"/>
            </a:endParaRPr>
          </a:p>
        </p:txBody>
      </p:sp>
      <p:sp>
        <p:nvSpPr>
          <p:cNvPr id="883" name="Google Shape;883;p60"/>
          <p:cNvSpPr/>
          <p:nvPr/>
        </p:nvSpPr>
        <p:spPr>
          <a:xfrm>
            <a:off x="2025396" y="2286000"/>
            <a:ext cx="100584" cy="201168"/>
          </a:xfrm>
          <a:prstGeom prst="chevron">
            <a:avLst>
              <a:gd fmla="val 50000" name="adj"/>
            </a:avLst>
          </a:prstGeom>
          <a:solidFill>
            <a:srgbClr val="A5A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60"/>
          <p:cNvSpPr/>
          <p:nvPr/>
        </p:nvSpPr>
        <p:spPr>
          <a:xfrm>
            <a:off x="2139696" y="1188720"/>
            <a:ext cx="1554480" cy="237744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60"/>
          <p:cNvSpPr txBox="1"/>
          <p:nvPr/>
        </p:nvSpPr>
        <p:spPr>
          <a:xfrm>
            <a:off x="2276856" y="1298448"/>
            <a:ext cx="548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800"/>
              <a:buFont typeface="Calibri"/>
              <a:buNone/>
            </a:pPr>
            <a:r>
              <a:rPr b="1" i="0" lang="en" sz="2800" u="none" cap="none" strike="noStrike">
                <a:solidFill>
                  <a:schemeClr val="accent1"/>
                </a:solidFill>
                <a:latin typeface="Calibri"/>
                <a:ea typeface="Calibri"/>
                <a:cs typeface="Calibri"/>
                <a:sym typeface="Calibri"/>
              </a:rPr>
              <a:t>2</a:t>
            </a:r>
            <a:endParaRPr b="0" i="0" sz="2800" u="none" cap="none" strike="noStrike">
              <a:solidFill>
                <a:schemeClr val="dk1"/>
              </a:solidFill>
              <a:latin typeface="Calibri"/>
              <a:ea typeface="Calibri"/>
              <a:cs typeface="Calibri"/>
              <a:sym typeface="Calibri"/>
            </a:endParaRPr>
          </a:p>
        </p:txBody>
      </p:sp>
      <p:sp>
        <p:nvSpPr>
          <p:cNvPr id="886" name="Google Shape;886;p60"/>
          <p:cNvSpPr txBox="1"/>
          <p:nvPr/>
        </p:nvSpPr>
        <p:spPr>
          <a:xfrm>
            <a:off x="2276856" y="1828800"/>
            <a:ext cx="1325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Cek TTS</a:t>
            </a:r>
            <a:endParaRPr b="0" i="0" sz="1400" u="none" cap="none" strike="noStrike">
              <a:solidFill>
                <a:schemeClr val="dk1"/>
              </a:solidFill>
              <a:latin typeface="Calibri"/>
              <a:ea typeface="Calibri"/>
              <a:cs typeface="Calibri"/>
              <a:sym typeface="Calibri"/>
            </a:endParaRPr>
          </a:p>
        </p:txBody>
      </p:sp>
      <p:sp>
        <p:nvSpPr>
          <p:cNvPr id="887" name="Google Shape;887;p60"/>
          <p:cNvSpPr txBox="1"/>
          <p:nvPr/>
        </p:nvSpPr>
        <p:spPr>
          <a:xfrm>
            <a:off x="2276856" y="2176272"/>
            <a:ext cx="132588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Tab TTS: cari yang berstatus Menunggu Verifikasi. Cocokkan nominal &amp; jenis pembayaran.</a:t>
            </a:r>
            <a:endParaRPr b="0" i="0" sz="1100" u="none" cap="none" strike="noStrike">
              <a:solidFill>
                <a:schemeClr val="dk1"/>
              </a:solidFill>
              <a:latin typeface="Calibri"/>
              <a:ea typeface="Calibri"/>
              <a:cs typeface="Calibri"/>
              <a:sym typeface="Calibri"/>
            </a:endParaRPr>
          </a:p>
        </p:txBody>
      </p:sp>
      <p:sp>
        <p:nvSpPr>
          <p:cNvPr id="888" name="Google Shape;888;p60"/>
          <p:cNvSpPr/>
          <p:nvPr/>
        </p:nvSpPr>
        <p:spPr>
          <a:xfrm>
            <a:off x="3707892" y="2286000"/>
            <a:ext cx="100584" cy="201168"/>
          </a:xfrm>
          <a:prstGeom prst="chevron">
            <a:avLst>
              <a:gd fmla="val 50000" name="adj"/>
            </a:avLst>
          </a:prstGeom>
          <a:solidFill>
            <a:srgbClr val="A5A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60"/>
          <p:cNvSpPr/>
          <p:nvPr/>
        </p:nvSpPr>
        <p:spPr>
          <a:xfrm>
            <a:off x="3822192" y="1188720"/>
            <a:ext cx="1554480" cy="237744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60"/>
          <p:cNvSpPr txBox="1"/>
          <p:nvPr/>
        </p:nvSpPr>
        <p:spPr>
          <a:xfrm>
            <a:off x="3959352" y="1298448"/>
            <a:ext cx="548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800"/>
              <a:buFont typeface="Calibri"/>
              <a:buNone/>
            </a:pPr>
            <a:r>
              <a:rPr b="1" i="0" lang="en" sz="2800" u="none" cap="none" strike="noStrike">
                <a:solidFill>
                  <a:schemeClr val="accent1"/>
                </a:solidFill>
                <a:latin typeface="Calibri"/>
                <a:ea typeface="Calibri"/>
                <a:cs typeface="Calibri"/>
                <a:sym typeface="Calibri"/>
              </a:rPr>
              <a:t>3</a:t>
            </a:r>
            <a:endParaRPr b="0" i="0" sz="2800" u="none" cap="none" strike="noStrike">
              <a:solidFill>
                <a:schemeClr val="dk1"/>
              </a:solidFill>
              <a:latin typeface="Calibri"/>
              <a:ea typeface="Calibri"/>
              <a:cs typeface="Calibri"/>
              <a:sym typeface="Calibri"/>
            </a:endParaRPr>
          </a:p>
        </p:txBody>
      </p:sp>
      <p:sp>
        <p:nvSpPr>
          <p:cNvPr id="891" name="Google Shape;891;p60"/>
          <p:cNvSpPr txBox="1"/>
          <p:nvPr/>
        </p:nvSpPr>
        <p:spPr>
          <a:xfrm>
            <a:off x="3959352" y="1828800"/>
            <a:ext cx="1325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Cek dokumen</a:t>
            </a:r>
            <a:endParaRPr b="0" i="0" sz="1400" u="none" cap="none" strike="noStrike">
              <a:solidFill>
                <a:schemeClr val="dk1"/>
              </a:solidFill>
              <a:latin typeface="Calibri"/>
              <a:ea typeface="Calibri"/>
              <a:cs typeface="Calibri"/>
              <a:sym typeface="Calibri"/>
            </a:endParaRPr>
          </a:p>
        </p:txBody>
      </p:sp>
      <p:sp>
        <p:nvSpPr>
          <p:cNvPr id="892" name="Google Shape;892;p60"/>
          <p:cNvSpPr txBox="1"/>
          <p:nvPr/>
        </p:nvSpPr>
        <p:spPr>
          <a:xfrm>
            <a:off x="3959352" y="2176272"/>
            <a:ext cx="132588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Tab Attachment: buka bukti transfer &amp; KTP, lalu Verifikasi (Approved / Rejected).</a:t>
            </a:r>
            <a:endParaRPr b="0" i="0" sz="1100" u="none" cap="none" strike="noStrike">
              <a:solidFill>
                <a:schemeClr val="dk1"/>
              </a:solidFill>
              <a:latin typeface="Calibri"/>
              <a:ea typeface="Calibri"/>
              <a:cs typeface="Calibri"/>
              <a:sym typeface="Calibri"/>
            </a:endParaRPr>
          </a:p>
        </p:txBody>
      </p:sp>
      <p:sp>
        <p:nvSpPr>
          <p:cNvPr id="893" name="Google Shape;893;p60"/>
          <p:cNvSpPr/>
          <p:nvPr/>
        </p:nvSpPr>
        <p:spPr>
          <a:xfrm>
            <a:off x="5390388" y="2286000"/>
            <a:ext cx="100584" cy="201168"/>
          </a:xfrm>
          <a:prstGeom prst="chevron">
            <a:avLst>
              <a:gd fmla="val 50000" name="adj"/>
            </a:avLst>
          </a:prstGeom>
          <a:solidFill>
            <a:srgbClr val="A5A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60"/>
          <p:cNvSpPr/>
          <p:nvPr/>
        </p:nvSpPr>
        <p:spPr>
          <a:xfrm>
            <a:off x="5504688" y="1188720"/>
            <a:ext cx="1554480" cy="2377440"/>
          </a:xfrm>
          <a:prstGeom prst="roundRect">
            <a:avLst>
              <a:gd fmla="val 5882"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60"/>
          <p:cNvSpPr txBox="1"/>
          <p:nvPr/>
        </p:nvSpPr>
        <p:spPr>
          <a:xfrm>
            <a:off x="5641848" y="1298448"/>
            <a:ext cx="548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E663"/>
              </a:buClr>
              <a:buSzPts val="2800"/>
              <a:buFont typeface="Calibri"/>
              <a:buNone/>
            </a:pPr>
            <a:r>
              <a:rPr b="1" i="0" lang="en" sz="2800" u="none" cap="none" strike="noStrike">
                <a:solidFill>
                  <a:srgbClr val="F5E663"/>
                </a:solidFill>
                <a:latin typeface="Calibri"/>
                <a:ea typeface="Calibri"/>
                <a:cs typeface="Calibri"/>
                <a:sym typeface="Calibri"/>
              </a:rPr>
              <a:t>4</a:t>
            </a:r>
            <a:endParaRPr b="0" i="0" sz="2800" u="none" cap="none" strike="noStrike">
              <a:solidFill>
                <a:schemeClr val="dk1"/>
              </a:solidFill>
              <a:latin typeface="Calibri"/>
              <a:ea typeface="Calibri"/>
              <a:cs typeface="Calibri"/>
              <a:sym typeface="Calibri"/>
            </a:endParaRPr>
          </a:p>
        </p:txBody>
      </p:sp>
      <p:sp>
        <p:nvSpPr>
          <p:cNvPr id="896" name="Google Shape;896;p60"/>
          <p:cNvSpPr txBox="1"/>
          <p:nvPr/>
        </p:nvSpPr>
        <p:spPr>
          <a:xfrm>
            <a:off x="5641848" y="1828800"/>
            <a:ext cx="1325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 sz="1400" u="none" cap="none" strike="noStrike">
                <a:solidFill>
                  <a:schemeClr val="lt1"/>
                </a:solidFill>
                <a:latin typeface="Calibri"/>
                <a:ea typeface="Calibri"/>
                <a:cs typeface="Calibri"/>
                <a:sym typeface="Calibri"/>
              </a:rPr>
              <a:t>Putuskan</a:t>
            </a:r>
            <a:endParaRPr b="0" i="0" sz="1400" u="none" cap="none" strike="noStrike">
              <a:solidFill>
                <a:schemeClr val="dk1"/>
              </a:solidFill>
              <a:latin typeface="Calibri"/>
              <a:ea typeface="Calibri"/>
              <a:cs typeface="Calibri"/>
              <a:sym typeface="Calibri"/>
            </a:endParaRPr>
          </a:p>
        </p:txBody>
      </p:sp>
      <p:sp>
        <p:nvSpPr>
          <p:cNvPr id="897" name="Google Shape;897;p60"/>
          <p:cNvSpPr txBox="1"/>
          <p:nvPr/>
        </p:nvSpPr>
        <p:spPr>
          <a:xfrm>
            <a:off x="5641848" y="2176272"/>
            <a:ext cx="132588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100"/>
              <a:buFont typeface="Calibri"/>
              <a:buNone/>
            </a:pPr>
            <a:r>
              <a:rPr b="0" i="0" lang="en" sz="1100" u="none" cap="none" strike="noStrike">
                <a:solidFill>
                  <a:schemeClr val="lt1"/>
                </a:solidFill>
                <a:latin typeface="Calibri"/>
                <a:ea typeface="Calibri"/>
                <a:cs typeface="Calibri"/>
                <a:sym typeface="Calibri"/>
              </a:rPr>
              <a:t>Klik Approve untuk menyetujui pembayaran, atau Reject dan isi Alasan Penolakan.</a:t>
            </a:r>
            <a:endParaRPr b="0" i="0" sz="1100" u="none" cap="none" strike="noStrike">
              <a:solidFill>
                <a:schemeClr val="dk1"/>
              </a:solidFill>
              <a:latin typeface="Calibri"/>
              <a:ea typeface="Calibri"/>
              <a:cs typeface="Calibri"/>
              <a:sym typeface="Calibri"/>
            </a:endParaRPr>
          </a:p>
        </p:txBody>
      </p:sp>
      <p:sp>
        <p:nvSpPr>
          <p:cNvPr id="898" name="Google Shape;898;p60"/>
          <p:cNvSpPr/>
          <p:nvPr/>
        </p:nvSpPr>
        <p:spPr>
          <a:xfrm>
            <a:off x="7072884" y="2286000"/>
            <a:ext cx="100584" cy="201168"/>
          </a:xfrm>
          <a:prstGeom prst="chevron">
            <a:avLst>
              <a:gd fmla="val 50000" name="adj"/>
            </a:avLst>
          </a:prstGeom>
          <a:solidFill>
            <a:srgbClr val="A5A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60"/>
          <p:cNvSpPr/>
          <p:nvPr/>
        </p:nvSpPr>
        <p:spPr>
          <a:xfrm>
            <a:off x="7187184" y="1188720"/>
            <a:ext cx="1554480" cy="237744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60"/>
          <p:cNvSpPr txBox="1"/>
          <p:nvPr/>
        </p:nvSpPr>
        <p:spPr>
          <a:xfrm>
            <a:off x="7324344" y="1298448"/>
            <a:ext cx="548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800"/>
              <a:buFont typeface="Calibri"/>
              <a:buNone/>
            </a:pPr>
            <a:r>
              <a:rPr b="1" i="0" lang="en" sz="2800" u="none" cap="none" strike="noStrike">
                <a:solidFill>
                  <a:schemeClr val="accent1"/>
                </a:solidFill>
                <a:latin typeface="Calibri"/>
                <a:ea typeface="Calibri"/>
                <a:cs typeface="Calibri"/>
                <a:sym typeface="Calibri"/>
              </a:rPr>
              <a:t>5</a:t>
            </a:r>
            <a:endParaRPr b="0" i="0" sz="2800" u="none" cap="none" strike="noStrike">
              <a:solidFill>
                <a:schemeClr val="dk1"/>
              </a:solidFill>
              <a:latin typeface="Calibri"/>
              <a:ea typeface="Calibri"/>
              <a:cs typeface="Calibri"/>
              <a:sym typeface="Calibri"/>
            </a:endParaRPr>
          </a:p>
        </p:txBody>
      </p:sp>
      <p:sp>
        <p:nvSpPr>
          <p:cNvPr id="901" name="Google Shape;901;p60"/>
          <p:cNvSpPr txBox="1"/>
          <p:nvPr/>
        </p:nvSpPr>
        <p:spPr>
          <a:xfrm>
            <a:off x="7324344" y="1828800"/>
            <a:ext cx="1325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Pastikan</a:t>
            </a:r>
            <a:endParaRPr b="0" i="0" sz="1400" u="none" cap="none" strike="noStrike">
              <a:solidFill>
                <a:schemeClr val="dk1"/>
              </a:solidFill>
              <a:latin typeface="Calibri"/>
              <a:ea typeface="Calibri"/>
              <a:cs typeface="Calibri"/>
              <a:sym typeface="Calibri"/>
            </a:endParaRPr>
          </a:p>
        </p:txBody>
      </p:sp>
      <p:sp>
        <p:nvSpPr>
          <p:cNvPr id="902" name="Google Shape;902;p60"/>
          <p:cNvSpPr txBox="1"/>
          <p:nvPr/>
        </p:nvSpPr>
        <p:spPr>
          <a:xfrm>
            <a:off x="7324344" y="2176272"/>
            <a:ext cx="132588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Cek Message/Timeline: pembayaran tercatat disetujui &amp; status kavling berubah.</a:t>
            </a:r>
            <a:endParaRPr b="0" i="0" sz="1100" u="none" cap="none" strike="noStrike">
              <a:solidFill>
                <a:schemeClr val="dk1"/>
              </a:solidFill>
              <a:latin typeface="Calibri"/>
              <a:ea typeface="Calibri"/>
              <a:cs typeface="Calibri"/>
              <a:sym typeface="Calibri"/>
            </a:endParaRPr>
          </a:p>
        </p:txBody>
      </p:sp>
      <p:sp>
        <p:nvSpPr>
          <p:cNvPr id="903" name="Google Shape;903;p60"/>
          <p:cNvSpPr/>
          <p:nvPr/>
        </p:nvSpPr>
        <p:spPr>
          <a:xfrm>
            <a:off x="457200" y="3794760"/>
            <a:ext cx="8229600" cy="685800"/>
          </a:xfrm>
          <a:prstGeom prst="roundRect">
            <a:avLst>
              <a:gd fmla="val 10667" name="adj"/>
            </a:avLst>
          </a:prstGeom>
          <a:solidFill>
            <a:srgbClr val="FFF7DB"/>
          </a:solidFill>
          <a:ln cap="flat" cmpd="sng" w="12700">
            <a:solidFill>
              <a:srgbClr val="F5B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60"/>
          <p:cNvSpPr txBox="1"/>
          <p:nvPr/>
        </p:nvSpPr>
        <p:spPr>
          <a:xfrm>
            <a:off x="640080" y="3794760"/>
            <a:ext cx="7863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Contoh hasil approve: </a:t>
            </a:r>
            <a:r>
              <a:rPr b="0" i="0" lang="en" sz="1200" u="none" cap="none" strike="noStrike">
                <a:solidFill>
                  <a:schemeClr val="dk1"/>
                </a:solidFill>
                <a:latin typeface="Calibri"/>
                <a:ea typeface="Calibri"/>
                <a:cs typeface="Calibri"/>
                <a:sym typeface="Calibri"/>
              </a:rPr>
              <a:t>"Pembayaran TTS 000041 (Reserve) Rp 3.000.000 disetujui Kasir. Reserve order disetujui Kasir. Kavling BB12-36: Available menjadi Reserve."</a:t>
            </a:r>
            <a:endParaRPr b="0" i="0" sz="1200" u="none" cap="none" strike="noStrike">
              <a:solidFill>
                <a:schemeClr val="dk1"/>
              </a:solidFill>
              <a:latin typeface="Calibri"/>
              <a:ea typeface="Calibri"/>
              <a:cs typeface="Calibri"/>
              <a:sym typeface="Calibri"/>
            </a:endParaRPr>
          </a:p>
        </p:txBody>
      </p:sp>
      <p:sp>
        <p:nvSpPr>
          <p:cNvPr id="905" name="Google Shape;905;p60"/>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61"/>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Membaca TTS (Tanda Terima Sementara)</a:t>
            </a:r>
            <a:endParaRPr sz="2800"/>
          </a:p>
        </p:txBody>
      </p:sp>
      <p:sp>
        <p:nvSpPr>
          <p:cNvPr id="912" name="Google Shape;912;p61"/>
          <p:cNvSpPr/>
          <p:nvPr/>
        </p:nvSpPr>
        <p:spPr>
          <a:xfrm>
            <a:off x="402336" y="996696"/>
            <a:ext cx="4087368" cy="2419194"/>
          </a:xfrm>
          <a:prstGeom prst="roundRect">
            <a:avLst>
              <a:gd fmla="val 3024"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ftar TTS" id="913" name="Google Shape;913;p61"/>
          <p:cNvPicPr preferRelativeResize="0"/>
          <p:nvPr/>
        </p:nvPicPr>
        <p:blipFill rotWithShape="1">
          <a:blip r:embed="rId3">
            <a:alphaModFix/>
          </a:blip>
          <a:srcRect b="0" l="0" r="0" t="0"/>
          <a:stretch/>
        </p:blipFill>
        <p:spPr>
          <a:xfrm>
            <a:off x="457200" y="1051560"/>
            <a:ext cx="3977640" cy="2309466"/>
          </a:xfrm>
          <a:prstGeom prst="rect">
            <a:avLst/>
          </a:prstGeom>
          <a:noFill/>
          <a:ln>
            <a:noFill/>
          </a:ln>
        </p:spPr>
      </p:pic>
      <p:sp>
        <p:nvSpPr>
          <p:cNvPr id="914" name="Google Shape;914;p61"/>
          <p:cNvSpPr/>
          <p:nvPr/>
        </p:nvSpPr>
        <p:spPr>
          <a:xfrm>
            <a:off x="4654296" y="996696"/>
            <a:ext cx="4087368" cy="2419194"/>
          </a:xfrm>
          <a:prstGeom prst="roundRect">
            <a:avLst>
              <a:gd fmla="val 3024"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etail TTS bagian Dalam Bentuk" id="915" name="Google Shape;915;p61"/>
          <p:cNvPicPr preferRelativeResize="0"/>
          <p:nvPr/>
        </p:nvPicPr>
        <p:blipFill rotWithShape="1">
          <a:blip r:embed="rId4">
            <a:alphaModFix/>
          </a:blip>
          <a:srcRect b="0" l="0" r="0" t="0"/>
          <a:stretch/>
        </p:blipFill>
        <p:spPr>
          <a:xfrm>
            <a:off x="4709160" y="1051560"/>
            <a:ext cx="3977640" cy="2309466"/>
          </a:xfrm>
          <a:prstGeom prst="rect">
            <a:avLst/>
          </a:prstGeom>
          <a:noFill/>
          <a:ln>
            <a:noFill/>
          </a:ln>
        </p:spPr>
      </p:pic>
      <p:sp>
        <p:nvSpPr>
          <p:cNvPr id="916" name="Google Shape;916;p61"/>
          <p:cNvSpPr txBox="1"/>
          <p:nvPr/>
        </p:nvSpPr>
        <p:spPr>
          <a:xfrm>
            <a:off x="457200" y="3502152"/>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 sz="1300" u="none" cap="none" strike="noStrike">
                <a:solidFill>
                  <a:schemeClr val="dk2"/>
                </a:solidFill>
                <a:latin typeface="Calibri"/>
                <a:ea typeface="Calibri"/>
                <a:cs typeface="Calibri"/>
                <a:sym typeface="Calibri"/>
              </a:rPr>
              <a:t>Daftar TTS pada satu RO</a:t>
            </a:r>
            <a:endParaRPr b="0" i="0" sz="1300" u="none" cap="none" strike="noStrike">
              <a:solidFill>
                <a:schemeClr val="dk1"/>
              </a:solidFill>
              <a:latin typeface="Calibri"/>
              <a:ea typeface="Calibri"/>
              <a:cs typeface="Calibri"/>
              <a:sym typeface="Calibri"/>
            </a:endParaRPr>
          </a:p>
        </p:txBody>
      </p:sp>
      <p:sp>
        <p:nvSpPr>
          <p:cNvPr id="917" name="Google Shape;917;p61"/>
          <p:cNvSpPr txBox="1"/>
          <p:nvPr/>
        </p:nvSpPr>
        <p:spPr>
          <a:xfrm>
            <a:off x="457200" y="3776472"/>
            <a:ext cx="39776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Menunggu Verifikasi = perlu dicek · Pembayaran Disetujui = selesai. TTS yang sudah di-approve Kasir tidak bisa dihapus.</a:t>
            </a:r>
            <a:endParaRPr b="0" i="0" sz="1200" u="none" cap="none" strike="noStrike">
              <a:solidFill>
                <a:schemeClr val="dk1"/>
              </a:solidFill>
              <a:latin typeface="Calibri"/>
              <a:ea typeface="Calibri"/>
              <a:cs typeface="Calibri"/>
              <a:sym typeface="Calibri"/>
            </a:endParaRPr>
          </a:p>
        </p:txBody>
      </p:sp>
      <p:sp>
        <p:nvSpPr>
          <p:cNvPr id="918" name="Google Shape;918;p61"/>
          <p:cNvSpPr txBox="1"/>
          <p:nvPr/>
        </p:nvSpPr>
        <p:spPr>
          <a:xfrm>
            <a:off x="4709160" y="3502152"/>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 sz="1300" u="none" cap="none" strike="noStrike">
                <a:solidFill>
                  <a:schemeClr val="dk2"/>
                </a:solidFill>
                <a:latin typeface="Calibri"/>
                <a:ea typeface="Calibri"/>
                <a:cs typeface="Calibri"/>
                <a:sym typeface="Calibri"/>
              </a:rPr>
              <a:t>Isi detail TTS yang dicek</a:t>
            </a:r>
            <a:endParaRPr b="0" i="0" sz="1300" u="none" cap="none" strike="noStrike">
              <a:solidFill>
                <a:schemeClr val="dk1"/>
              </a:solidFill>
              <a:latin typeface="Calibri"/>
              <a:ea typeface="Calibri"/>
              <a:cs typeface="Calibri"/>
              <a:sym typeface="Calibri"/>
            </a:endParaRPr>
          </a:p>
        </p:txBody>
      </p:sp>
      <p:sp>
        <p:nvSpPr>
          <p:cNvPr id="919" name="Google Shape;919;p61"/>
          <p:cNvSpPr txBox="1"/>
          <p:nvPr/>
        </p:nvSpPr>
        <p:spPr>
          <a:xfrm>
            <a:off x="4709160" y="3776472"/>
            <a:ext cx="39776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Telah terima dari, Untuk pembayaran (RB/Reserve/SP/Top up), Kavling, TTS Date, Dalam bentuk (Tunai/Transfer/VA/Kartu Kredit/Giro), terbilang &amp; nominal.</a:t>
            </a:r>
            <a:endParaRPr b="0" i="0" sz="1200" u="none" cap="none" strike="noStrike">
              <a:solidFill>
                <a:schemeClr val="dk1"/>
              </a:solidFill>
              <a:latin typeface="Calibri"/>
              <a:ea typeface="Calibri"/>
              <a:cs typeface="Calibri"/>
              <a:sym typeface="Calibri"/>
            </a:endParaRPr>
          </a:p>
        </p:txBody>
      </p:sp>
      <p:sp>
        <p:nvSpPr>
          <p:cNvPr id="920" name="Google Shape;920;p61"/>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62"/>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Verifikasi dokumen di tab Attachment</a:t>
            </a:r>
            <a:endParaRPr sz="2800"/>
          </a:p>
        </p:txBody>
      </p:sp>
      <p:sp>
        <p:nvSpPr>
          <p:cNvPr id="927" name="Google Shape;927;p62"/>
          <p:cNvSpPr/>
          <p:nvPr/>
        </p:nvSpPr>
        <p:spPr>
          <a:xfrm>
            <a:off x="402336" y="996696"/>
            <a:ext cx="5230368" cy="3082834"/>
          </a:xfrm>
          <a:prstGeom prst="roundRect">
            <a:avLst>
              <a:gd fmla="val 2373"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ab Attachment" id="928" name="Google Shape;928;p62"/>
          <p:cNvPicPr preferRelativeResize="0"/>
          <p:nvPr/>
        </p:nvPicPr>
        <p:blipFill rotWithShape="1">
          <a:blip r:embed="rId3">
            <a:alphaModFix/>
          </a:blip>
          <a:srcRect b="0" l="0" r="0" t="0"/>
          <a:stretch/>
        </p:blipFill>
        <p:spPr>
          <a:xfrm>
            <a:off x="457200" y="1051560"/>
            <a:ext cx="5120640" cy="2973106"/>
          </a:xfrm>
          <a:prstGeom prst="rect">
            <a:avLst/>
          </a:prstGeom>
          <a:noFill/>
          <a:ln>
            <a:noFill/>
          </a:ln>
        </p:spPr>
      </p:pic>
      <p:sp>
        <p:nvSpPr>
          <p:cNvPr id="929" name="Google Shape;929;p62"/>
          <p:cNvSpPr txBox="1"/>
          <p:nvPr/>
        </p:nvSpPr>
        <p:spPr>
          <a:xfrm>
            <a:off x="5852160" y="1051560"/>
            <a:ext cx="2834640" cy="3108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Filter: </a:t>
            </a:r>
            <a:r>
              <a:rPr b="0" i="0" lang="en" sz="1300" u="none" cap="none" strike="noStrike">
                <a:solidFill>
                  <a:schemeClr val="dk1"/>
                </a:solidFill>
                <a:latin typeface="Calibri"/>
                <a:ea typeface="Calibri"/>
                <a:cs typeface="Calibri"/>
                <a:sym typeface="Calibri"/>
              </a:rPr>
              <a:t>All · Belum Diverifikasi · Rejected · Approved</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Tipe dokumen: </a:t>
            </a:r>
            <a:r>
              <a:rPr b="0" i="0" lang="en" sz="1300" u="none" cap="none" strike="noStrike">
                <a:solidFill>
                  <a:schemeClr val="dk1"/>
                </a:solidFill>
                <a:latin typeface="Calibri"/>
                <a:ea typeface="Calibri"/>
                <a:cs typeface="Calibri"/>
                <a:sym typeface="Calibri"/>
              </a:rPr>
              <a:t>Bukti Transfer, KTP Pemohon, NPWP Pribadi</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Verifikasi: </a:t>
            </a:r>
            <a:r>
              <a:rPr b="0" i="0" lang="en" sz="1300" u="none" cap="none" strike="noStrike">
                <a:solidFill>
                  <a:schemeClr val="dk1"/>
                </a:solidFill>
                <a:latin typeface="Calibri"/>
                <a:ea typeface="Calibri"/>
                <a:cs typeface="Calibri"/>
                <a:sym typeface="Calibri"/>
              </a:rPr>
              <a:t>pilih Pending / Approved / Rejected + catatan (opsional)</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Upload: </a:t>
            </a:r>
            <a:r>
              <a:rPr b="0" i="0" lang="en" sz="1300" u="none" cap="none" strike="noStrike">
                <a:solidFill>
                  <a:schemeClr val="dk1"/>
                </a:solidFill>
                <a:latin typeface="Calibri"/>
                <a:ea typeface="Calibri"/>
                <a:cs typeface="Calibri"/>
                <a:sym typeface="Calibri"/>
              </a:rPr>
              <a:t>maks. 10 file, 10 MB per file; kaitkan bukti ke TTS agar ikut verifikasi pembayarannya</a:t>
            </a:r>
            <a:endParaRPr b="0" i="0" sz="1300" u="none" cap="none" strike="noStrike">
              <a:solidFill>
                <a:schemeClr val="dk1"/>
              </a:solidFill>
              <a:latin typeface="Calibri"/>
              <a:ea typeface="Calibri"/>
              <a:cs typeface="Calibri"/>
              <a:sym typeface="Calibri"/>
            </a:endParaRPr>
          </a:p>
        </p:txBody>
      </p:sp>
      <p:sp>
        <p:nvSpPr>
          <p:cNvPr id="930" name="Google Shape;930;p62"/>
          <p:cNvSpPr/>
          <p:nvPr/>
        </p:nvSpPr>
        <p:spPr>
          <a:xfrm>
            <a:off x="457200" y="4187952"/>
            <a:ext cx="8229600" cy="411480"/>
          </a:xfrm>
          <a:prstGeom prst="roundRect">
            <a:avLst>
              <a:gd fmla="val 17778" name="adj"/>
            </a:avLst>
          </a:prstGeom>
          <a:solidFill>
            <a:srgbClr val="FD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62"/>
          <p:cNvSpPr txBox="1"/>
          <p:nvPr/>
        </p:nvSpPr>
        <p:spPr>
          <a:xfrm>
            <a:off x="640080" y="4187952"/>
            <a:ext cx="7863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Calibri"/>
              <a:buNone/>
            </a:pPr>
            <a:r>
              <a:rPr b="1" i="0" lang="en" sz="1200" u="none" cap="none" strike="noStrike">
                <a:solidFill>
                  <a:srgbClr val="DC2626"/>
                </a:solidFill>
                <a:latin typeface="Calibri"/>
                <a:ea typeface="Calibri"/>
                <a:cs typeface="Calibri"/>
                <a:sym typeface="Calibri"/>
              </a:rPr>
              <a:t>Hati-hati: </a:t>
            </a:r>
            <a:r>
              <a:rPr b="0" i="0" lang="en" sz="1200" u="none" cap="none" strike="noStrike">
                <a:solidFill>
                  <a:schemeClr val="dk1"/>
                </a:solidFill>
                <a:latin typeface="Calibri"/>
                <a:ea typeface="Calibri"/>
                <a:cs typeface="Calibri"/>
                <a:sym typeface="Calibri"/>
              </a:rPr>
              <a:t>ikon tempat sampah menghapus dokumen beserta file di Google Drive.</a:t>
            </a:r>
            <a:endParaRPr b="0" i="0" sz="1200" u="none" cap="none" strike="noStrike">
              <a:solidFill>
                <a:schemeClr val="dk1"/>
              </a:solidFill>
              <a:latin typeface="Calibri"/>
              <a:ea typeface="Calibri"/>
              <a:cs typeface="Calibri"/>
              <a:sym typeface="Calibri"/>
            </a:endParaRPr>
          </a:p>
        </p:txBody>
      </p:sp>
      <p:sp>
        <p:nvSpPr>
          <p:cNvPr id="932" name="Google Shape;932;p62"/>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63"/>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Jejak audit: Timeline &amp; Message</a:t>
            </a:r>
            <a:endParaRPr sz="2800"/>
          </a:p>
        </p:txBody>
      </p:sp>
      <p:sp>
        <p:nvSpPr>
          <p:cNvPr id="939" name="Google Shape;939;p63"/>
          <p:cNvSpPr/>
          <p:nvPr/>
        </p:nvSpPr>
        <p:spPr>
          <a:xfrm>
            <a:off x="402336" y="996696"/>
            <a:ext cx="4087368" cy="2419194"/>
          </a:xfrm>
          <a:prstGeom prst="roundRect">
            <a:avLst>
              <a:gd fmla="val 3024"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ab Timeline" id="940" name="Google Shape;940;p63"/>
          <p:cNvPicPr preferRelativeResize="0"/>
          <p:nvPr/>
        </p:nvPicPr>
        <p:blipFill rotWithShape="1">
          <a:blip r:embed="rId3">
            <a:alphaModFix/>
          </a:blip>
          <a:srcRect b="0" l="0" r="0" t="0"/>
          <a:stretch/>
        </p:blipFill>
        <p:spPr>
          <a:xfrm>
            <a:off x="457200" y="1051560"/>
            <a:ext cx="3977640" cy="2309466"/>
          </a:xfrm>
          <a:prstGeom prst="rect">
            <a:avLst/>
          </a:prstGeom>
          <a:noFill/>
          <a:ln>
            <a:noFill/>
          </a:ln>
        </p:spPr>
      </p:pic>
      <p:sp>
        <p:nvSpPr>
          <p:cNvPr id="941" name="Google Shape;941;p63"/>
          <p:cNvSpPr/>
          <p:nvPr/>
        </p:nvSpPr>
        <p:spPr>
          <a:xfrm>
            <a:off x="4654296" y="996696"/>
            <a:ext cx="4087368" cy="2419194"/>
          </a:xfrm>
          <a:prstGeom prst="roundRect">
            <a:avLst>
              <a:gd fmla="val 3024"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ab Message" id="942" name="Google Shape;942;p63"/>
          <p:cNvPicPr preferRelativeResize="0"/>
          <p:nvPr/>
        </p:nvPicPr>
        <p:blipFill rotWithShape="1">
          <a:blip r:embed="rId4">
            <a:alphaModFix/>
          </a:blip>
          <a:srcRect b="0" l="0" r="0" t="0"/>
          <a:stretch/>
        </p:blipFill>
        <p:spPr>
          <a:xfrm>
            <a:off x="4709160" y="1051560"/>
            <a:ext cx="3977640" cy="2309466"/>
          </a:xfrm>
          <a:prstGeom prst="rect">
            <a:avLst/>
          </a:prstGeom>
          <a:noFill/>
          <a:ln>
            <a:noFill/>
          </a:ln>
        </p:spPr>
      </p:pic>
      <p:sp>
        <p:nvSpPr>
          <p:cNvPr id="943" name="Google Shape;943;p63"/>
          <p:cNvSpPr txBox="1"/>
          <p:nvPr/>
        </p:nvSpPr>
        <p:spPr>
          <a:xfrm>
            <a:off x="457200" y="3502152"/>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 sz="1300" u="none" cap="none" strike="noStrike">
                <a:solidFill>
                  <a:schemeClr val="dk2"/>
                </a:solidFill>
                <a:latin typeface="Calibri"/>
                <a:ea typeface="Calibri"/>
                <a:cs typeface="Calibri"/>
                <a:sym typeface="Calibri"/>
              </a:rPr>
              <a:t>Timeline</a:t>
            </a:r>
            <a:endParaRPr b="0" i="0" sz="1300" u="none" cap="none" strike="noStrike">
              <a:solidFill>
                <a:schemeClr val="dk1"/>
              </a:solidFill>
              <a:latin typeface="Calibri"/>
              <a:ea typeface="Calibri"/>
              <a:cs typeface="Calibri"/>
              <a:sym typeface="Calibri"/>
            </a:endParaRPr>
          </a:p>
        </p:txBody>
      </p:sp>
      <p:sp>
        <p:nvSpPr>
          <p:cNvPr id="944" name="Google Shape;944;p63"/>
          <p:cNvSpPr txBox="1"/>
          <p:nvPr/>
        </p:nvSpPr>
        <p:spPr>
          <a:xfrm>
            <a:off x="457200" y="3776472"/>
            <a:ext cx="39776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Tahap RO beserta tanggal, nominal &amp; status (Terverifikasi / Dalam Pengajuan) dan catatan terkait.</a:t>
            </a:r>
            <a:endParaRPr b="0" i="0" sz="1200" u="none" cap="none" strike="noStrike">
              <a:solidFill>
                <a:schemeClr val="dk1"/>
              </a:solidFill>
              <a:latin typeface="Calibri"/>
              <a:ea typeface="Calibri"/>
              <a:cs typeface="Calibri"/>
              <a:sym typeface="Calibri"/>
            </a:endParaRPr>
          </a:p>
        </p:txBody>
      </p:sp>
      <p:sp>
        <p:nvSpPr>
          <p:cNvPr id="945" name="Google Shape;945;p63"/>
          <p:cNvSpPr txBox="1"/>
          <p:nvPr/>
        </p:nvSpPr>
        <p:spPr>
          <a:xfrm>
            <a:off x="4709160" y="3502152"/>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 sz="1300" u="none" cap="none" strike="noStrike">
                <a:solidFill>
                  <a:schemeClr val="dk2"/>
                </a:solidFill>
                <a:latin typeface="Calibri"/>
                <a:ea typeface="Calibri"/>
                <a:cs typeface="Calibri"/>
                <a:sym typeface="Calibri"/>
              </a:rPr>
              <a:t>Message</a:t>
            </a:r>
            <a:endParaRPr b="0" i="0" sz="1300" u="none" cap="none" strike="noStrike">
              <a:solidFill>
                <a:schemeClr val="dk1"/>
              </a:solidFill>
              <a:latin typeface="Calibri"/>
              <a:ea typeface="Calibri"/>
              <a:cs typeface="Calibri"/>
              <a:sym typeface="Calibri"/>
            </a:endParaRPr>
          </a:p>
        </p:txBody>
      </p:sp>
      <p:sp>
        <p:nvSpPr>
          <p:cNvPr id="946" name="Google Shape;946;p63"/>
          <p:cNvSpPr txBox="1"/>
          <p:nvPr/>
        </p:nvSpPr>
        <p:spPr>
          <a:xfrm>
            <a:off x="4709160" y="3776472"/>
            <a:ext cx="39776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Log otomatis setiap aksi (approve, top up, setor) + Tulis Pesan untuk koordinasi dengan Sales.</a:t>
            </a:r>
            <a:endParaRPr b="0" i="0" sz="1200" u="none" cap="none" strike="noStrike">
              <a:solidFill>
                <a:schemeClr val="dk1"/>
              </a:solidFill>
              <a:latin typeface="Calibri"/>
              <a:ea typeface="Calibri"/>
              <a:cs typeface="Calibri"/>
              <a:sym typeface="Calibri"/>
            </a:endParaRPr>
          </a:p>
        </p:txBody>
      </p:sp>
      <p:sp>
        <p:nvSpPr>
          <p:cNvPr id="947" name="Google Shape;947;p63"/>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64"/>
          <p:cNvSpPr txBox="1"/>
          <p:nvPr>
            <p:ph type="title"/>
          </p:nvPr>
        </p:nvSpPr>
        <p:spPr>
          <a:xfrm>
            <a:off x="548640" y="1828800"/>
            <a:ext cx="804672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 sz="3600">
                <a:solidFill>
                  <a:schemeClr val="lt1"/>
                </a:solidFill>
              </a:rPr>
              <a:t>Setor tunai</a:t>
            </a:r>
            <a:endParaRPr sz="3600"/>
          </a:p>
        </p:txBody>
      </p:sp>
      <p:sp>
        <p:nvSpPr>
          <p:cNvPr id="954" name="Google Shape;954;p64"/>
          <p:cNvSpPr txBox="1"/>
          <p:nvPr>
            <p:ph idx="1" type="body"/>
          </p:nvPr>
        </p:nvSpPr>
        <p:spPr>
          <a:xfrm>
            <a:off x="548640" y="2834640"/>
            <a:ext cx="8046720" cy="7315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rPr lang="en" sz="1600">
                <a:solidFill>
                  <a:schemeClr val="lt2"/>
                </a:solidFill>
              </a:rPr>
              <a:t>Mencatat uang tunai TTS yang sudah disetor ke rekening perusahaan</a:t>
            </a:r>
            <a:endParaRPr sz="1600"/>
          </a:p>
        </p:txBody>
      </p:sp>
      <p:sp>
        <p:nvSpPr>
          <p:cNvPr id="955" name="Google Shape;955;p64"/>
          <p:cNvSpPr txBox="1"/>
          <p:nvPr>
            <p:ph idx="4294967295"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65"/>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Langkah mencatat setoran tunai</a:t>
            </a:r>
            <a:endParaRPr sz="2800"/>
          </a:p>
        </p:txBody>
      </p:sp>
      <p:sp>
        <p:nvSpPr>
          <p:cNvPr id="962" name="Google Shape;962;p65"/>
          <p:cNvSpPr/>
          <p:nvPr/>
        </p:nvSpPr>
        <p:spPr>
          <a:xfrm>
            <a:off x="402336" y="996696"/>
            <a:ext cx="4087368" cy="2419194"/>
          </a:xfrm>
          <a:prstGeom prst="roundRect">
            <a:avLst>
              <a:gd fmla="val 3024"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ab Setor Tunai" id="963" name="Google Shape;963;p65"/>
          <p:cNvPicPr preferRelativeResize="0"/>
          <p:nvPr/>
        </p:nvPicPr>
        <p:blipFill rotWithShape="1">
          <a:blip r:embed="rId3">
            <a:alphaModFix/>
          </a:blip>
          <a:srcRect b="0" l="0" r="0" t="0"/>
          <a:stretch/>
        </p:blipFill>
        <p:spPr>
          <a:xfrm>
            <a:off x="457200" y="1051560"/>
            <a:ext cx="3977640" cy="2309466"/>
          </a:xfrm>
          <a:prstGeom prst="rect">
            <a:avLst/>
          </a:prstGeom>
          <a:noFill/>
          <a:ln>
            <a:noFill/>
          </a:ln>
        </p:spPr>
      </p:pic>
      <p:sp>
        <p:nvSpPr>
          <p:cNvPr id="964" name="Google Shape;964;p65"/>
          <p:cNvSpPr/>
          <p:nvPr/>
        </p:nvSpPr>
        <p:spPr>
          <a:xfrm>
            <a:off x="4654296" y="996696"/>
            <a:ext cx="4087368" cy="2419194"/>
          </a:xfrm>
          <a:prstGeom prst="roundRect">
            <a:avLst>
              <a:gd fmla="val 3024"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ialog Tandai Sudah Disetor" id="965" name="Google Shape;965;p65"/>
          <p:cNvPicPr preferRelativeResize="0"/>
          <p:nvPr/>
        </p:nvPicPr>
        <p:blipFill rotWithShape="1">
          <a:blip r:embed="rId4">
            <a:alphaModFix/>
          </a:blip>
          <a:srcRect b="0" l="0" r="0" t="0"/>
          <a:stretch/>
        </p:blipFill>
        <p:spPr>
          <a:xfrm>
            <a:off x="4709160" y="1051560"/>
            <a:ext cx="3977640" cy="2309466"/>
          </a:xfrm>
          <a:prstGeom prst="rect">
            <a:avLst/>
          </a:prstGeom>
          <a:noFill/>
          <a:ln>
            <a:noFill/>
          </a:ln>
        </p:spPr>
      </p:pic>
      <p:sp>
        <p:nvSpPr>
          <p:cNvPr id="966" name="Google Shape;966;p65"/>
          <p:cNvSpPr/>
          <p:nvPr/>
        </p:nvSpPr>
        <p:spPr>
          <a:xfrm>
            <a:off x="457200" y="3566160"/>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65"/>
          <p:cNvSpPr txBox="1"/>
          <p:nvPr/>
        </p:nvSpPr>
        <p:spPr>
          <a:xfrm>
            <a:off x="457200" y="356616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968" name="Google Shape;968;p65"/>
          <p:cNvSpPr txBox="1"/>
          <p:nvPr/>
        </p:nvSpPr>
        <p:spPr>
          <a:xfrm>
            <a:off x="841248" y="3520440"/>
            <a:ext cx="2331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Buka tab Setor Tunai, filter Belum Disetor</a:t>
            </a:r>
            <a:endParaRPr b="0" i="0" sz="1200" u="none" cap="none" strike="noStrike">
              <a:solidFill>
                <a:schemeClr val="dk1"/>
              </a:solidFill>
              <a:latin typeface="Calibri"/>
              <a:ea typeface="Calibri"/>
              <a:cs typeface="Calibri"/>
              <a:sym typeface="Calibri"/>
            </a:endParaRPr>
          </a:p>
        </p:txBody>
      </p:sp>
      <p:sp>
        <p:nvSpPr>
          <p:cNvPr id="969" name="Google Shape;969;p65"/>
          <p:cNvSpPr/>
          <p:nvPr/>
        </p:nvSpPr>
        <p:spPr>
          <a:xfrm>
            <a:off x="3246120" y="3566160"/>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65"/>
          <p:cNvSpPr txBox="1"/>
          <p:nvPr/>
        </p:nvSpPr>
        <p:spPr>
          <a:xfrm>
            <a:off x="3246120" y="356616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971" name="Google Shape;971;p65"/>
          <p:cNvSpPr txBox="1"/>
          <p:nvPr/>
        </p:nvSpPr>
        <p:spPr>
          <a:xfrm>
            <a:off x="3630168" y="3520440"/>
            <a:ext cx="2331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Centang TTS yang uangnya ikut disetor</a:t>
            </a:r>
            <a:endParaRPr b="0" i="0" sz="1200" u="none" cap="none" strike="noStrike">
              <a:solidFill>
                <a:schemeClr val="dk1"/>
              </a:solidFill>
              <a:latin typeface="Calibri"/>
              <a:ea typeface="Calibri"/>
              <a:cs typeface="Calibri"/>
              <a:sym typeface="Calibri"/>
            </a:endParaRPr>
          </a:p>
        </p:txBody>
      </p:sp>
      <p:sp>
        <p:nvSpPr>
          <p:cNvPr id="972" name="Google Shape;972;p65"/>
          <p:cNvSpPr/>
          <p:nvPr/>
        </p:nvSpPr>
        <p:spPr>
          <a:xfrm>
            <a:off x="6035040" y="3566160"/>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65"/>
          <p:cNvSpPr txBox="1"/>
          <p:nvPr/>
        </p:nvSpPr>
        <p:spPr>
          <a:xfrm>
            <a:off x="6035040" y="356616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974" name="Google Shape;974;p65"/>
          <p:cNvSpPr txBox="1"/>
          <p:nvPr/>
        </p:nvSpPr>
        <p:spPr>
          <a:xfrm>
            <a:off x="6419088" y="3520440"/>
            <a:ext cx="2331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Cek total di bar bawah = total slip</a:t>
            </a:r>
            <a:endParaRPr b="0" i="0" sz="1200" u="none" cap="none" strike="noStrike">
              <a:solidFill>
                <a:schemeClr val="dk1"/>
              </a:solidFill>
              <a:latin typeface="Calibri"/>
              <a:ea typeface="Calibri"/>
              <a:cs typeface="Calibri"/>
              <a:sym typeface="Calibri"/>
            </a:endParaRPr>
          </a:p>
        </p:txBody>
      </p:sp>
      <p:sp>
        <p:nvSpPr>
          <p:cNvPr id="975" name="Google Shape;975;p65"/>
          <p:cNvSpPr/>
          <p:nvPr/>
        </p:nvSpPr>
        <p:spPr>
          <a:xfrm>
            <a:off x="457200" y="4069080"/>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65"/>
          <p:cNvSpPr txBox="1"/>
          <p:nvPr/>
        </p:nvSpPr>
        <p:spPr>
          <a:xfrm>
            <a:off x="457200" y="406908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977" name="Google Shape;977;p65"/>
          <p:cNvSpPr txBox="1"/>
          <p:nvPr/>
        </p:nvSpPr>
        <p:spPr>
          <a:xfrm>
            <a:off x="841248" y="4023360"/>
            <a:ext cx="2331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Klik Tandai Sudah Disetor</a:t>
            </a:r>
            <a:endParaRPr b="0" i="0" sz="1200" u="none" cap="none" strike="noStrike">
              <a:solidFill>
                <a:schemeClr val="dk1"/>
              </a:solidFill>
              <a:latin typeface="Calibri"/>
              <a:ea typeface="Calibri"/>
              <a:cs typeface="Calibri"/>
              <a:sym typeface="Calibri"/>
            </a:endParaRPr>
          </a:p>
        </p:txBody>
      </p:sp>
      <p:sp>
        <p:nvSpPr>
          <p:cNvPr id="978" name="Google Shape;978;p65"/>
          <p:cNvSpPr/>
          <p:nvPr/>
        </p:nvSpPr>
        <p:spPr>
          <a:xfrm>
            <a:off x="3246120" y="4069080"/>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65"/>
          <p:cNvSpPr txBox="1"/>
          <p:nvPr/>
        </p:nvSpPr>
        <p:spPr>
          <a:xfrm>
            <a:off x="3246120" y="406908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980" name="Google Shape;980;p65"/>
          <p:cNvSpPr txBox="1"/>
          <p:nvPr/>
        </p:nvSpPr>
        <p:spPr>
          <a:xfrm>
            <a:off x="3630168" y="4023360"/>
            <a:ext cx="2331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Pilih bank, no. rekening, tanggal setor</a:t>
            </a:r>
            <a:endParaRPr b="0" i="0" sz="1200" u="none" cap="none" strike="noStrike">
              <a:solidFill>
                <a:schemeClr val="dk1"/>
              </a:solidFill>
              <a:latin typeface="Calibri"/>
              <a:ea typeface="Calibri"/>
              <a:cs typeface="Calibri"/>
              <a:sym typeface="Calibri"/>
            </a:endParaRPr>
          </a:p>
        </p:txBody>
      </p:sp>
      <p:sp>
        <p:nvSpPr>
          <p:cNvPr id="981" name="Google Shape;981;p65"/>
          <p:cNvSpPr/>
          <p:nvPr/>
        </p:nvSpPr>
        <p:spPr>
          <a:xfrm>
            <a:off x="6035040" y="4069080"/>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65"/>
          <p:cNvSpPr txBox="1"/>
          <p:nvPr/>
        </p:nvSpPr>
        <p:spPr>
          <a:xfrm>
            <a:off x="6035040" y="406908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6</a:t>
            </a:r>
            <a:endParaRPr b="0" i="0" sz="1200" u="none" cap="none" strike="noStrike">
              <a:solidFill>
                <a:schemeClr val="dk1"/>
              </a:solidFill>
              <a:latin typeface="Calibri"/>
              <a:ea typeface="Calibri"/>
              <a:cs typeface="Calibri"/>
              <a:sym typeface="Calibri"/>
            </a:endParaRPr>
          </a:p>
        </p:txBody>
      </p:sp>
      <p:sp>
        <p:nvSpPr>
          <p:cNvPr id="983" name="Google Shape;983;p65"/>
          <p:cNvSpPr txBox="1"/>
          <p:nvPr/>
        </p:nvSpPr>
        <p:spPr>
          <a:xfrm>
            <a:off x="6419088" y="4023360"/>
            <a:ext cx="2331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Klik Ya, Sudah Disetor</a:t>
            </a:r>
            <a:endParaRPr b="0" i="0" sz="1200" u="none" cap="none" strike="noStrike">
              <a:solidFill>
                <a:schemeClr val="dk1"/>
              </a:solidFill>
              <a:latin typeface="Calibri"/>
              <a:ea typeface="Calibri"/>
              <a:cs typeface="Calibri"/>
              <a:sym typeface="Calibri"/>
            </a:endParaRPr>
          </a:p>
        </p:txBody>
      </p:sp>
      <p:sp>
        <p:nvSpPr>
          <p:cNvPr id="984" name="Google Shape;984;p65"/>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66"/>
          <p:cNvSpPr txBox="1"/>
          <p:nvPr>
            <p:ph type="title"/>
          </p:nvPr>
        </p:nvSpPr>
        <p:spPr>
          <a:xfrm>
            <a:off x="548640" y="1828800"/>
            <a:ext cx="804672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 sz="3600">
                <a:solidFill>
                  <a:schemeClr val="lt1"/>
                </a:solidFill>
              </a:rPr>
              <a:t>Buat Reserve Order</a:t>
            </a:r>
            <a:endParaRPr sz="3600"/>
          </a:p>
        </p:txBody>
      </p:sp>
      <p:sp>
        <p:nvSpPr>
          <p:cNvPr id="991" name="Google Shape;991;p66"/>
          <p:cNvSpPr txBox="1"/>
          <p:nvPr>
            <p:ph idx="1" type="body"/>
          </p:nvPr>
        </p:nvSpPr>
        <p:spPr>
          <a:xfrm>
            <a:off x="548640" y="2834640"/>
            <a:ext cx="8046720" cy="7315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rPr lang="en" sz="1600">
                <a:solidFill>
                  <a:schemeClr val="lt2"/>
                </a:solidFill>
              </a:rPr>
              <a:t>Wizard 4 langkah, bila Kasir diminta membuat RO</a:t>
            </a:r>
            <a:endParaRPr sz="1600"/>
          </a:p>
        </p:txBody>
      </p:sp>
      <p:sp>
        <p:nvSpPr>
          <p:cNvPr id="992" name="Google Shape;992;p66"/>
          <p:cNvSpPr txBox="1"/>
          <p:nvPr>
            <p:ph idx="4294967295"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67"/>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Wizard Buat Reserve Order</a:t>
            </a:r>
            <a:endParaRPr sz="2800"/>
          </a:p>
        </p:txBody>
      </p:sp>
      <p:sp>
        <p:nvSpPr>
          <p:cNvPr id="999" name="Google Shape;999;p67"/>
          <p:cNvSpPr/>
          <p:nvPr/>
        </p:nvSpPr>
        <p:spPr>
          <a:xfrm>
            <a:off x="4517136" y="996696"/>
            <a:ext cx="4224528" cy="2498831"/>
          </a:xfrm>
          <a:prstGeom prst="roundRect">
            <a:avLst>
              <a:gd fmla="val 2927"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orm RO langkah 1 Customer" id="1000" name="Google Shape;1000;p67"/>
          <p:cNvPicPr preferRelativeResize="0"/>
          <p:nvPr/>
        </p:nvPicPr>
        <p:blipFill rotWithShape="1">
          <a:blip r:embed="rId3">
            <a:alphaModFix/>
          </a:blip>
          <a:srcRect b="0" l="0" r="0" t="0"/>
          <a:stretch/>
        </p:blipFill>
        <p:spPr>
          <a:xfrm>
            <a:off x="4572000" y="1051560"/>
            <a:ext cx="4114800" cy="2389103"/>
          </a:xfrm>
          <a:prstGeom prst="rect">
            <a:avLst/>
          </a:prstGeom>
          <a:noFill/>
          <a:ln>
            <a:noFill/>
          </a:ln>
        </p:spPr>
      </p:pic>
      <p:sp>
        <p:nvSpPr>
          <p:cNvPr id="1001" name="Google Shape;1001;p67"/>
          <p:cNvSpPr/>
          <p:nvPr/>
        </p:nvSpPr>
        <p:spPr>
          <a:xfrm>
            <a:off x="457200" y="10698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67"/>
          <p:cNvSpPr txBox="1"/>
          <p:nvPr/>
        </p:nvSpPr>
        <p:spPr>
          <a:xfrm>
            <a:off x="457200"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003" name="Google Shape;1003;p67"/>
          <p:cNvSpPr txBox="1"/>
          <p:nvPr/>
        </p:nvSpPr>
        <p:spPr>
          <a:xfrm>
            <a:off x="868680" y="1051560"/>
            <a:ext cx="3429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Customer</a:t>
            </a:r>
            <a:endParaRPr b="0" i="0" sz="1500" u="none" cap="none" strike="noStrike">
              <a:solidFill>
                <a:schemeClr val="dk1"/>
              </a:solidFill>
              <a:latin typeface="Calibri"/>
              <a:ea typeface="Calibri"/>
              <a:cs typeface="Calibri"/>
              <a:sym typeface="Calibri"/>
            </a:endParaRPr>
          </a:p>
        </p:txBody>
      </p:sp>
      <p:sp>
        <p:nvSpPr>
          <p:cNvPr id="1004" name="Google Shape;1004;p67"/>
          <p:cNvSpPr txBox="1"/>
          <p:nvPr/>
        </p:nvSpPr>
        <p:spPr>
          <a:xfrm>
            <a:off x="868680" y="1353312"/>
            <a:ext cx="342900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Pilih Contact / Customer Reserve, upload foto KTP (OCR), lengkapi data.</a:t>
            </a:r>
            <a:endParaRPr b="0" i="0" sz="1300" u="none" cap="none" strike="noStrike">
              <a:solidFill>
                <a:schemeClr val="dk1"/>
              </a:solidFill>
              <a:latin typeface="Calibri"/>
              <a:ea typeface="Calibri"/>
              <a:cs typeface="Calibri"/>
              <a:sym typeface="Calibri"/>
            </a:endParaRPr>
          </a:p>
        </p:txBody>
      </p:sp>
      <p:sp>
        <p:nvSpPr>
          <p:cNvPr id="1005" name="Google Shape;1005;p67"/>
          <p:cNvSpPr/>
          <p:nvPr/>
        </p:nvSpPr>
        <p:spPr>
          <a:xfrm>
            <a:off x="457200" y="193852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67"/>
          <p:cNvSpPr txBox="1"/>
          <p:nvPr/>
        </p:nvSpPr>
        <p:spPr>
          <a:xfrm>
            <a:off x="457200" y="19385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007" name="Google Shape;1007;p67"/>
          <p:cNvSpPr txBox="1"/>
          <p:nvPr/>
        </p:nvSpPr>
        <p:spPr>
          <a:xfrm>
            <a:off x="868680" y="1920240"/>
            <a:ext cx="3429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Pilih Unit</a:t>
            </a:r>
            <a:endParaRPr b="0" i="0" sz="1500" u="none" cap="none" strike="noStrike">
              <a:solidFill>
                <a:schemeClr val="dk1"/>
              </a:solidFill>
              <a:latin typeface="Calibri"/>
              <a:ea typeface="Calibri"/>
              <a:cs typeface="Calibri"/>
              <a:sym typeface="Calibri"/>
            </a:endParaRPr>
          </a:p>
        </p:txBody>
      </p:sp>
      <p:sp>
        <p:nvSpPr>
          <p:cNvPr id="1008" name="Google Shape;1008;p67"/>
          <p:cNvSpPr txBox="1"/>
          <p:nvPr/>
        </p:nvSpPr>
        <p:spPr>
          <a:xfrm>
            <a:off x="868680" y="2221992"/>
            <a:ext cx="342900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Pilih project, gunakan unit dari Contact atau Pilih Unit Lain.</a:t>
            </a:r>
            <a:endParaRPr b="0" i="0" sz="1300" u="none" cap="none" strike="noStrike">
              <a:solidFill>
                <a:schemeClr val="dk1"/>
              </a:solidFill>
              <a:latin typeface="Calibri"/>
              <a:ea typeface="Calibri"/>
              <a:cs typeface="Calibri"/>
              <a:sym typeface="Calibri"/>
            </a:endParaRPr>
          </a:p>
        </p:txBody>
      </p:sp>
      <p:sp>
        <p:nvSpPr>
          <p:cNvPr id="1009" name="Google Shape;1009;p67"/>
          <p:cNvSpPr/>
          <p:nvPr/>
        </p:nvSpPr>
        <p:spPr>
          <a:xfrm>
            <a:off x="457200" y="280720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67"/>
          <p:cNvSpPr txBox="1"/>
          <p:nvPr/>
        </p:nvSpPr>
        <p:spPr>
          <a:xfrm>
            <a:off x="457200" y="28072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011" name="Google Shape;1011;p67"/>
          <p:cNvSpPr txBox="1"/>
          <p:nvPr/>
        </p:nvSpPr>
        <p:spPr>
          <a:xfrm>
            <a:off x="868680" y="2788920"/>
            <a:ext cx="3429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Dokumen</a:t>
            </a:r>
            <a:endParaRPr b="0" i="0" sz="1500" u="none" cap="none" strike="noStrike">
              <a:solidFill>
                <a:schemeClr val="dk1"/>
              </a:solidFill>
              <a:latin typeface="Calibri"/>
              <a:ea typeface="Calibri"/>
              <a:cs typeface="Calibri"/>
              <a:sym typeface="Calibri"/>
            </a:endParaRPr>
          </a:p>
        </p:txBody>
      </p:sp>
      <p:sp>
        <p:nvSpPr>
          <p:cNvPr id="1012" name="Google Shape;1012;p67"/>
          <p:cNvSpPr txBox="1"/>
          <p:nvPr/>
        </p:nvSpPr>
        <p:spPr>
          <a:xfrm>
            <a:off x="868680" y="3090672"/>
            <a:ext cx="342900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Dokumen identitas customer, pembayaran per unit, catatan.</a:t>
            </a:r>
            <a:endParaRPr b="0" i="0" sz="1300" u="none" cap="none" strike="noStrike">
              <a:solidFill>
                <a:schemeClr val="dk1"/>
              </a:solidFill>
              <a:latin typeface="Calibri"/>
              <a:ea typeface="Calibri"/>
              <a:cs typeface="Calibri"/>
              <a:sym typeface="Calibri"/>
            </a:endParaRPr>
          </a:p>
        </p:txBody>
      </p:sp>
      <p:sp>
        <p:nvSpPr>
          <p:cNvPr id="1013" name="Google Shape;1013;p67"/>
          <p:cNvSpPr/>
          <p:nvPr/>
        </p:nvSpPr>
        <p:spPr>
          <a:xfrm>
            <a:off x="457200" y="367588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67"/>
          <p:cNvSpPr txBox="1"/>
          <p:nvPr/>
        </p:nvSpPr>
        <p:spPr>
          <a:xfrm>
            <a:off x="457200" y="367588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015" name="Google Shape;1015;p67"/>
          <p:cNvSpPr txBox="1"/>
          <p:nvPr/>
        </p:nvSpPr>
        <p:spPr>
          <a:xfrm>
            <a:off x="868680" y="3657600"/>
            <a:ext cx="3429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Review</a:t>
            </a:r>
            <a:endParaRPr b="0" i="0" sz="1500" u="none" cap="none" strike="noStrike">
              <a:solidFill>
                <a:schemeClr val="dk1"/>
              </a:solidFill>
              <a:latin typeface="Calibri"/>
              <a:ea typeface="Calibri"/>
              <a:cs typeface="Calibri"/>
              <a:sym typeface="Calibri"/>
            </a:endParaRPr>
          </a:p>
        </p:txBody>
      </p:sp>
      <p:sp>
        <p:nvSpPr>
          <p:cNvPr id="1016" name="Google Shape;1016;p67"/>
          <p:cNvSpPr txBox="1"/>
          <p:nvPr/>
        </p:nvSpPr>
        <p:spPr>
          <a:xfrm>
            <a:off x="868680" y="3959352"/>
            <a:ext cx="342900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Periksa ulang semua data, lalu Submit Reserve Order.</a:t>
            </a:r>
            <a:endParaRPr b="0" i="0" sz="1300" u="none" cap="none" strike="noStrike">
              <a:solidFill>
                <a:schemeClr val="dk1"/>
              </a:solidFill>
              <a:latin typeface="Calibri"/>
              <a:ea typeface="Calibri"/>
              <a:cs typeface="Calibri"/>
              <a:sym typeface="Calibri"/>
            </a:endParaRPr>
          </a:p>
        </p:txBody>
      </p:sp>
      <p:sp>
        <p:nvSpPr>
          <p:cNvPr id="1017" name="Google Shape;1017;p67"/>
          <p:cNvSpPr txBox="1"/>
          <p:nvPr/>
        </p:nvSpPr>
        <p:spPr>
          <a:xfrm>
            <a:off x="4572000" y="3657600"/>
            <a:ext cx="4114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1" lang="en" sz="1100" u="none" cap="none" strike="noStrike">
                <a:solidFill>
                  <a:schemeClr val="accent5"/>
                </a:solidFill>
                <a:latin typeface="Calibri"/>
                <a:ea typeface="Calibri"/>
                <a:cs typeface="Calibri"/>
                <a:sym typeface="Calibri"/>
              </a:rPr>
              <a:t>Cara pembayaran: Cash Bertahap 3X/6X/12X, Cash Keras, KPR, Lainnya</a:t>
            </a:r>
            <a:endParaRPr b="0" i="0" sz="1100" u="none" cap="none" strike="noStrike">
              <a:solidFill>
                <a:schemeClr val="dk1"/>
              </a:solidFill>
              <a:latin typeface="Calibri"/>
              <a:ea typeface="Calibri"/>
              <a:cs typeface="Calibri"/>
              <a:sym typeface="Calibri"/>
            </a:endParaRPr>
          </a:p>
        </p:txBody>
      </p:sp>
      <p:sp>
        <p:nvSpPr>
          <p:cNvPr id="1018" name="Google Shape;1018;p67"/>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68"/>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Checklist harian &amp; do / don't Kasir</a:t>
            </a:r>
            <a:endParaRPr sz="2800"/>
          </a:p>
        </p:txBody>
      </p:sp>
      <p:sp>
        <p:nvSpPr>
          <p:cNvPr id="1025" name="Google Shape;1025;p68"/>
          <p:cNvSpPr/>
          <p:nvPr/>
        </p:nvSpPr>
        <p:spPr>
          <a:xfrm>
            <a:off x="457200" y="1051560"/>
            <a:ext cx="3977640" cy="3474720"/>
          </a:xfrm>
          <a:prstGeom prst="roundRect">
            <a:avLst>
              <a:gd fmla="val 263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68"/>
          <p:cNvSpPr/>
          <p:nvPr/>
        </p:nvSpPr>
        <p:spPr>
          <a:xfrm>
            <a:off x="685800" y="123444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27" name="Google Shape;1027;p68"/>
          <p:cNvPicPr preferRelativeResize="0"/>
          <p:nvPr/>
        </p:nvPicPr>
        <p:blipFill rotWithShape="1">
          <a:blip r:embed="rId3">
            <a:alphaModFix/>
          </a:blip>
          <a:srcRect b="0" l="0" r="0" t="0"/>
          <a:stretch/>
        </p:blipFill>
        <p:spPr>
          <a:xfrm>
            <a:off x="795528" y="1344168"/>
            <a:ext cx="237744" cy="237744"/>
          </a:xfrm>
          <a:prstGeom prst="rect">
            <a:avLst/>
          </a:prstGeom>
          <a:noFill/>
          <a:ln>
            <a:noFill/>
          </a:ln>
        </p:spPr>
      </p:pic>
      <p:sp>
        <p:nvSpPr>
          <p:cNvPr id="1028" name="Google Shape;1028;p68"/>
          <p:cNvSpPr txBox="1"/>
          <p:nvPr/>
        </p:nvSpPr>
        <p:spPr>
          <a:xfrm>
            <a:off x="1280160" y="1234440"/>
            <a:ext cx="2926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 sz="1600" u="none" cap="none" strike="noStrike">
                <a:solidFill>
                  <a:schemeClr val="dk2"/>
                </a:solidFill>
                <a:latin typeface="Calibri"/>
                <a:ea typeface="Calibri"/>
                <a:cs typeface="Calibri"/>
                <a:sym typeface="Calibri"/>
              </a:rPr>
              <a:t>Checklist harian</a:t>
            </a:r>
            <a:endParaRPr b="0" i="0" sz="1600" u="none" cap="none" strike="noStrike">
              <a:solidFill>
                <a:schemeClr val="dk1"/>
              </a:solidFill>
              <a:latin typeface="Calibri"/>
              <a:ea typeface="Calibri"/>
              <a:cs typeface="Calibri"/>
              <a:sym typeface="Calibri"/>
            </a:endParaRPr>
          </a:p>
        </p:txBody>
      </p:sp>
      <p:sp>
        <p:nvSpPr>
          <p:cNvPr id="1029" name="Google Shape;1029;p68"/>
          <p:cNvSpPr txBox="1"/>
          <p:nvPr/>
        </p:nvSpPr>
        <p:spPr>
          <a:xfrm>
            <a:off x="685800" y="1828800"/>
            <a:ext cx="356616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Refresh tab Kasir di awal &amp; akhir shift</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Selesaikan baris kuning (pembayaran baru)</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Verifikasi dokumen sebelum approve</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Catat semua setoran tunai hari itu</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Cocokkan total setoran dengan slip bank</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Sync Google Sheet bila data diubah</a:t>
            </a:r>
            <a:endParaRPr b="0" i="0" sz="1300" u="none" cap="none" strike="noStrike">
              <a:solidFill>
                <a:schemeClr val="dk1"/>
              </a:solidFill>
              <a:latin typeface="Calibri"/>
              <a:ea typeface="Calibri"/>
              <a:cs typeface="Calibri"/>
              <a:sym typeface="Calibri"/>
            </a:endParaRPr>
          </a:p>
        </p:txBody>
      </p:sp>
      <p:sp>
        <p:nvSpPr>
          <p:cNvPr id="1030" name="Google Shape;1030;p68"/>
          <p:cNvSpPr/>
          <p:nvPr/>
        </p:nvSpPr>
        <p:spPr>
          <a:xfrm>
            <a:off x="4709160" y="1051560"/>
            <a:ext cx="457200" cy="457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1" name="Google Shape;1031;p68"/>
          <p:cNvPicPr preferRelativeResize="0"/>
          <p:nvPr/>
        </p:nvPicPr>
        <p:blipFill rotWithShape="1">
          <a:blip r:embed="rId4">
            <a:alphaModFix/>
          </a:blip>
          <a:srcRect b="0" l="0" r="0" t="0"/>
          <a:stretch/>
        </p:blipFill>
        <p:spPr>
          <a:xfrm>
            <a:off x="4818888" y="1161288"/>
            <a:ext cx="237744" cy="237744"/>
          </a:xfrm>
          <a:prstGeom prst="rect">
            <a:avLst/>
          </a:prstGeom>
          <a:noFill/>
          <a:ln>
            <a:noFill/>
          </a:ln>
        </p:spPr>
      </p:pic>
      <p:sp>
        <p:nvSpPr>
          <p:cNvPr id="1032" name="Google Shape;1032;p68"/>
          <p:cNvSpPr txBox="1"/>
          <p:nvPr/>
        </p:nvSpPr>
        <p:spPr>
          <a:xfrm>
            <a:off x="5303520" y="105156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 sz="1600" u="none" cap="none" strike="noStrike">
                <a:solidFill>
                  <a:schemeClr val="dk2"/>
                </a:solidFill>
                <a:latin typeface="Calibri"/>
                <a:ea typeface="Calibri"/>
                <a:cs typeface="Calibri"/>
                <a:sym typeface="Calibri"/>
              </a:rPr>
              <a:t>Lakukan</a:t>
            </a:r>
            <a:endParaRPr b="0" i="0" sz="1600" u="none" cap="none" strike="noStrike">
              <a:solidFill>
                <a:schemeClr val="dk1"/>
              </a:solidFill>
              <a:latin typeface="Calibri"/>
              <a:ea typeface="Calibri"/>
              <a:cs typeface="Calibri"/>
              <a:sym typeface="Calibri"/>
            </a:endParaRPr>
          </a:p>
        </p:txBody>
      </p:sp>
      <p:sp>
        <p:nvSpPr>
          <p:cNvPr id="1033" name="Google Shape;1033;p68"/>
          <p:cNvSpPr txBox="1"/>
          <p:nvPr/>
        </p:nvSpPr>
        <p:spPr>
          <a:xfrm>
            <a:off x="5303520" y="1554480"/>
            <a:ext cx="3383280" cy="11430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Tulis alasan jelas saat Reject</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Gunakan Message untuk koordinasi</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Cek ulang nominal vs terbilang</a:t>
            </a:r>
            <a:endParaRPr b="0" i="0" sz="1300" u="none" cap="none" strike="noStrike">
              <a:solidFill>
                <a:schemeClr val="dk1"/>
              </a:solidFill>
              <a:latin typeface="Calibri"/>
              <a:ea typeface="Calibri"/>
              <a:cs typeface="Calibri"/>
              <a:sym typeface="Calibri"/>
            </a:endParaRPr>
          </a:p>
        </p:txBody>
      </p:sp>
      <p:sp>
        <p:nvSpPr>
          <p:cNvPr id="1034" name="Google Shape;1034;p68"/>
          <p:cNvSpPr/>
          <p:nvPr/>
        </p:nvSpPr>
        <p:spPr>
          <a:xfrm>
            <a:off x="4709160" y="2834640"/>
            <a:ext cx="457200" cy="457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5" name="Google Shape;1035;p68"/>
          <p:cNvPicPr preferRelativeResize="0"/>
          <p:nvPr/>
        </p:nvPicPr>
        <p:blipFill rotWithShape="1">
          <a:blip r:embed="rId5">
            <a:alphaModFix/>
          </a:blip>
          <a:srcRect b="0" l="0" r="0" t="0"/>
          <a:stretch/>
        </p:blipFill>
        <p:spPr>
          <a:xfrm>
            <a:off x="4818888" y="2944368"/>
            <a:ext cx="237744" cy="237744"/>
          </a:xfrm>
          <a:prstGeom prst="rect">
            <a:avLst/>
          </a:prstGeom>
          <a:noFill/>
          <a:ln>
            <a:noFill/>
          </a:ln>
        </p:spPr>
      </p:pic>
      <p:sp>
        <p:nvSpPr>
          <p:cNvPr id="1036" name="Google Shape;1036;p68"/>
          <p:cNvSpPr txBox="1"/>
          <p:nvPr/>
        </p:nvSpPr>
        <p:spPr>
          <a:xfrm>
            <a:off x="5303520" y="283464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 sz="1600" u="none" cap="none" strike="noStrike">
                <a:solidFill>
                  <a:schemeClr val="dk2"/>
                </a:solidFill>
                <a:latin typeface="Calibri"/>
                <a:ea typeface="Calibri"/>
                <a:cs typeface="Calibri"/>
                <a:sym typeface="Calibri"/>
              </a:rPr>
              <a:t>Hindari</a:t>
            </a:r>
            <a:endParaRPr b="0" i="0" sz="1600" u="none" cap="none" strike="noStrike">
              <a:solidFill>
                <a:schemeClr val="dk1"/>
              </a:solidFill>
              <a:latin typeface="Calibri"/>
              <a:ea typeface="Calibri"/>
              <a:cs typeface="Calibri"/>
              <a:sym typeface="Calibri"/>
            </a:endParaRPr>
          </a:p>
        </p:txBody>
      </p:sp>
      <p:sp>
        <p:nvSpPr>
          <p:cNvPr id="1037" name="Google Shape;1037;p68"/>
          <p:cNvSpPr txBox="1"/>
          <p:nvPr/>
        </p:nvSpPr>
        <p:spPr>
          <a:xfrm>
            <a:off x="5303520" y="3337560"/>
            <a:ext cx="3383280" cy="11430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Approve tanpa bukti pembayaran</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Menandai setor sebelum uang disetor</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Menghapus dokumen tanpa konfirmasi</a:t>
            </a:r>
            <a:endParaRPr b="0" i="0" sz="1300" u="none" cap="none" strike="noStrike">
              <a:solidFill>
                <a:schemeClr val="dk1"/>
              </a:solidFill>
              <a:latin typeface="Calibri"/>
              <a:ea typeface="Calibri"/>
              <a:cs typeface="Calibri"/>
              <a:sym typeface="Calibri"/>
            </a:endParaRPr>
          </a:p>
        </p:txBody>
      </p:sp>
      <p:sp>
        <p:nvSpPr>
          <p:cNvPr id="1038" name="Google Shape;1038;p68"/>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69"/>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Latihan: uji pemahaman</a:t>
            </a:r>
            <a:endParaRPr sz="2800"/>
          </a:p>
        </p:txBody>
      </p:sp>
      <p:sp>
        <p:nvSpPr>
          <p:cNvPr id="1045" name="Google Shape;1045;p69"/>
          <p:cNvSpPr/>
          <p:nvPr/>
        </p:nvSpPr>
        <p:spPr>
          <a:xfrm>
            <a:off x="457200" y="1051560"/>
            <a:ext cx="4023360" cy="155448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69"/>
          <p:cNvSpPr txBox="1"/>
          <p:nvPr/>
        </p:nvSpPr>
        <p:spPr>
          <a:xfrm>
            <a:off x="640080" y="1188720"/>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 sz="1800" u="none" cap="none" strike="noStrike">
                <a:solidFill>
                  <a:schemeClr val="accent1"/>
                </a:solidFill>
                <a:latin typeface="Calibri"/>
                <a:ea typeface="Calibri"/>
                <a:cs typeface="Calibri"/>
                <a:sym typeface="Calibri"/>
              </a:rPr>
              <a:t>Q1</a:t>
            </a:r>
            <a:endParaRPr b="0" i="0" sz="1800" u="none" cap="none" strike="noStrike">
              <a:solidFill>
                <a:schemeClr val="dk1"/>
              </a:solidFill>
              <a:latin typeface="Calibri"/>
              <a:ea typeface="Calibri"/>
              <a:cs typeface="Calibri"/>
              <a:sym typeface="Calibri"/>
            </a:endParaRPr>
          </a:p>
        </p:txBody>
      </p:sp>
      <p:sp>
        <p:nvSpPr>
          <p:cNvPr id="1047" name="Google Shape;1047;p69"/>
          <p:cNvSpPr txBox="1"/>
          <p:nvPr/>
        </p:nvSpPr>
        <p:spPr>
          <a:xfrm>
            <a:off x="1188720" y="1188720"/>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Baris RO berwarna kuning di tab Kasir artinya…</a:t>
            </a:r>
            <a:endParaRPr b="0" i="0" sz="1400" u="none" cap="none" strike="noStrike">
              <a:solidFill>
                <a:schemeClr val="dk1"/>
              </a:solidFill>
              <a:latin typeface="Calibri"/>
              <a:ea typeface="Calibri"/>
              <a:cs typeface="Calibri"/>
              <a:sym typeface="Calibri"/>
            </a:endParaRPr>
          </a:p>
        </p:txBody>
      </p:sp>
      <p:sp>
        <p:nvSpPr>
          <p:cNvPr id="1048" name="Google Shape;1048;p69"/>
          <p:cNvSpPr txBox="1"/>
          <p:nvPr/>
        </p:nvSpPr>
        <p:spPr>
          <a:xfrm>
            <a:off x="1188720" y="1920240"/>
            <a:ext cx="31089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 sz="1200" u="none" cap="none" strike="noStrike">
                <a:solidFill>
                  <a:schemeClr val="accent5"/>
                </a:solidFill>
                <a:latin typeface="Calibri"/>
                <a:ea typeface="Calibri"/>
                <a:cs typeface="Calibri"/>
                <a:sym typeface="Calibri"/>
              </a:rPr>
              <a:t>Jawaban: Ada pembayaran baru (top up RB/SP) yang belum diverifikasi.</a:t>
            </a:r>
            <a:endParaRPr b="0" i="0" sz="1200" u="none" cap="none" strike="noStrike">
              <a:solidFill>
                <a:schemeClr val="dk1"/>
              </a:solidFill>
              <a:latin typeface="Calibri"/>
              <a:ea typeface="Calibri"/>
              <a:cs typeface="Calibri"/>
              <a:sym typeface="Calibri"/>
            </a:endParaRPr>
          </a:p>
        </p:txBody>
      </p:sp>
      <p:sp>
        <p:nvSpPr>
          <p:cNvPr id="1049" name="Google Shape;1049;p69"/>
          <p:cNvSpPr/>
          <p:nvPr/>
        </p:nvSpPr>
        <p:spPr>
          <a:xfrm>
            <a:off x="4663440" y="1051560"/>
            <a:ext cx="4023360" cy="155448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69"/>
          <p:cNvSpPr txBox="1"/>
          <p:nvPr/>
        </p:nvSpPr>
        <p:spPr>
          <a:xfrm>
            <a:off x="4846320" y="1188720"/>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 sz="1800" u="none" cap="none" strike="noStrike">
                <a:solidFill>
                  <a:schemeClr val="accent1"/>
                </a:solidFill>
                <a:latin typeface="Calibri"/>
                <a:ea typeface="Calibri"/>
                <a:cs typeface="Calibri"/>
                <a:sym typeface="Calibri"/>
              </a:rPr>
              <a:t>Q2</a:t>
            </a:r>
            <a:endParaRPr b="0" i="0" sz="1800" u="none" cap="none" strike="noStrike">
              <a:solidFill>
                <a:schemeClr val="dk1"/>
              </a:solidFill>
              <a:latin typeface="Calibri"/>
              <a:ea typeface="Calibri"/>
              <a:cs typeface="Calibri"/>
              <a:sym typeface="Calibri"/>
            </a:endParaRPr>
          </a:p>
        </p:txBody>
      </p:sp>
      <p:sp>
        <p:nvSpPr>
          <p:cNvPr id="1051" name="Google Shape;1051;p69"/>
          <p:cNvSpPr txBox="1"/>
          <p:nvPr/>
        </p:nvSpPr>
        <p:spPr>
          <a:xfrm>
            <a:off x="5394960" y="1188720"/>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Apa yang wajib diisi saat Reject pembayaran?</a:t>
            </a:r>
            <a:endParaRPr b="0" i="0" sz="1400" u="none" cap="none" strike="noStrike">
              <a:solidFill>
                <a:schemeClr val="dk1"/>
              </a:solidFill>
              <a:latin typeface="Calibri"/>
              <a:ea typeface="Calibri"/>
              <a:cs typeface="Calibri"/>
              <a:sym typeface="Calibri"/>
            </a:endParaRPr>
          </a:p>
        </p:txBody>
      </p:sp>
      <p:sp>
        <p:nvSpPr>
          <p:cNvPr id="1052" name="Google Shape;1052;p69"/>
          <p:cNvSpPr txBox="1"/>
          <p:nvPr/>
        </p:nvSpPr>
        <p:spPr>
          <a:xfrm>
            <a:off x="5394960" y="1920240"/>
            <a:ext cx="31089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 sz="1200" u="none" cap="none" strike="noStrike">
                <a:solidFill>
                  <a:schemeClr val="accent5"/>
                </a:solidFill>
                <a:latin typeface="Calibri"/>
                <a:ea typeface="Calibri"/>
                <a:cs typeface="Calibri"/>
                <a:sym typeface="Calibri"/>
              </a:rPr>
              <a:t>Jawaban: Alasan Penolakan.</a:t>
            </a:r>
            <a:endParaRPr b="0" i="0" sz="1200" u="none" cap="none" strike="noStrike">
              <a:solidFill>
                <a:schemeClr val="dk1"/>
              </a:solidFill>
              <a:latin typeface="Calibri"/>
              <a:ea typeface="Calibri"/>
              <a:cs typeface="Calibri"/>
              <a:sym typeface="Calibri"/>
            </a:endParaRPr>
          </a:p>
        </p:txBody>
      </p:sp>
      <p:sp>
        <p:nvSpPr>
          <p:cNvPr id="1053" name="Google Shape;1053;p69"/>
          <p:cNvSpPr/>
          <p:nvPr/>
        </p:nvSpPr>
        <p:spPr>
          <a:xfrm>
            <a:off x="457200" y="2788920"/>
            <a:ext cx="4023360" cy="155448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69"/>
          <p:cNvSpPr txBox="1"/>
          <p:nvPr/>
        </p:nvSpPr>
        <p:spPr>
          <a:xfrm>
            <a:off x="640080" y="2926080"/>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 sz="1800" u="none" cap="none" strike="noStrike">
                <a:solidFill>
                  <a:schemeClr val="accent1"/>
                </a:solidFill>
                <a:latin typeface="Calibri"/>
                <a:ea typeface="Calibri"/>
                <a:cs typeface="Calibri"/>
                <a:sym typeface="Calibri"/>
              </a:rPr>
              <a:t>Q3</a:t>
            </a:r>
            <a:endParaRPr b="0" i="0" sz="1800" u="none" cap="none" strike="noStrike">
              <a:solidFill>
                <a:schemeClr val="dk1"/>
              </a:solidFill>
              <a:latin typeface="Calibri"/>
              <a:ea typeface="Calibri"/>
              <a:cs typeface="Calibri"/>
              <a:sym typeface="Calibri"/>
            </a:endParaRPr>
          </a:p>
        </p:txBody>
      </p:sp>
      <p:sp>
        <p:nvSpPr>
          <p:cNvPr id="1055" name="Google Shape;1055;p69"/>
          <p:cNvSpPr txBox="1"/>
          <p:nvPr/>
        </p:nvSpPr>
        <p:spPr>
          <a:xfrm>
            <a:off x="1188720" y="2926080"/>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Kapan TTS tunai ditandai Sudah Disetor?</a:t>
            </a:r>
            <a:endParaRPr b="0" i="0" sz="1400" u="none" cap="none" strike="noStrike">
              <a:solidFill>
                <a:schemeClr val="dk1"/>
              </a:solidFill>
              <a:latin typeface="Calibri"/>
              <a:ea typeface="Calibri"/>
              <a:cs typeface="Calibri"/>
              <a:sym typeface="Calibri"/>
            </a:endParaRPr>
          </a:p>
        </p:txBody>
      </p:sp>
      <p:sp>
        <p:nvSpPr>
          <p:cNvPr id="1056" name="Google Shape;1056;p69"/>
          <p:cNvSpPr txBox="1"/>
          <p:nvPr/>
        </p:nvSpPr>
        <p:spPr>
          <a:xfrm>
            <a:off x="1188720" y="3657600"/>
            <a:ext cx="31089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 sz="1200" u="none" cap="none" strike="noStrike">
                <a:solidFill>
                  <a:schemeClr val="accent5"/>
                </a:solidFill>
                <a:latin typeface="Calibri"/>
                <a:ea typeface="Calibri"/>
                <a:cs typeface="Calibri"/>
                <a:sym typeface="Calibri"/>
              </a:rPr>
              <a:t>Jawaban: Setelah uang disetor &amp; total cocok dengan slip bank.</a:t>
            </a:r>
            <a:endParaRPr b="0" i="0" sz="1200" u="none" cap="none" strike="noStrike">
              <a:solidFill>
                <a:schemeClr val="dk1"/>
              </a:solidFill>
              <a:latin typeface="Calibri"/>
              <a:ea typeface="Calibri"/>
              <a:cs typeface="Calibri"/>
              <a:sym typeface="Calibri"/>
            </a:endParaRPr>
          </a:p>
        </p:txBody>
      </p:sp>
      <p:sp>
        <p:nvSpPr>
          <p:cNvPr id="1057" name="Google Shape;1057;p69"/>
          <p:cNvSpPr/>
          <p:nvPr/>
        </p:nvSpPr>
        <p:spPr>
          <a:xfrm>
            <a:off x="4663440" y="2788920"/>
            <a:ext cx="4023360" cy="155448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69"/>
          <p:cNvSpPr txBox="1"/>
          <p:nvPr/>
        </p:nvSpPr>
        <p:spPr>
          <a:xfrm>
            <a:off x="4846320" y="2926080"/>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 sz="1800" u="none" cap="none" strike="noStrike">
                <a:solidFill>
                  <a:schemeClr val="accent1"/>
                </a:solidFill>
                <a:latin typeface="Calibri"/>
                <a:ea typeface="Calibri"/>
                <a:cs typeface="Calibri"/>
                <a:sym typeface="Calibri"/>
              </a:rPr>
              <a:t>Q4</a:t>
            </a:r>
            <a:endParaRPr b="0" i="0" sz="1800" u="none" cap="none" strike="noStrike">
              <a:solidFill>
                <a:schemeClr val="dk1"/>
              </a:solidFill>
              <a:latin typeface="Calibri"/>
              <a:ea typeface="Calibri"/>
              <a:cs typeface="Calibri"/>
              <a:sym typeface="Calibri"/>
            </a:endParaRPr>
          </a:p>
        </p:txBody>
      </p:sp>
      <p:sp>
        <p:nvSpPr>
          <p:cNvPr id="1059" name="Google Shape;1059;p69"/>
          <p:cNvSpPr txBox="1"/>
          <p:nvPr/>
        </p:nvSpPr>
        <p:spPr>
          <a:xfrm>
            <a:off x="5394960" y="2926080"/>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Di mana melihat log approve &amp; setoran?</a:t>
            </a:r>
            <a:endParaRPr b="0" i="0" sz="1400" u="none" cap="none" strike="noStrike">
              <a:solidFill>
                <a:schemeClr val="dk1"/>
              </a:solidFill>
              <a:latin typeface="Calibri"/>
              <a:ea typeface="Calibri"/>
              <a:cs typeface="Calibri"/>
              <a:sym typeface="Calibri"/>
            </a:endParaRPr>
          </a:p>
        </p:txBody>
      </p:sp>
      <p:sp>
        <p:nvSpPr>
          <p:cNvPr id="1060" name="Google Shape;1060;p69"/>
          <p:cNvSpPr txBox="1"/>
          <p:nvPr/>
        </p:nvSpPr>
        <p:spPr>
          <a:xfrm>
            <a:off x="5394960" y="3657600"/>
            <a:ext cx="31089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 sz="1200" u="none" cap="none" strike="noStrike">
                <a:solidFill>
                  <a:schemeClr val="accent5"/>
                </a:solidFill>
                <a:latin typeface="Calibri"/>
                <a:ea typeface="Calibri"/>
                <a:cs typeface="Calibri"/>
                <a:sym typeface="Calibri"/>
              </a:rPr>
              <a:t>Jawaban: Tab Message (dan Timeline) di halaman dokumen RO.</a:t>
            </a:r>
            <a:endParaRPr b="0" i="0" sz="1200" u="none" cap="none" strike="noStrike">
              <a:solidFill>
                <a:schemeClr val="dk1"/>
              </a:solidFill>
              <a:latin typeface="Calibri"/>
              <a:ea typeface="Calibri"/>
              <a:cs typeface="Calibri"/>
              <a:sym typeface="Calibri"/>
            </a:endParaRPr>
          </a:p>
        </p:txBody>
      </p:sp>
      <p:sp>
        <p:nvSpPr>
          <p:cNvPr id="1061" name="Google Shape;1061;p69"/>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70"/>
          <p:cNvSpPr/>
          <p:nvPr/>
        </p:nvSpPr>
        <p:spPr>
          <a:xfrm>
            <a:off x="548640" y="548640"/>
            <a:ext cx="685800" cy="68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68" name="Google Shape;1068;p70"/>
          <p:cNvPicPr preferRelativeResize="0"/>
          <p:nvPr/>
        </p:nvPicPr>
        <p:blipFill rotWithShape="1">
          <a:blip r:embed="rId3">
            <a:alphaModFix/>
          </a:blip>
          <a:srcRect b="0" l="0" r="0" t="0"/>
          <a:stretch/>
        </p:blipFill>
        <p:spPr>
          <a:xfrm>
            <a:off x="713232" y="713232"/>
            <a:ext cx="356616" cy="356616"/>
          </a:xfrm>
          <a:prstGeom prst="rect">
            <a:avLst/>
          </a:prstGeom>
          <a:noFill/>
          <a:ln>
            <a:noFill/>
          </a:ln>
        </p:spPr>
      </p:pic>
      <p:sp>
        <p:nvSpPr>
          <p:cNvPr id="1069" name="Google Shape;1069;p70"/>
          <p:cNvSpPr txBox="1"/>
          <p:nvPr>
            <p:ph type="title"/>
          </p:nvPr>
        </p:nvSpPr>
        <p:spPr>
          <a:xfrm>
            <a:off x="548640" y="1417320"/>
            <a:ext cx="8046720" cy="128016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4000"/>
              <a:buFont typeface="Arial"/>
              <a:buNone/>
            </a:pPr>
            <a:r>
              <a:rPr b="1" lang="en" sz="4000">
                <a:solidFill>
                  <a:schemeClr val="lt1"/>
                </a:solidFill>
              </a:rPr>
              <a:t>Training Kit Reserve Order</a:t>
            </a:r>
            <a:endParaRPr sz="4000"/>
          </a:p>
        </p:txBody>
      </p:sp>
      <p:sp>
        <p:nvSpPr>
          <p:cNvPr id="1070" name="Google Shape;1070;p70"/>
          <p:cNvSpPr txBox="1"/>
          <p:nvPr>
            <p:ph idx="1" type="body"/>
          </p:nvPr>
        </p:nvSpPr>
        <p:spPr>
          <a:xfrm>
            <a:off x="548640" y="2834640"/>
            <a:ext cx="8046720" cy="8229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C7C9F5"/>
              </a:buClr>
              <a:buSzPts val="1800"/>
              <a:buNone/>
            </a:pPr>
            <a:r>
              <a:rPr lang="en" sz="1800">
                <a:solidFill>
                  <a:srgbClr val="C7C9F5"/>
                </a:solidFill>
              </a:rPr>
              <a:t>Modul Admin (Sales Admin) · Verifikasi RO, master data &amp; map siteplan</a:t>
            </a:r>
            <a:endParaRPr sz="1800"/>
          </a:p>
          <a:p>
            <a:pPr indent="0" lvl="0" marL="0" rtl="0" algn="l">
              <a:spcBef>
                <a:spcPts val="360"/>
              </a:spcBef>
              <a:spcAft>
                <a:spcPts val="0"/>
              </a:spcAft>
              <a:buClr>
                <a:srgbClr val="C7C9F5"/>
              </a:buClr>
              <a:buSzPts val="1800"/>
              <a:buNone/>
            </a:pPr>
            <a:r>
              <a:rPr lang="en" sz="1800">
                <a:solidFill>
                  <a:srgbClr val="C7C9F5"/>
                </a:solidFill>
              </a:rPr>
              <a:t>Sales Pipeline › Reserve Order</a:t>
            </a:r>
            <a:endParaRPr sz="1800"/>
          </a:p>
        </p:txBody>
      </p:sp>
      <p:sp>
        <p:nvSpPr>
          <p:cNvPr id="1071" name="Google Shape;1071;p70"/>
          <p:cNvSpPr txBox="1"/>
          <p:nvPr/>
        </p:nvSpPr>
        <p:spPr>
          <a:xfrm>
            <a:off x="548640" y="4480560"/>
            <a:ext cx="5486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5A8E8"/>
              </a:buClr>
              <a:buSzPts val="1200"/>
              <a:buFont typeface="Calibri"/>
              <a:buNone/>
            </a:pPr>
            <a:r>
              <a:rPr b="0" i="0" lang="en" sz="1200" u="none" cap="none" strike="noStrike">
                <a:solidFill>
                  <a:srgbClr val="A5A8E8"/>
                </a:solidFill>
                <a:latin typeface="Calibri"/>
                <a:ea typeface="Calibri"/>
                <a:cs typeface="Calibri"/>
                <a:sym typeface="Calibri"/>
              </a:rPr>
              <a:t>Progress Group · Oktober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71"/>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Tujuan &amp; agenda training</a:t>
            </a:r>
            <a:endParaRPr sz="2800"/>
          </a:p>
        </p:txBody>
      </p:sp>
      <p:sp>
        <p:nvSpPr>
          <p:cNvPr id="1078" name="Google Shape;1078;p71"/>
          <p:cNvSpPr/>
          <p:nvPr/>
        </p:nvSpPr>
        <p:spPr>
          <a:xfrm>
            <a:off x="457200" y="1143000"/>
            <a:ext cx="2606040" cy="1508760"/>
          </a:xfrm>
          <a:prstGeom prst="roundRect">
            <a:avLst>
              <a:gd fmla="val 606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1"/>
          <p:cNvSpPr/>
          <p:nvPr/>
        </p:nvSpPr>
        <p:spPr>
          <a:xfrm>
            <a:off x="640080" y="132588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0" name="Google Shape;1080;p71"/>
          <p:cNvPicPr preferRelativeResize="0"/>
          <p:nvPr/>
        </p:nvPicPr>
        <p:blipFill rotWithShape="1">
          <a:blip r:embed="rId3">
            <a:alphaModFix/>
          </a:blip>
          <a:srcRect b="0" l="0" r="0" t="0"/>
          <a:stretch/>
        </p:blipFill>
        <p:spPr>
          <a:xfrm>
            <a:off x="760781" y="1446581"/>
            <a:ext cx="261518" cy="261518"/>
          </a:xfrm>
          <a:prstGeom prst="rect">
            <a:avLst/>
          </a:prstGeom>
          <a:noFill/>
          <a:ln>
            <a:noFill/>
          </a:ln>
        </p:spPr>
      </p:pic>
      <p:sp>
        <p:nvSpPr>
          <p:cNvPr id="1081" name="Google Shape;1081;p71"/>
          <p:cNvSpPr txBox="1"/>
          <p:nvPr/>
        </p:nvSpPr>
        <p:spPr>
          <a:xfrm>
            <a:off x="2331720" y="1325880"/>
            <a:ext cx="54864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A5A8E8"/>
              </a:buClr>
              <a:buSzPts val="1800"/>
              <a:buFont typeface="Calibri"/>
              <a:buNone/>
            </a:pPr>
            <a:r>
              <a:rPr b="1" i="0" lang="en" sz="1800" u="none" cap="none" strike="noStrike">
                <a:solidFill>
                  <a:srgbClr val="A5A8E8"/>
                </a:solidFill>
                <a:latin typeface="Calibri"/>
                <a:ea typeface="Calibri"/>
                <a:cs typeface="Calibri"/>
                <a:sym typeface="Calibri"/>
              </a:rPr>
              <a:t>01</a:t>
            </a:r>
            <a:endParaRPr b="0" i="0" sz="1800" u="none" cap="none" strike="noStrike">
              <a:solidFill>
                <a:schemeClr val="dk1"/>
              </a:solidFill>
              <a:latin typeface="Calibri"/>
              <a:ea typeface="Calibri"/>
              <a:cs typeface="Calibri"/>
              <a:sym typeface="Calibri"/>
            </a:endParaRPr>
          </a:p>
        </p:txBody>
      </p:sp>
      <p:sp>
        <p:nvSpPr>
          <p:cNvPr id="1082" name="Google Shape;1082;p71"/>
          <p:cNvSpPr txBox="1"/>
          <p:nvPr/>
        </p:nvSpPr>
        <p:spPr>
          <a:xfrm>
            <a:off x="640080" y="1920240"/>
            <a:ext cx="22860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Alur &amp; peran</a:t>
            </a:r>
            <a:endParaRPr b="0" i="0" sz="1500" u="none" cap="none" strike="noStrike">
              <a:solidFill>
                <a:schemeClr val="dk1"/>
              </a:solidFill>
              <a:latin typeface="Calibri"/>
              <a:ea typeface="Calibri"/>
              <a:cs typeface="Calibri"/>
              <a:sym typeface="Calibri"/>
            </a:endParaRPr>
          </a:p>
        </p:txBody>
      </p:sp>
      <p:sp>
        <p:nvSpPr>
          <p:cNvPr id="1083" name="Google Shape;1083;p71"/>
          <p:cNvSpPr txBox="1"/>
          <p:nvPr/>
        </p:nvSpPr>
        <p:spPr>
          <a:xfrm>
            <a:off x="640080" y="2212848"/>
            <a:ext cx="22860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Sales → Kasir → Sales Admin → Google Sheet</a:t>
            </a:r>
            <a:endParaRPr b="0" i="0" sz="1200" u="none" cap="none" strike="noStrike">
              <a:solidFill>
                <a:schemeClr val="dk1"/>
              </a:solidFill>
              <a:latin typeface="Calibri"/>
              <a:ea typeface="Calibri"/>
              <a:cs typeface="Calibri"/>
              <a:sym typeface="Calibri"/>
            </a:endParaRPr>
          </a:p>
        </p:txBody>
      </p:sp>
      <p:sp>
        <p:nvSpPr>
          <p:cNvPr id="1084" name="Google Shape;1084;p71"/>
          <p:cNvSpPr/>
          <p:nvPr/>
        </p:nvSpPr>
        <p:spPr>
          <a:xfrm>
            <a:off x="3246120" y="1143000"/>
            <a:ext cx="2606040" cy="1508760"/>
          </a:xfrm>
          <a:prstGeom prst="roundRect">
            <a:avLst>
              <a:gd fmla="val 606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71"/>
          <p:cNvSpPr/>
          <p:nvPr/>
        </p:nvSpPr>
        <p:spPr>
          <a:xfrm>
            <a:off x="3429000" y="132588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6" name="Google Shape;1086;p71"/>
          <p:cNvPicPr preferRelativeResize="0"/>
          <p:nvPr/>
        </p:nvPicPr>
        <p:blipFill rotWithShape="1">
          <a:blip r:embed="rId4">
            <a:alphaModFix/>
          </a:blip>
          <a:srcRect b="0" l="0" r="0" t="0"/>
          <a:stretch/>
        </p:blipFill>
        <p:spPr>
          <a:xfrm>
            <a:off x="3549701" y="1446581"/>
            <a:ext cx="261518" cy="261518"/>
          </a:xfrm>
          <a:prstGeom prst="rect">
            <a:avLst/>
          </a:prstGeom>
          <a:noFill/>
          <a:ln>
            <a:noFill/>
          </a:ln>
        </p:spPr>
      </p:pic>
      <p:sp>
        <p:nvSpPr>
          <p:cNvPr id="1087" name="Google Shape;1087;p71"/>
          <p:cNvSpPr txBox="1"/>
          <p:nvPr/>
        </p:nvSpPr>
        <p:spPr>
          <a:xfrm>
            <a:off x="5120640" y="1325880"/>
            <a:ext cx="54864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A5A8E8"/>
              </a:buClr>
              <a:buSzPts val="1800"/>
              <a:buFont typeface="Calibri"/>
              <a:buNone/>
            </a:pPr>
            <a:r>
              <a:rPr b="1" i="0" lang="en" sz="1800" u="none" cap="none" strike="noStrike">
                <a:solidFill>
                  <a:srgbClr val="A5A8E8"/>
                </a:solidFill>
                <a:latin typeface="Calibri"/>
                <a:ea typeface="Calibri"/>
                <a:cs typeface="Calibri"/>
                <a:sym typeface="Calibri"/>
              </a:rPr>
              <a:t>02</a:t>
            </a:r>
            <a:endParaRPr b="0" i="0" sz="1800" u="none" cap="none" strike="noStrike">
              <a:solidFill>
                <a:schemeClr val="dk1"/>
              </a:solidFill>
              <a:latin typeface="Calibri"/>
              <a:ea typeface="Calibri"/>
              <a:cs typeface="Calibri"/>
              <a:sym typeface="Calibri"/>
            </a:endParaRPr>
          </a:p>
        </p:txBody>
      </p:sp>
      <p:sp>
        <p:nvSpPr>
          <p:cNvPr id="1088" name="Google Shape;1088;p71"/>
          <p:cNvSpPr txBox="1"/>
          <p:nvPr/>
        </p:nvSpPr>
        <p:spPr>
          <a:xfrm>
            <a:off x="3429000" y="1920240"/>
            <a:ext cx="22860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Menu modul</a:t>
            </a:r>
            <a:endParaRPr b="0" i="0" sz="1500" u="none" cap="none" strike="noStrike">
              <a:solidFill>
                <a:schemeClr val="dk1"/>
              </a:solidFill>
              <a:latin typeface="Calibri"/>
              <a:ea typeface="Calibri"/>
              <a:cs typeface="Calibri"/>
              <a:sym typeface="Calibri"/>
            </a:endParaRPr>
          </a:p>
        </p:txBody>
      </p:sp>
      <p:sp>
        <p:nvSpPr>
          <p:cNvPr id="1089" name="Google Shape;1089;p71"/>
          <p:cNvSpPr txBox="1"/>
          <p:nvPr/>
        </p:nvSpPr>
        <p:spPr>
          <a:xfrm>
            <a:off x="3429000" y="2212848"/>
            <a:ext cx="22860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5 menu di grup Reserve Order</a:t>
            </a:r>
            <a:endParaRPr b="0" i="0" sz="1200" u="none" cap="none" strike="noStrike">
              <a:solidFill>
                <a:schemeClr val="dk1"/>
              </a:solidFill>
              <a:latin typeface="Calibri"/>
              <a:ea typeface="Calibri"/>
              <a:cs typeface="Calibri"/>
              <a:sym typeface="Calibri"/>
            </a:endParaRPr>
          </a:p>
        </p:txBody>
      </p:sp>
      <p:sp>
        <p:nvSpPr>
          <p:cNvPr id="1090" name="Google Shape;1090;p71"/>
          <p:cNvSpPr/>
          <p:nvPr/>
        </p:nvSpPr>
        <p:spPr>
          <a:xfrm>
            <a:off x="6035040" y="1143000"/>
            <a:ext cx="2606040" cy="1508760"/>
          </a:xfrm>
          <a:prstGeom prst="roundRect">
            <a:avLst>
              <a:gd fmla="val 606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71"/>
          <p:cNvSpPr/>
          <p:nvPr/>
        </p:nvSpPr>
        <p:spPr>
          <a:xfrm>
            <a:off x="6217920" y="132588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92" name="Google Shape;1092;p71"/>
          <p:cNvPicPr preferRelativeResize="0"/>
          <p:nvPr/>
        </p:nvPicPr>
        <p:blipFill rotWithShape="1">
          <a:blip r:embed="rId5">
            <a:alphaModFix/>
          </a:blip>
          <a:srcRect b="0" l="0" r="0" t="0"/>
          <a:stretch/>
        </p:blipFill>
        <p:spPr>
          <a:xfrm>
            <a:off x="6338621" y="1446581"/>
            <a:ext cx="261518" cy="261518"/>
          </a:xfrm>
          <a:prstGeom prst="rect">
            <a:avLst/>
          </a:prstGeom>
          <a:noFill/>
          <a:ln>
            <a:noFill/>
          </a:ln>
        </p:spPr>
      </p:pic>
      <p:sp>
        <p:nvSpPr>
          <p:cNvPr id="1093" name="Google Shape;1093;p71"/>
          <p:cNvSpPr txBox="1"/>
          <p:nvPr/>
        </p:nvSpPr>
        <p:spPr>
          <a:xfrm>
            <a:off x="7909560" y="1325880"/>
            <a:ext cx="54864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A5A8E8"/>
              </a:buClr>
              <a:buSzPts val="1800"/>
              <a:buFont typeface="Calibri"/>
              <a:buNone/>
            </a:pPr>
            <a:r>
              <a:rPr b="1" i="0" lang="en" sz="1800" u="none" cap="none" strike="noStrike">
                <a:solidFill>
                  <a:srgbClr val="A5A8E8"/>
                </a:solidFill>
                <a:latin typeface="Calibri"/>
                <a:ea typeface="Calibri"/>
                <a:cs typeface="Calibri"/>
                <a:sym typeface="Calibri"/>
              </a:rPr>
              <a:t>03</a:t>
            </a:r>
            <a:endParaRPr b="0" i="0" sz="1800" u="none" cap="none" strike="noStrike">
              <a:solidFill>
                <a:schemeClr val="dk1"/>
              </a:solidFill>
              <a:latin typeface="Calibri"/>
              <a:ea typeface="Calibri"/>
              <a:cs typeface="Calibri"/>
              <a:sym typeface="Calibri"/>
            </a:endParaRPr>
          </a:p>
        </p:txBody>
      </p:sp>
      <p:sp>
        <p:nvSpPr>
          <p:cNvPr id="1094" name="Google Shape;1094;p71"/>
          <p:cNvSpPr txBox="1"/>
          <p:nvPr/>
        </p:nvSpPr>
        <p:spPr>
          <a:xfrm>
            <a:off x="6217920" y="1920240"/>
            <a:ext cx="22860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Verifikasi Sales Admin</a:t>
            </a:r>
            <a:endParaRPr b="0" i="0" sz="1500" u="none" cap="none" strike="noStrike">
              <a:solidFill>
                <a:schemeClr val="dk1"/>
              </a:solidFill>
              <a:latin typeface="Calibri"/>
              <a:ea typeface="Calibri"/>
              <a:cs typeface="Calibri"/>
              <a:sym typeface="Calibri"/>
            </a:endParaRPr>
          </a:p>
        </p:txBody>
      </p:sp>
      <p:sp>
        <p:nvSpPr>
          <p:cNvPr id="1095" name="Google Shape;1095;p71"/>
          <p:cNvSpPr txBox="1"/>
          <p:nvPr/>
        </p:nvSpPr>
        <p:spPr>
          <a:xfrm>
            <a:off x="6217920" y="2212848"/>
            <a:ext cx="22860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Tab Sales Admin, halaman dokumen, approve/reject</a:t>
            </a:r>
            <a:endParaRPr b="0" i="0" sz="1200" u="none" cap="none" strike="noStrike">
              <a:solidFill>
                <a:schemeClr val="dk1"/>
              </a:solidFill>
              <a:latin typeface="Calibri"/>
              <a:ea typeface="Calibri"/>
              <a:cs typeface="Calibri"/>
              <a:sym typeface="Calibri"/>
            </a:endParaRPr>
          </a:p>
        </p:txBody>
      </p:sp>
      <p:sp>
        <p:nvSpPr>
          <p:cNvPr id="1096" name="Google Shape;1096;p71"/>
          <p:cNvSpPr/>
          <p:nvPr/>
        </p:nvSpPr>
        <p:spPr>
          <a:xfrm>
            <a:off x="457200" y="2880360"/>
            <a:ext cx="2606040" cy="1508760"/>
          </a:xfrm>
          <a:prstGeom prst="roundRect">
            <a:avLst>
              <a:gd fmla="val 606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71"/>
          <p:cNvSpPr/>
          <p:nvPr/>
        </p:nvSpPr>
        <p:spPr>
          <a:xfrm>
            <a:off x="640080" y="306324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98" name="Google Shape;1098;p71"/>
          <p:cNvPicPr preferRelativeResize="0"/>
          <p:nvPr/>
        </p:nvPicPr>
        <p:blipFill rotWithShape="1">
          <a:blip r:embed="rId6">
            <a:alphaModFix/>
          </a:blip>
          <a:srcRect b="0" l="0" r="0" t="0"/>
          <a:stretch/>
        </p:blipFill>
        <p:spPr>
          <a:xfrm>
            <a:off x="760781" y="3183941"/>
            <a:ext cx="261518" cy="261518"/>
          </a:xfrm>
          <a:prstGeom prst="rect">
            <a:avLst/>
          </a:prstGeom>
          <a:noFill/>
          <a:ln>
            <a:noFill/>
          </a:ln>
        </p:spPr>
      </p:pic>
      <p:sp>
        <p:nvSpPr>
          <p:cNvPr id="1099" name="Google Shape;1099;p71"/>
          <p:cNvSpPr txBox="1"/>
          <p:nvPr/>
        </p:nvSpPr>
        <p:spPr>
          <a:xfrm>
            <a:off x="2331720" y="3063240"/>
            <a:ext cx="54864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A5A8E8"/>
              </a:buClr>
              <a:buSzPts val="1800"/>
              <a:buFont typeface="Calibri"/>
              <a:buNone/>
            </a:pPr>
            <a:r>
              <a:rPr b="1" i="0" lang="en" sz="1800" u="none" cap="none" strike="noStrike">
                <a:solidFill>
                  <a:srgbClr val="A5A8E8"/>
                </a:solidFill>
                <a:latin typeface="Calibri"/>
                <a:ea typeface="Calibri"/>
                <a:cs typeface="Calibri"/>
                <a:sym typeface="Calibri"/>
              </a:rPr>
              <a:t>04</a:t>
            </a:r>
            <a:endParaRPr b="0" i="0" sz="1800" u="none" cap="none" strike="noStrike">
              <a:solidFill>
                <a:schemeClr val="dk1"/>
              </a:solidFill>
              <a:latin typeface="Calibri"/>
              <a:ea typeface="Calibri"/>
              <a:cs typeface="Calibri"/>
              <a:sym typeface="Calibri"/>
            </a:endParaRPr>
          </a:p>
        </p:txBody>
      </p:sp>
      <p:sp>
        <p:nvSpPr>
          <p:cNvPr id="1100" name="Google Shape;1100;p71"/>
          <p:cNvSpPr txBox="1"/>
          <p:nvPr/>
        </p:nvSpPr>
        <p:spPr>
          <a:xfrm>
            <a:off x="640080" y="3657600"/>
            <a:ext cx="22860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Unit &amp; status</a:t>
            </a:r>
            <a:endParaRPr b="0" i="0" sz="1500" u="none" cap="none" strike="noStrike">
              <a:solidFill>
                <a:schemeClr val="dk1"/>
              </a:solidFill>
              <a:latin typeface="Calibri"/>
              <a:ea typeface="Calibri"/>
              <a:cs typeface="Calibri"/>
              <a:sym typeface="Calibri"/>
            </a:endParaRPr>
          </a:p>
        </p:txBody>
      </p:sp>
      <p:sp>
        <p:nvSpPr>
          <p:cNvPr id="1101" name="Google Shape;1101;p71"/>
          <p:cNvSpPr txBox="1"/>
          <p:nvPr/>
        </p:nvSpPr>
        <p:spPr>
          <a:xfrm>
            <a:off x="640080" y="3950208"/>
            <a:ext cx="22860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Tab Verification: kavling, status, alasan batal</a:t>
            </a:r>
            <a:endParaRPr b="0" i="0" sz="1200" u="none" cap="none" strike="noStrike">
              <a:solidFill>
                <a:schemeClr val="dk1"/>
              </a:solidFill>
              <a:latin typeface="Calibri"/>
              <a:ea typeface="Calibri"/>
              <a:cs typeface="Calibri"/>
              <a:sym typeface="Calibri"/>
            </a:endParaRPr>
          </a:p>
        </p:txBody>
      </p:sp>
      <p:sp>
        <p:nvSpPr>
          <p:cNvPr id="1102" name="Google Shape;1102;p71"/>
          <p:cNvSpPr/>
          <p:nvPr/>
        </p:nvSpPr>
        <p:spPr>
          <a:xfrm>
            <a:off x="3246120" y="2880360"/>
            <a:ext cx="2606040" cy="1508760"/>
          </a:xfrm>
          <a:prstGeom prst="roundRect">
            <a:avLst>
              <a:gd fmla="val 606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71"/>
          <p:cNvSpPr/>
          <p:nvPr/>
        </p:nvSpPr>
        <p:spPr>
          <a:xfrm>
            <a:off x="3429000" y="306324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04" name="Google Shape;1104;p71"/>
          <p:cNvPicPr preferRelativeResize="0"/>
          <p:nvPr/>
        </p:nvPicPr>
        <p:blipFill rotWithShape="1">
          <a:blip r:embed="rId7">
            <a:alphaModFix/>
          </a:blip>
          <a:srcRect b="0" l="0" r="0" t="0"/>
          <a:stretch/>
        </p:blipFill>
        <p:spPr>
          <a:xfrm>
            <a:off x="3549701" y="3183941"/>
            <a:ext cx="261518" cy="261518"/>
          </a:xfrm>
          <a:prstGeom prst="rect">
            <a:avLst/>
          </a:prstGeom>
          <a:noFill/>
          <a:ln>
            <a:noFill/>
          </a:ln>
        </p:spPr>
      </p:pic>
      <p:sp>
        <p:nvSpPr>
          <p:cNvPr id="1105" name="Google Shape;1105;p71"/>
          <p:cNvSpPr txBox="1"/>
          <p:nvPr/>
        </p:nvSpPr>
        <p:spPr>
          <a:xfrm>
            <a:off x="5120640" y="3063240"/>
            <a:ext cx="54864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A5A8E8"/>
              </a:buClr>
              <a:buSzPts val="1800"/>
              <a:buFont typeface="Calibri"/>
              <a:buNone/>
            </a:pPr>
            <a:r>
              <a:rPr b="1" i="0" lang="en" sz="1800" u="none" cap="none" strike="noStrike">
                <a:solidFill>
                  <a:srgbClr val="A5A8E8"/>
                </a:solidFill>
                <a:latin typeface="Calibri"/>
                <a:ea typeface="Calibri"/>
                <a:cs typeface="Calibri"/>
                <a:sym typeface="Calibri"/>
              </a:rPr>
              <a:t>05</a:t>
            </a:r>
            <a:endParaRPr b="0" i="0" sz="1800" u="none" cap="none" strike="noStrike">
              <a:solidFill>
                <a:schemeClr val="dk1"/>
              </a:solidFill>
              <a:latin typeface="Calibri"/>
              <a:ea typeface="Calibri"/>
              <a:cs typeface="Calibri"/>
              <a:sym typeface="Calibri"/>
            </a:endParaRPr>
          </a:p>
        </p:txBody>
      </p:sp>
      <p:sp>
        <p:nvSpPr>
          <p:cNvPr id="1106" name="Google Shape;1106;p71"/>
          <p:cNvSpPr txBox="1"/>
          <p:nvPr/>
        </p:nvSpPr>
        <p:spPr>
          <a:xfrm>
            <a:off x="3429000" y="3657600"/>
            <a:ext cx="22860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Master data &amp; TTS</a:t>
            </a:r>
            <a:endParaRPr b="0" i="0" sz="1500" u="none" cap="none" strike="noStrike">
              <a:solidFill>
                <a:schemeClr val="dk1"/>
              </a:solidFill>
              <a:latin typeface="Calibri"/>
              <a:ea typeface="Calibri"/>
              <a:cs typeface="Calibri"/>
              <a:sym typeface="Calibri"/>
            </a:endParaRPr>
          </a:p>
        </p:txBody>
      </p:sp>
      <p:sp>
        <p:nvSpPr>
          <p:cNvPr id="1107" name="Google Shape;1107;p71"/>
          <p:cNvSpPr txBox="1"/>
          <p:nvPr/>
        </p:nvSpPr>
        <p:spPr>
          <a:xfrm>
            <a:off x="3429000" y="3950208"/>
            <a:ext cx="22860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Master Customer, Master Status, Tanda Terima Sementara</a:t>
            </a:r>
            <a:endParaRPr b="0" i="0" sz="1200" u="none" cap="none" strike="noStrike">
              <a:solidFill>
                <a:schemeClr val="dk1"/>
              </a:solidFill>
              <a:latin typeface="Calibri"/>
              <a:ea typeface="Calibri"/>
              <a:cs typeface="Calibri"/>
              <a:sym typeface="Calibri"/>
            </a:endParaRPr>
          </a:p>
        </p:txBody>
      </p:sp>
      <p:sp>
        <p:nvSpPr>
          <p:cNvPr id="1108" name="Google Shape;1108;p71"/>
          <p:cNvSpPr/>
          <p:nvPr/>
        </p:nvSpPr>
        <p:spPr>
          <a:xfrm>
            <a:off x="6035040" y="2880360"/>
            <a:ext cx="2606040" cy="1508760"/>
          </a:xfrm>
          <a:prstGeom prst="roundRect">
            <a:avLst>
              <a:gd fmla="val 606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71"/>
          <p:cNvSpPr/>
          <p:nvPr/>
        </p:nvSpPr>
        <p:spPr>
          <a:xfrm>
            <a:off x="6217920" y="306324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10" name="Google Shape;1110;p71"/>
          <p:cNvPicPr preferRelativeResize="0"/>
          <p:nvPr/>
        </p:nvPicPr>
        <p:blipFill rotWithShape="1">
          <a:blip r:embed="rId8">
            <a:alphaModFix/>
          </a:blip>
          <a:srcRect b="0" l="0" r="0" t="0"/>
          <a:stretch/>
        </p:blipFill>
        <p:spPr>
          <a:xfrm>
            <a:off x="6338621" y="3183941"/>
            <a:ext cx="261518" cy="261518"/>
          </a:xfrm>
          <a:prstGeom prst="rect">
            <a:avLst/>
          </a:prstGeom>
          <a:noFill/>
          <a:ln>
            <a:noFill/>
          </a:ln>
        </p:spPr>
      </p:pic>
      <p:sp>
        <p:nvSpPr>
          <p:cNvPr id="1111" name="Google Shape;1111;p71"/>
          <p:cNvSpPr txBox="1"/>
          <p:nvPr/>
        </p:nvSpPr>
        <p:spPr>
          <a:xfrm>
            <a:off x="7909560" y="3063240"/>
            <a:ext cx="54864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A5A8E8"/>
              </a:buClr>
              <a:buSzPts val="1800"/>
              <a:buFont typeface="Calibri"/>
              <a:buNone/>
            </a:pPr>
            <a:r>
              <a:rPr b="1" i="0" lang="en" sz="1800" u="none" cap="none" strike="noStrike">
                <a:solidFill>
                  <a:srgbClr val="A5A8E8"/>
                </a:solidFill>
                <a:latin typeface="Calibri"/>
                <a:ea typeface="Calibri"/>
                <a:cs typeface="Calibri"/>
                <a:sym typeface="Calibri"/>
              </a:rPr>
              <a:t>06</a:t>
            </a:r>
            <a:endParaRPr b="0" i="0" sz="1800" u="none" cap="none" strike="noStrike">
              <a:solidFill>
                <a:schemeClr val="dk1"/>
              </a:solidFill>
              <a:latin typeface="Calibri"/>
              <a:ea typeface="Calibri"/>
              <a:cs typeface="Calibri"/>
              <a:sym typeface="Calibri"/>
            </a:endParaRPr>
          </a:p>
        </p:txBody>
      </p:sp>
      <p:sp>
        <p:nvSpPr>
          <p:cNvPr id="1112" name="Google Shape;1112;p71"/>
          <p:cNvSpPr txBox="1"/>
          <p:nvPr/>
        </p:nvSpPr>
        <p:spPr>
          <a:xfrm>
            <a:off x="6217920" y="3657600"/>
            <a:ext cx="22860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Map Siteplan &amp; latihan</a:t>
            </a:r>
            <a:endParaRPr b="0" i="0" sz="1500" u="none" cap="none" strike="noStrike">
              <a:solidFill>
                <a:schemeClr val="dk1"/>
              </a:solidFill>
              <a:latin typeface="Calibri"/>
              <a:ea typeface="Calibri"/>
              <a:cs typeface="Calibri"/>
              <a:sym typeface="Calibri"/>
            </a:endParaRPr>
          </a:p>
        </p:txBody>
      </p:sp>
      <p:sp>
        <p:nvSpPr>
          <p:cNvPr id="1113" name="Google Shape;1113;p71"/>
          <p:cNvSpPr txBox="1"/>
          <p:nvPr/>
        </p:nvSpPr>
        <p:spPr>
          <a:xfrm>
            <a:off x="6217920" y="3950208"/>
            <a:ext cx="22860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Cek ketersediaan unit, checklist, kuis</a:t>
            </a:r>
            <a:endParaRPr b="0" i="0" sz="1200" u="none" cap="none" strike="noStrike">
              <a:solidFill>
                <a:schemeClr val="dk1"/>
              </a:solidFill>
              <a:latin typeface="Calibri"/>
              <a:ea typeface="Calibri"/>
              <a:cs typeface="Calibri"/>
              <a:sym typeface="Calibri"/>
            </a:endParaRPr>
          </a:p>
        </p:txBody>
      </p:sp>
      <p:sp>
        <p:nvSpPr>
          <p:cNvPr id="1114" name="Google Shape;1114;p71"/>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72"/>
          <p:cNvSpPr txBox="1"/>
          <p:nvPr>
            <p:ph type="title"/>
          </p:nvPr>
        </p:nvSpPr>
        <p:spPr>
          <a:xfrm>
            <a:off x="548640" y="1828800"/>
            <a:ext cx="804672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 sz="3600">
                <a:solidFill>
                  <a:schemeClr val="lt1"/>
                </a:solidFill>
              </a:rPr>
              <a:t>Alur &amp; peran</a:t>
            </a:r>
            <a:endParaRPr sz="3600"/>
          </a:p>
        </p:txBody>
      </p:sp>
      <p:sp>
        <p:nvSpPr>
          <p:cNvPr id="1121" name="Google Shape;1121;p72"/>
          <p:cNvSpPr txBox="1"/>
          <p:nvPr>
            <p:ph idx="1" type="body"/>
          </p:nvPr>
        </p:nvSpPr>
        <p:spPr>
          <a:xfrm>
            <a:off x="548640" y="2834640"/>
            <a:ext cx="8046720" cy="7315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rPr lang="en" sz="1600">
                <a:solidFill>
                  <a:schemeClr val="lt2"/>
                </a:solidFill>
              </a:rPr>
              <a:t>Sales Admin adalah lapis verifikasi setelah Kasir</a:t>
            </a:r>
            <a:endParaRPr sz="1600"/>
          </a:p>
        </p:txBody>
      </p:sp>
      <p:sp>
        <p:nvSpPr>
          <p:cNvPr id="1122" name="Google Shape;1122;p72"/>
          <p:cNvSpPr txBox="1"/>
          <p:nvPr>
            <p:ph idx="4294967295"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73"/>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Alur approval Reserve Order</a:t>
            </a:r>
            <a:endParaRPr sz="2800"/>
          </a:p>
        </p:txBody>
      </p:sp>
      <p:sp>
        <p:nvSpPr>
          <p:cNvPr id="1129" name="Google Shape;1129;p73"/>
          <p:cNvSpPr/>
          <p:nvPr/>
        </p:nvSpPr>
        <p:spPr>
          <a:xfrm>
            <a:off x="457200" y="1143000"/>
            <a:ext cx="1920240" cy="2331720"/>
          </a:xfrm>
          <a:prstGeom prst="roundRect">
            <a:avLst>
              <a:gd fmla="val 476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73"/>
          <p:cNvSpPr/>
          <p:nvPr/>
        </p:nvSpPr>
        <p:spPr>
          <a:xfrm>
            <a:off x="640080" y="1325880"/>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1" name="Google Shape;1131;p73"/>
          <p:cNvPicPr preferRelativeResize="0"/>
          <p:nvPr/>
        </p:nvPicPr>
        <p:blipFill rotWithShape="1">
          <a:blip r:embed="rId3">
            <a:alphaModFix/>
          </a:blip>
          <a:srcRect b="0" l="0" r="0" t="0"/>
          <a:stretch/>
        </p:blipFill>
        <p:spPr>
          <a:xfrm>
            <a:off x="771754" y="1457554"/>
            <a:ext cx="285293" cy="285293"/>
          </a:xfrm>
          <a:prstGeom prst="rect">
            <a:avLst/>
          </a:prstGeom>
          <a:noFill/>
          <a:ln>
            <a:noFill/>
          </a:ln>
        </p:spPr>
      </p:pic>
      <p:sp>
        <p:nvSpPr>
          <p:cNvPr id="1132" name="Google Shape;1132;p73"/>
          <p:cNvSpPr txBox="1"/>
          <p:nvPr/>
        </p:nvSpPr>
        <p:spPr>
          <a:xfrm>
            <a:off x="640080" y="2011680"/>
            <a:ext cx="16459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Sales</a:t>
            </a:r>
            <a:endParaRPr b="0" i="0" sz="1500" u="none" cap="none" strike="noStrike">
              <a:solidFill>
                <a:schemeClr val="dk1"/>
              </a:solidFill>
              <a:latin typeface="Calibri"/>
              <a:ea typeface="Calibri"/>
              <a:cs typeface="Calibri"/>
              <a:sym typeface="Calibri"/>
            </a:endParaRPr>
          </a:p>
        </p:txBody>
      </p:sp>
      <p:sp>
        <p:nvSpPr>
          <p:cNvPr id="1133" name="Google Shape;1133;p73"/>
          <p:cNvSpPr txBox="1"/>
          <p:nvPr/>
        </p:nvSpPr>
        <p:spPr>
          <a:xfrm>
            <a:off x="640080" y="2377440"/>
            <a:ext cx="1600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Membuat RO, mengajukan TTS / Top Up, upload KTP &amp; bukti</a:t>
            </a:r>
            <a:endParaRPr b="0" i="0" sz="1200" u="none" cap="none" strike="noStrike">
              <a:solidFill>
                <a:schemeClr val="dk1"/>
              </a:solidFill>
              <a:latin typeface="Calibri"/>
              <a:ea typeface="Calibri"/>
              <a:cs typeface="Calibri"/>
              <a:sym typeface="Calibri"/>
            </a:endParaRPr>
          </a:p>
        </p:txBody>
      </p:sp>
      <p:sp>
        <p:nvSpPr>
          <p:cNvPr id="1134" name="Google Shape;1134;p73"/>
          <p:cNvSpPr/>
          <p:nvPr/>
        </p:nvSpPr>
        <p:spPr>
          <a:xfrm>
            <a:off x="2404872" y="2194560"/>
            <a:ext cx="128016" cy="237744"/>
          </a:xfrm>
          <a:prstGeom prst="chevron">
            <a:avLst>
              <a:gd fmla="val 50000" name="adj"/>
            </a:avLst>
          </a:prstGeom>
          <a:solidFill>
            <a:srgbClr val="A5A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73"/>
          <p:cNvSpPr/>
          <p:nvPr/>
        </p:nvSpPr>
        <p:spPr>
          <a:xfrm>
            <a:off x="2560320" y="1143000"/>
            <a:ext cx="1920240" cy="2331720"/>
          </a:xfrm>
          <a:prstGeom prst="roundRect">
            <a:avLst>
              <a:gd fmla="val 476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73"/>
          <p:cNvSpPr/>
          <p:nvPr/>
        </p:nvSpPr>
        <p:spPr>
          <a:xfrm>
            <a:off x="2743200" y="1325880"/>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7" name="Google Shape;1137;p73"/>
          <p:cNvPicPr preferRelativeResize="0"/>
          <p:nvPr/>
        </p:nvPicPr>
        <p:blipFill rotWithShape="1">
          <a:blip r:embed="rId4">
            <a:alphaModFix/>
          </a:blip>
          <a:srcRect b="0" l="0" r="0" t="0"/>
          <a:stretch/>
        </p:blipFill>
        <p:spPr>
          <a:xfrm>
            <a:off x="2874874" y="1457554"/>
            <a:ext cx="285293" cy="285293"/>
          </a:xfrm>
          <a:prstGeom prst="rect">
            <a:avLst/>
          </a:prstGeom>
          <a:noFill/>
          <a:ln>
            <a:noFill/>
          </a:ln>
        </p:spPr>
      </p:pic>
      <p:sp>
        <p:nvSpPr>
          <p:cNvPr id="1138" name="Google Shape;1138;p73"/>
          <p:cNvSpPr txBox="1"/>
          <p:nvPr/>
        </p:nvSpPr>
        <p:spPr>
          <a:xfrm>
            <a:off x="2743200" y="2011680"/>
            <a:ext cx="16459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Kasir</a:t>
            </a:r>
            <a:endParaRPr b="0" i="0" sz="1500" u="none" cap="none" strike="noStrike">
              <a:solidFill>
                <a:schemeClr val="dk1"/>
              </a:solidFill>
              <a:latin typeface="Calibri"/>
              <a:ea typeface="Calibri"/>
              <a:cs typeface="Calibri"/>
              <a:sym typeface="Calibri"/>
            </a:endParaRPr>
          </a:p>
        </p:txBody>
      </p:sp>
      <p:sp>
        <p:nvSpPr>
          <p:cNvPr id="1139" name="Google Shape;1139;p73"/>
          <p:cNvSpPr txBox="1"/>
          <p:nvPr/>
        </p:nvSpPr>
        <p:spPr>
          <a:xfrm>
            <a:off x="2743200" y="2377440"/>
            <a:ext cx="1600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Verifikasi pembayaran &amp; dokumen → badge Kasir ✓</a:t>
            </a:r>
            <a:endParaRPr b="0" i="0" sz="1200" u="none" cap="none" strike="noStrike">
              <a:solidFill>
                <a:schemeClr val="dk1"/>
              </a:solidFill>
              <a:latin typeface="Calibri"/>
              <a:ea typeface="Calibri"/>
              <a:cs typeface="Calibri"/>
              <a:sym typeface="Calibri"/>
            </a:endParaRPr>
          </a:p>
        </p:txBody>
      </p:sp>
      <p:sp>
        <p:nvSpPr>
          <p:cNvPr id="1140" name="Google Shape;1140;p73"/>
          <p:cNvSpPr/>
          <p:nvPr/>
        </p:nvSpPr>
        <p:spPr>
          <a:xfrm>
            <a:off x="4507992" y="2194560"/>
            <a:ext cx="128016" cy="237744"/>
          </a:xfrm>
          <a:prstGeom prst="chevron">
            <a:avLst>
              <a:gd fmla="val 50000" name="adj"/>
            </a:avLst>
          </a:prstGeom>
          <a:solidFill>
            <a:srgbClr val="A5A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73"/>
          <p:cNvSpPr/>
          <p:nvPr/>
        </p:nvSpPr>
        <p:spPr>
          <a:xfrm>
            <a:off x="4663440" y="1143000"/>
            <a:ext cx="1920240" cy="2331720"/>
          </a:xfrm>
          <a:prstGeom prst="roundRect">
            <a:avLst>
              <a:gd fmla="val 4762"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73"/>
          <p:cNvSpPr/>
          <p:nvPr/>
        </p:nvSpPr>
        <p:spPr>
          <a:xfrm>
            <a:off x="4846320" y="1325880"/>
            <a:ext cx="548640" cy="5486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43" name="Google Shape;1143;p73"/>
          <p:cNvPicPr preferRelativeResize="0"/>
          <p:nvPr/>
        </p:nvPicPr>
        <p:blipFill rotWithShape="1">
          <a:blip r:embed="rId5">
            <a:alphaModFix/>
          </a:blip>
          <a:srcRect b="0" l="0" r="0" t="0"/>
          <a:stretch/>
        </p:blipFill>
        <p:spPr>
          <a:xfrm>
            <a:off x="4977994" y="1457554"/>
            <a:ext cx="285293" cy="285293"/>
          </a:xfrm>
          <a:prstGeom prst="rect">
            <a:avLst/>
          </a:prstGeom>
          <a:noFill/>
          <a:ln>
            <a:noFill/>
          </a:ln>
        </p:spPr>
      </p:pic>
      <p:sp>
        <p:nvSpPr>
          <p:cNvPr id="1144" name="Google Shape;1144;p73"/>
          <p:cNvSpPr txBox="1"/>
          <p:nvPr/>
        </p:nvSpPr>
        <p:spPr>
          <a:xfrm>
            <a:off x="4846320" y="2011680"/>
            <a:ext cx="16459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 sz="1500" u="none" cap="none" strike="noStrike">
                <a:solidFill>
                  <a:schemeClr val="lt1"/>
                </a:solidFill>
                <a:latin typeface="Calibri"/>
                <a:ea typeface="Calibri"/>
                <a:cs typeface="Calibri"/>
                <a:sym typeface="Calibri"/>
              </a:rPr>
              <a:t>Sales Admin</a:t>
            </a:r>
            <a:endParaRPr b="0" i="0" sz="1500" u="none" cap="none" strike="noStrike">
              <a:solidFill>
                <a:schemeClr val="dk1"/>
              </a:solidFill>
              <a:latin typeface="Calibri"/>
              <a:ea typeface="Calibri"/>
              <a:cs typeface="Calibri"/>
              <a:sym typeface="Calibri"/>
            </a:endParaRPr>
          </a:p>
        </p:txBody>
      </p:sp>
      <p:sp>
        <p:nvSpPr>
          <p:cNvPr id="1145" name="Google Shape;1145;p73"/>
          <p:cNvSpPr txBox="1"/>
          <p:nvPr/>
        </p:nvSpPr>
        <p:spPr>
          <a:xfrm>
            <a:off x="4846320" y="2377440"/>
            <a:ext cx="1600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Calibri"/>
              <a:buNone/>
            </a:pPr>
            <a:r>
              <a:rPr b="0" i="0" lang="en" sz="1200" u="none" cap="none" strike="noStrike">
                <a:solidFill>
                  <a:schemeClr val="lt1"/>
                </a:solidFill>
                <a:latin typeface="Calibri"/>
                <a:ea typeface="Calibri"/>
                <a:cs typeface="Calibri"/>
                <a:sym typeface="Calibri"/>
              </a:rPr>
              <a:t>Verifikasi data RO, unit &amp; status → badge SA ✓</a:t>
            </a:r>
            <a:endParaRPr b="0" i="0" sz="1200" u="none" cap="none" strike="noStrike">
              <a:solidFill>
                <a:schemeClr val="dk1"/>
              </a:solidFill>
              <a:latin typeface="Calibri"/>
              <a:ea typeface="Calibri"/>
              <a:cs typeface="Calibri"/>
              <a:sym typeface="Calibri"/>
            </a:endParaRPr>
          </a:p>
        </p:txBody>
      </p:sp>
      <p:sp>
        <p:nvSpPr>
          <p:cNvPr id="1146" name="Google Shape;1146;p73"/>
          <p:cNvSpPr/>
          <p:nvPr/>
        </p:nvSpPr>
        <p:spPr>
          <a:xfrm>
            <a:off x="6611112" y="2194560"/>
            <a:ext cx="128016" cy="237744"/>
          </a:xfrm>
          <a:prstGeom prst="chevron">
            <a:avLst>
              <a:gd fmla="val 50000" name="adj"/>
            </a:avLst>
          </a:prstGeom>
          <a:solidFill>
            <a:srgbClr val="A5A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73"/>
          <p:cNvSpPr/>
          <p:nvPr/>
        </p:nvSpPr>
        <p:spPr>
          <a:xfrm>
            <a:off x="6766560" y="1143000"/>
            <a:ext cx="1920240" cy="2331720"/>
          </a:xfrm>
          <a:prstGeom prst="roundRect">
            <a:avLst>
              <a:gd fmla="val 476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73"/>
          <p:cNvSpPr/>
          <p:nvPr/>
        </p:nvSpPr>
        <p:spPr>
          <a:xfrm>
            <a:off x="6949440" y="1325880"/>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49" name="Google Shape;1149;p73"/>
          <p:cNvPicPr preferRelativeResize="0"/>
          <p:nvPr/>
        </p:nvPicPr>
        <p:blipFill rotWithShape="1">
          <a:blip r:embed="rId6">
            <a:alphaModFix/>
          </a:blip>
          <a:srcRect b="0" l="0" r="0" t="0"/>
          <a:stretch/>
        </p:blipFill>
        <p:spPr>
          <a:xfrm>
            <a:off x="7081114" y="1457554"/>
            <a:ext cx="285293" cy="285293"/>
          </a:xfrm>
          <a:prstGeom prst="rect">
            <a:avLst/>
          </a:prstGeom>
          <a:noFill/>
          <a:ln>
            <a:noFill/>
          </a:ln>
        </p:spPr>
      </p:pic>
      <p:sp>
        <p:nvSpPr>
          <p:cNvPr id="1150" name="Google Shape;1150;p73"/>
          <p:cNvSpPr txBox="1"/>
          <p:nvPr/>
        </p:nvSpPr>
        <p:spPr>
          <a:xfrm>
            <a:off x="6949440" y="2011680"/>
            <a:ext cx="16459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Google Sheet (DSR)</a:t>
            </a:r>
            <a:endParaRPr b="0" i="0" sz="1500" u="none" cap="none" strike="noStrike">
              <a:solidFill>
                <a:schemeClr val="dk1"/>
              </a:solidFill>
              <a:latin typeface="Calibri"/>
              <a:ea typeface="Calibri"/>
              <a:cs typeface="Calibri"/>
              <a:sym typeface="Calibri"/>
            </a:endParaRPr>
          </a:p>
        </p:txBody>
      </p:sp>
      <p:sp>
        <p:nvSpPr>
          <p:cNvPr id="1151" name="Google Shape;1151;p73"/>
          <p:cNvSpPr txBox="1"/>
          <p:nvPr/>
        </p:nvSpPr>
        <p:spPr>
          <a:xfrm>
            <a:off x="6949440" y="2377440"/>
            <a:ext cx="1600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Data RO tersinkron ke sheet (mis. tab RB-KASIR)</a:t>
            </a:r>
            <a:endParaRPr b="0" i="0" sz="1200" u="none" cap="none" strike="noStrike">
              <a:solidFill>
                <a:schemeClr val="dk1"/>
              </a:solidFill>
              <a:latin typeface="Calibri"/>
              <a:ea typeface="Calibri"/>
              <a:cs typeface="Calibri"/>
              <a:sym typeface="Calibri"/>
            </a:endParaRPr>
          </a:p>
        </p:txBody>
      </p:sp>
      <p:sp>
        <p:nvSpPr>
          <p:cNvPr id="1152" name="Google Shape;1152;p73"/>
          <p:cNvSpPr/>
          <p:nvPr/>
        </p:nvSpPr>
        <p:spPr>
          <a:xfrm>
            <a:off x="457200" y="3794760"/>
            <a:ext cx="8229600" cy="457200"/>
          </a:xfrm>
          <a:prstGeom prst="roundRect">
            <a:avLst>
              <a:gd fmla="val 20000" name="adj"/>
            </a:avLst>
          </a:prstGeom>
          <a:solidFill>
            <a:srgbClr val="FFF7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73"/>
          <p:cNvSpPr txBox="1"/>
          <p:nvPr/>
        </p:nvSpPr>
        <p:spPr>
          <a:xfrm>
            <a:off x="640080" y="379476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4B"/>
              </a:buClr>
              <a:buSzPts val="1200"/>
              <a:buFont typeface="Calibri"/>
              <a:buNone/>
            </a:pPr>
            <a:r>
              <a:rPr b="1" i="0" lang="en" sz="1200" u="none" cap="none" strike="noStrike">
                <a:solidFill>
                  <a:srgbClr val="1E1B4B"/>
                </a:solidFill>
                <a:latin typeface="Calibri"/>
                <a:ea typeface="Calibri"/>
                <a:cs typeface="Calibri"/>
                <a:sym typeface="Calibri"/>
              </a:rPr>
              <a:t>Penting: </a:t>
            </a:r>
            <a:r>
              <a:rPr b="0" i="0" lang="en" sz="1200" u="none" cap="none" strike="noStrike">
                <a:solidFill>
                  <a:schemeClr val="dk1"/>
                </a:solidFill>
                <a:latin typeface="Calibri"/>
                <a:ea typeface="Calibri"/>
                <a:cs typeface="Calibri"/>
                <a:sym typeface="Calibri"/>
              </a:rPr>
              <a:t>RO baru muncul untuk diverifikasi Sales Admin setelah pembayarannya disetujui Kasir. Top up baru memicu banner "Pembayaran baru".</a:t>
            </a:r>
            <a:endParaRPr b="0" i="0" sz="1200" u="none" cap="none" strike="noStrike">
              <a:solidFill>
                <a:schemeClr val="dk1"/>
              </a:solidFill>
              <a:latin typeface="Calibri"/>
              <a:ea typeface="Calibri"/>
              <a:cs typeface="Calibri"/>
              <a:sym typeface="Calibri"/>
            </a:endParaRPr>
          </a:p>
        </p:txBody>
      </p:sp>
      <p:sp>
        <p:nvSpPr>
          <p:cNvPr id="1154" name="Google Shape;1154;p73"/>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74"/>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Peta menu modul Reserve Order</a:t>
            </a:r>
            <a:endParaRPr sz="2800"/>
          </a:p>
        </p:txBody>
      </p:sp>
      <p:sp>
        <p:nvSpPr>
          <p:cNvPr id="1161" name="Google Shape;1161;p74"/>
          <p:cNvSpPr/>
          <p:nvPr/>
        </p:nvSpPr>
        <p:spPr>
          <a:xfrm>
            <a:off x="402336" y="996696"/>
            <a:ext cx="4315968" cy="2551922"/>
          </a:xfrm>
          <a:prstGeom prst="roundRect">
            <a:avLst>
              <a:gd fmla="val 2867"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ubmenu Reserve Order" id="1162" name="Google Shape;1162;p74"/>
          <p:cNvPicPr preferRelativeResize="0"/>
          <p:nvPr/>
        </p:nvPicPr>
        <p:blipFill rotWithShape="1">
          <a:blip r:embed="rId3">
            <a:alphaModFix/>
          </a:blip>
          <a:srcRect b="0" l="0" r="0" t="0"/>
          <a:stretch/>
        </p:blipFill>
        <p:spPr>
          <a:xfrm>
            <a:off x="457200" y="1051560"/>
            <a:ext cx="4206240" cy="2442194"/>
          </a:xfrm>
          <a:prstGeom prst="rect">
            <a:avLst/>
          </a:prstGeom>
          <a:noFill/>
          <a:ln>
            <a:noFill/>
          </a:ln>
        </p:spPr>
      </p:pic>
      <p:sp>
        <p:nvSpPr>
          <p:cNvPr id="1163" name="Google Shape;1163;p74"/>
          <p:cNvSpPr/>
          <p:nvPr/>
        </p:nvSpPr>
        <p:spPr>
          <a:xfrm>
            <a:off x="4983480" y="10698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74"/>
          <p:cNvSpPr txBox="1"/>
          <p:nvPr/>
        </p:nvSpPr>
        <p:spPr>
          <a:xfrm>
            <a:off x="4983480"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165" name="Google Shape;1165;p74"/>
          <p:cNvSpPr txBox="1"/>
          <p:nvPr/>
        </p:nvSpPr>
        <p:spPr>
          <a:xfrm>
            <a:off x="5394960" y="1051560"/>
            <a:ext cx="3291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Reserve Order</a:t>
            </a:r>
            <a:endParaRPr b="0" i="0" sz="1500" u="none" cap="none" strike="noStrike">
              <a:solidFill>
                <a:schemeClr val="dk1"/>
              </a:solidFill>
              <a:latin typeface="Calibri"/>
              <a:ea typeface="Calibri"/>
              <a:cs typeface="Calibri"/>
              <a:sym typeface="Calibri"/>
            </a:endParaRPr>
          </a:p>
        </p:txBody>
      </p:sp>
      <p:sp>
        <p:nvSpPr>
          <p:cNvPr id="1166" name="Google Shape;1166;p74"/>
          <p:cNvSpPr txBox="1"/>
          <p:nvPr/>
        </p:nvSpPr>
        <p:spPr>
          <a:xfrm>
            <a:off x="5394960" y="1353312"/>
            <a:ext cx="329184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Antrian verifikasi Sales Admin &amp; arsip approved</a:t>
            </a:r>
            <a:endParaRPr b="0" i="0" sz="1300" u="none" cap="none" strike="noStrike">
              <a:solidFill>
                <a:schemeClr val="dk1"/>
              </a:solidFill>
              <a:latin typeface="Calibri"/>
              <a:ea typeface="Calibri"/>
              <a:cs typeface="Calibri"/>
              <a:sym typeface="Calibri"/>
            </a:endParaRPr>
          </a:p>
        </p:txBody>
      </p:sp>
      <p:sp>
        <p:nvSpPr>
          <p:cNvPr id="1167" name="Google Shape;1167;p74"/>
          <p:cNvSpPr/>
          <p:nvPr/>
        </p:nvSpPr>
        <p:spPr>
          <a:xfrm>
            <a:off x="4983480" y="1764792"/>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74"/>
          <p:cNvSpPr txBox="1"/>
          <p:nvPr/>
        </p:nvSpPr>
        <p:spPr>
          <a:xfrm>
            <a:off x="4983480" y="176479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169" name="Google Shape;1169;p74"/>
          <p:cNvSpPr txBox="1"/>
          <p:nvPr/>
        </p:nvSpPr>
        <p:spPr>
          <a:xfrm>
            <a:off x="5394960" y="1746504"/>
            <a:ext cx="3291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Master Customer Reserve</a:t>
            </a:r>
            <a:endParaRPr b="0" i="0" sz="1500" u="none" cap="none" strike="noStrike">
              <a:solidFill>
                <a:schemeClr val="dk1"/>
              </a:solidFill>
              <a:latin typeface="Calibri"/>
              <a:ea typeface="Calibri"/>
              <a:cs typeface="Calibri"/>
              <a:sym typeface="Calibri"/>
            </a:endParaRPr>
          </a:p>
        </p:txBody>
      </p:sp>
      <p:sp>
        <p:nvSpPr>
          <p:cNvPr id="1170" name="Google Shape;1170;p74"/>
          <p:cNvSpPr txBox="1"/>
          <p:nvPr/>
        </p:nvSpPr>
        <p:spPr>
          <a:xfrm>
            <a:off x="5394960" y="2048256"/>
            <a:ext cx="329184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Lengkapi / ubah data customer &amp; lihat RO-nya</a:t>
            </a:r>
            <a:endParaRPr b="0" i="0" sz="1300" u="none" cap="none" strike="noStrike">
              <a:solidFill>
                <a:schemeClr val="dk1"/>
              </a:solidFill>
              <a:latin typeface="Calibri"/>
              <a:ea typeface="Calibri"/>
              <a:cs typeface="Calibri"/>
              <a:sym typeface="Calibri"/>
            </a:endParaRPr>
          </a:p>
        </p:txBody>
      </p:sp>
      <p:sp>
        <p:nvSpPr>
          <p:cNvPr id="1171" name="Google Shape;1171;p74"/>
          <p:cNvSpPr/>
          <p:nvPr/>
        </p:nvSpPr>
        <p:spPr>
          <a:xfrm>
            <a:off x="4983480" y="2459736"/>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74"/>
          <p:cNvSpPr txBox="1"/>
          <p:nvPr/>
        </p:nvSpPr>
        <p:spPr>
          <a:xfrm>
            <a:off x="4983480" y="245973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173" name="Google Shape;1173;p74"/>
          <p:cNvSpPr txBox="1"/>
          <p:nvPr/>
        </p:nvSpPr>
        <p:spPr>
          <a:xfrm>
            <a:off x="5394960" y="2441448"/>
            <a:ext cx="3291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Master Status Reserve</a:t>
            </a:r>
            <a:endParaRPr b="0" i="0" sz="1500" u="none" cap="none" strike="noStrike">
              <a:solidFill>
                <a:schemeClr val="dk1"/>
              </a:solidFill>
              <a:latin typeface="Calibri"/>
              <a:ea typeface="Calibri"/>
              <a:cs typeface="Calibri"/>
              <a:sym typeface="Calibri"/>
            </a:endParaRPr>
          </a:p>
        </p:txBody>
      </p:sp>
      <p:sp>
        <p:nvSpPr>
          <p:cNvPr id="1174" name="Google Shape;1174;p74"/>
          <p:cNvSpPr txBox="1"/>
          <p:nvPr/>
        </p:nvSpPr>
        <p:spPr>
          <a:xfrm>
            <a:off x="5394960" y="2743200"/>
            <a:ext cx="329184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Daftar status RO &amp; pemetaan ke status unit</a:t>
            </a:r>
            <a:endParaRPr b="0" i="0" sz="1300" u="none" cap="none" strike="noStrike">
              <a:solidFill>
                <a:schemeClr val="dk1"/>
              </a:solidFill>
              <a:latin typeface="Calibri"/>
              <a:ea typeface="Calibri"/>
              <a:cs typeface="Calibri"/>
              <a:sym typeface="Calibri"/>
            </a:endParaRPr>
          </a:p>
        </p:txBody>
      </p:sp>
      <p:sp>
        <p:nvSpPr>
          <p:cNvPr id="1175" name="Google Shape;1175;p74"/>
          <p:cNvSpPr/>
          <p:nvPr/>
        </p:nvSpPr>
        <p:spPr>
          <a:xfrm>
            <a:off x="4983480" y="3154680"/>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74"/>
          <p:cNvSpPr txBox="1"/>
          <p:nvPr/>
        </p:nvSpPr>
        <p:spPr>
          <a:xfrm>
            <a:off x="4983480" y="315468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177" name="Google Shape;1177;p74"/>
          <p:cNvSpPr txBox="1"/>
          <p:nvPr/>
        </p:nvSpPr>
        <p:spPr>
          <a:xfrm>
            <a:off x="5394960" y="3136392"/>
            <a:ext cx="3291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Tanda Terima Sementara</a:t>
            </a:r>
            <a:endParaRPr b="0" i="0" sz="1500" u="none" cap="none" strike="noStrike">
              <a:solidFill>
                <a:schemeClr val="dk1"/>
              </a:solidFill>
              <a:latin typeface="Calibri"/>
              <a:ea typeface="Calibri"/>
              <a:cs typeface="Calibri"/>
              <a:sym typeface="Calibri"/>
            </a:endParaRPr>
          </a:p>
        </p:txBody>
      </p:sp>
      <p:sp>
        <p:nvSpPr>
          <p:cNvPr id="1178" name="Google Shape;1178;p74"/>
          <p:cNvSpPr txBox="1"/>
          <p:nvPr/>
        </p:nvSpPr>
        <p:spPr>
          <a:xfrm>
            <a:off x="5394960" y="3438144"/>
            <a:ext cx="329184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Daftar semua TTS &amp; halaman Pembayaran TTS</a:t>
            </a:r>
            <a:endParaRPr b="0" i="0" sz="1300" u="none" cap="none" strike="noStrike">
              <a:solidFill>
                <a:schemeClr val="dk1"/>
              </a:solidFill>
              <a:latin typeface="Calibri"/>
              <a:ea typeface="Calibri"/>
              <a:cs typeface="Calibri"/>
              <a:sym typeface="Calibri"/>
            </a:endParaRPr>
          </a:p>
        </p:txBody>
      </p:sp>
      <p:sp>
        <p:nvSpPr>
          <p:cNvPr id="1179" name="Google Shape;1179;p74"/>
          <p:cNvSpPr/>
          <p:nvPr/>
        </p:nvSpPr>
        <p:spPr>
          <a:xfrm>
            <a:off x="4983480" y="3849624"/>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74"/>
          <p:cNvSpPr txBox="1"/>
          <p:nvPr/>
        </p:nvSpPr>
        <p:spPr>
          <a:xfrm>
            <a:off x="4983480" y="38496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1181" name="Google Shape;1181;p74"/>
          <p:cNvSpPr txBox="1"/>
          <p:nvPr/>
        </p:nvSpPr>
        <p:spPr>
          <a:xfrm>
            <a:off x="5394960" y="3831336"/>
            <a:ext cx="3291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Map Siteplan</a:t>
            </a:r>
            <a:endParaRPr b="0" i="0" sz="1500" u="none" cap="none" strike="noStrike">
              <a:solidFill>
                <a:schemeClr val="dk1"/>
              </a:solidFill>
              <a:latin typeface="Calibri"/>
              <a:ea typeface="Calibri"/>
              <a:cs typeface="Calibri"/>
              <a:sym typeface="Calibri"/>
            </a:endParaRPr>
          </a:p>
        </p:txBody>
      </p:sp>
      <p:sp>
        <p:nvSpPr>
          <p:cNvPr id="1182" name="Google Shape;1182;p74"/>
          <p:cNvSpPr txBox="1"/>
          <p:nvPr/>
        </p:nvSpPr>
        <p:spPr>
          <a:xfrm>
            <a:off x="5394960" y="4133088"/>
            <a:ext cx="329184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Peta unit per project: Available, Hold, SP</a:t>
            </a:r>
            <a:endParaRPr b="0" i="0" sz="1300" u="none" cap="none" strike="noStrike">
              <a:solidFill>
                <a:schemeClr val="dk1"/>
              </a:solidFill>
              <a:latin typeface="Calibri"/>
              <a:ea typeface="Calibri"/>
              <a:cs typeface="Calibri"/>
              <a:sym typeface="Calibri"/>
            </a:endParaRPr>
          </a:p>
        </p:txBody>
      </p:sp>
      <p:sp>
        <p:nvSpPr>
          <p:cNvPr id="1183" name="Google Shape;1183;p74"/>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75"/>
          <p:cNvSpPr txBox="1"/>
          <p:nvPr>
            <p:ph type="title"/>
          </p:nvPr>
        </p:nvSpPr>
        <p:spPr>
          <a:xfrm>
            <a:off x="548640" y="1828800"/>
            <a:ext cx="804672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 sz="3600">
                <a:solidFill>
                  <a:schemeClr val="lt1"/>
                </a:solidFill>
              </a:rPr>
              <a:t>Verifikasi Sales Admin</a:t>
            </a:r>
            <a:endParaRPr sz="3600"/>
          </a:p>
        </p:txBody>
      </p:sp>
      <p:sp>
        <p:nvSpPr>
          <p:cNvPr id="1190" name="Google Shape;1190;p75"/>
          <p:cNvSpPr txBox="1"/>
          <p:nvPr>
            <p:ph idx="1" type="body"/>
          </p:nvPr>
        </p:nvSpPr>
        <p:spPr>
          <a:xfrm>
            <a:off x="548640" y="2834640"/>
            <a:ext cx="8046720" cy="7315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rPr lang="en" sz="1600">
                <a:solidFill>
                  <a:schemeClr val="lt2"/>
                </a:solidFill>
              </a:rPr>
              <a:t>Menu Reserve Order › tab Sales Admin</a:t>
            </a:r>
            <a:endParaRPr sz="1600"/>
          </a:p>
        </p:txBody>
      </p:sp>
      <p:sp>
        <p:nvSpPr>
          <p:cNvPr id="1191" name="Google Shape;1191;p75"/>
          <p:cNvSpPr txBox="1"/>
          <p:nvPr>
            <p:ph idx="4294967295"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76"/>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Tab Sales Admin &amp; Approved Admin</a:t>
            </a:r>
            <a:endParaRPr sz="2800"/>
          </a:p>
        </p:txBody>
      </p:sp>
      <p:sp>
        <p:nvSpPr>
          <p:cNvPr id="1198" name="Google Shape;1198;p76"/>
          <p:cNvSpPr/>
          <p:nvPr/>
        </p:nvSpPr>
        <p:spPr>
          <a:xfrm>
            <a:off x="402336" y="996696"/>
            <a:ext cx="5047488" cy="2976652"/>
          </a:xfrm>
          <a:prstGeom prst="roundRect">
            <a:avLst>
              <a:gd fmla="val 2458"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ab Sales Admin" id="1199" name="Google Shape;1199;p76"/>
          <p:cNvPicPr preferRelativeResize="0"/>
          <p:nvPr/>
        </p:nvPicPr>
        <p:blipFill rotWithShape="1">
          <a:blip r:embed="rId3">
            <a:alphaModFix/>
          </a:blip>
          <a:srcRect b="0" l="0" r="0" t="0"/>
          <a:stretch/>
        </p:blipFill>
        <p:spPr>
          <a:xfrm>
            <a:off x="457200" y="1051560"/>
            <a:ext cx="4937760" cy="2866924"/>
          </a:xfrm>
          <a:prstGeom prst="rect">
            <a:avLst/>
          </a:prstGeom>
          <a:noFill/>
          <a:ln>
            <a:noFill/>
          </a:ln>
        </p:spPr>
      </p:pic>
      <p:sp>
        <p:nvSpPr>
          <p:cNvPr id="1200" name="Google Shape;1200;p76"/>
          <p:cNvSpPr/>
          <p:nvPr/>
        </p:nvSpPr>
        <p:spPr>
          <a:xfrm>
            <a:off x="5669280" y="1097280"/>
            <a:ext cx="1371600" cy="329184"/>
          </a:xfrm>
          <a:prstGeom prst="roundRect">
            <a:avLst>
              <a:gd fmla="val 27778" name="adj"/>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76"/>
          <p:cNvSpPr txBox="1"/>
          <p:nvPr/>
        </p:nvSpPr>
        <p:spPr>
          <a:xfrm>
            <a:off x="5669280" y="1097280"/>
            <a:ext cx="13716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000"/>
              <a:buFont typeface="Calibri"/>
              <a:buNone/>
            </a:pPr>
            <a:r>
              <a:rPr b="1" i="0" lang="en" sz="1000" u="none" cap="none" strike="noStrike">
                <a:solidFill>
                  <a:srgbClr val="6B7280"/>
                </a:solidFill>
                <a:latin typeface="Calibri"/>
                <a:ea typeface="Calibri"/>
                <a:cs typeface="Calibri"/>
                <a:sym typeface="Calibri"/>
              </a:rPr>
              <a:t>SA ⏱</a:t>
            </a:r>
            <a:endParaRPr b="0" i="0" sz="1000" u="none" cap="none" strike="noStrike">
              <a:solidFill>
                <a:schemeClr val="dk1"/>
              </a:solidFill>
              <a:latin typeface="Calibri"/>
              <a:ea typeface="Calibri"/>
              <a:cs typeface="Calibri"/>
              <a:sym typeface="Calibri"/>
            </a:endParaRPr>
          </a:p>
        </p:txBody>
      </p:sp>
      <p:sp>
        <p:nvSpPr>
          <p:cNvPr id="1202" name="Google Shape;1202;p76"/>
          <p:cNvSpPr txBox="1"/>
          <p:nvPr/>
        </p:nvSpPr>
        <p:spPr>
          <a:xfrm>
            <a:off x="7178040" y="1051560"/>
            <a:ext cx="15087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Menunggu verifikasi Sales Admin</a:t>
            </a:r>
            <a:endParaRPr b="0" i="0" sz="1200" u="none" cap="none" strike="noStrike">
              <a:solidFill>
                <a:schemeClr val="dk1"/>
              </a:solidFill>
              <a:latin typeface="Calibri"/>
              <a:ea typeface="Calibri"/>
              <a:cs typeface="Calibri"/>
              <a:sym typeface="Calibri"/>
            </a:endParaRPr>
          </a:p>
        </p:txBody>
      </p:sp>
      <p:sp>
        <p:nvSpPr>
          <p:cNvPr id="1203" name="Google Shape;1203;p76"/>
          <p:cNvSpPr/>
          <p:nvPr/>
        </p:nvSpPr>
        <p:spPr>
          <a:xfrm>
            <a:off x="5669280" y="1874520"/>
            <a:ext cx="1371600" cy="329184"/>
          </a:xfrm>
          <a:prstGeom prst="roundRect">
            <a:avLst>
              <a:gd fmla="val 27778" name="adj"/>
            </a:avLst>
          </a:prstGeom>
          <a:solidFill>
            <a:srgbClr val="DCFC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76"/>
          <p:cNvSpPr txBox="1"/>
          <p:nvPr/>
        </p:nvSpPr>
        <p:spPr>
          <a:xfrm>
            <a:off x="5669280" y="1874520"/>
            <a:ext cx="13716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803D"/>
              </a:buClr>
              <a:buSzPts val="1000"/>
              <a:buFont typeface="Calibri"/>
              <a:buNone/>
            </a:pPr>
            <a:r>
              <a:rPr b="1" i="0" lang="en" sz="1000" u="none" cap="none" strike="noStrike">
                <a:solidFill>
                  <a:srgbClr val="15803D"/>
                </a:solidFill>
                <a:latin typeface="Calibri"/>
                <a:ea typeface="Calibri"/>
                <a:cs typeface="Calibri"/>
                <a:sym typeface="Calibri"/>
              </a:rPr>
              <a:t>SA ✓</a:t>
            </a:r>
            <a:endParaRPr b="0" i="0" sz="1000" u="none" cap="none" strike="noStrike">
              <a:solidFill>
                <a:schemeClr val="dk1"/>
              </a:solidFill>
              <a:latin typeface="Calibri"/>
              <a:ea typeface="Calibri"/>
              <a:cs typeface="Calibri"/>
              <a:sym typeface="Calibri"/>
            </a:endParaRPr>
          </a:p>
        </p:txBody>
      </p:sp>
      <p:sp>
        <p:nvSpPr>
          <p:cNvPr id="1205" name="Google Shape;1205;p76"/>
          <p:cNvSpPr txBox="1"/>
          <p:nvPr/>
        </p:nvSpPr>
        <p:spPr>
          <a:xfrm>
            <a:off x="7178040" y="1828800"/>
            <a:ext cx="15087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Sudah disetujui (pindah ke tab Approved Admin)</a:t>
            </a:r>
            <a:endParaRPr b="0" i="0" sz="1200" u="none" cap="none" strike="noStrike">
              <a:solidFill>
                <a:schemeClr val="dk1"/>
              </a:solidFill>
              <a:latin typeface="Calibri"/>
              <a:ea typeface="Calibri"/>
              <a:cs typeface="Calibri"/>
              <a:sym typeface="Calibri"/>
            </a:endParaRPr>
          </a:p>
        </p:txBody>
      </p:sp>
      <p:sp>
        <p:nvSpPr>
          <p:cNvPr id="1206" name="Google Shape;1206;p76"/>
          <p:cNvSpPr/>
          <p:nvPr/>
        </p:nvSpPr>
        <p:spPr>
          <a:xfrm>
            <a:off x="5669280" y="2651760"/>
            <a:ext cx="1371600" cy="329184"/>
          </a:xfrm>
          <a:prstGeom prst="roundRect">
            <a:avLst>
              <a:gd fmla="val 27778" name="adj"/>
            </a:avLst>
          </a:prstGeom>
          <a:solidFill>
            <a:srgbClr val="F5B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76"/>
          <p:cNvSpPr txBox="1"/>
          <p:nvPr/>
        </p:nvSpPr>
        <p:spPr>
          <a:xfrm>
            <a:off x="5669280" y="2651760"/>
            <a:ext cx="13716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000"/>
              <a:buFont typeface="Calibri"/>
              <a:buNone/>
            </a:pPr>
            <a:r>
              <a:rPr b="1" i="0" lang="en" sz="1000" u="none" cap="none" strike="noStrike">
                <a:solidFill>
                  <a:srgbClr val="1F2937"/>
                </a:solidFill>
                <a:latin typeface="Calibri"/>
                <a:ea typeface="Calibri"/>
                <a:cs typeface="Calibri"/>
                <a:sym typeface="Calibri"/>
              </a:rPr>
              <a:t>Pembayaran baru · RB</a:t>
            </a:r>
            <a:endParaRPr b="0" i="0" sz="1000" u="none" cap="none" strike="noStrike">
              <a:solidFill>
                <a:schemeClr val="dk1"/>
              </a:solidFill>
              <a:latin typeface="Calibri"/>
              <a:ea typeface="Calibri"/>
              <a:cs typeface="Calibri"/>
              <a:sym typeface="Calibri"/>
            </a:endParaRPr>
          </a:p>
        </p:txBody>
      </p:sp>
      <p:sp>
        <p:nvSpPr>
          <p:cNvPr id="1208" name="Google Shape;1208;p76"/>
          <p:cNvSpPr txBox="1"/>
          <p:nvPr/>
        </p:nvSpPr>
        <p:spPr>
          <a:xfrm>
            <a:off x="7178040" y="2606040"/>
            <a:ext cx="15087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Ada top up baru sejak terakhir dilihat (baris kuning)</a:t>
            </a:r>
            <a:endParaRPr b="0" i="0" sz="1200" u="none" cap="none" strike="noStrike">
              <a:solidFill>
                <a:schemeClr val="dk1"/>
              </a:solidFill>
              <a:latin typeface="Calibri"/>
              <a:ea typeface="Calibri"/>
              <a:cs typeface="Calibri"/>
              <a:sym typeface="Calibri"/>
            </a:endParaRPr>
          </a:p>
        </p:txBody>
      </p:sp>
      <p:sp>
        <p:nvSpPr>
          <p:cNvPr id="1209" name="Google Shape;1209;p76"/>
          <p:cNvSpPr txBox="1"/>
          <p:nvPr/>
        </p:nvSpPr>
        <p:spPr>
          <a:xfrm>
            <a:off x="5669280" y="3474720"/>
            <a:ext cx="30175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 sz="1200" u="none" cap="none" strike="noStrike">
                <a:solidFill>
                  <a:schemeClr val="accent5"/>
                </a:solidFill>
                <a:latin typeface="Calibri"/>
                <a:ea typeface="Calibri"/>
                <a:cs typeface="Calibri"/>
                <a:sym typeface="Calibri"/>
              </a:rPr>
              <a:t>Sama seperti layar Kasir: cari, urutkan, Filter, refresh, dan klik baris untuk membuka halaman dokumen. Kolom ke-5 bernama Approval Admin.</a:t>
            </a:r>
            <a:endParaRPr b="0" i="0" sz="1200" u="none" cap="none" strike="noStrike">
              <a:solidFill>
                <a:schemeClr val="dk1"/>
              </a:solidFill>
              <a:latin typeface="Calibri"/>
              <a:ea typeface="Calibri"/>
              <a:cs typeface="Calibri"/>
              <a:sym typeface="Calibri"/>
            </a:endParaRPr>
          </a:p>
        </p:txBody>
      </p:sp>
      <p:sp>
        <p:nvSpPr>
          <p:cNvPr id="1210" name="Google Shape;1210;p76"/>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77"/>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Halaman dokumen RO (tampilan Admin)</a:t>
            </a:r>
            <a:endParaRPr sz="2800"/>
          </a:p>
        </p:txBody>
      </p:sp>
      <p:sp>
        <p:nvSpPr>
          <p:cNvPr id="1217" name="Google Shape;1217;p77"/>
          <p:cNvSpPr/>
          <p:nvPr/>
        </p:nvSpPr>
        <p:spPr>
          <a:xfrm>
            <a:off x="402336" y="996696"/>
            <a:ext cx="5230368" cy="3082834"/>
          </a:xfrm>
          <a:prstGeom prst="roundRect">
            <a:avLst>
              <a:gd fmla="val 2373"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eader dokumen RO tampilan admin" id="1218" name="Google Shape;1218;p77"/>
          <p:cNvPicPr preferRelativeResize="0"/>
          <p:nvPr/>
        </p:nvPicPr>
        <p:blipFill rotWithShape="1">
          <a:blip r:embed="rId3">
            <a:alphaModFix/>
          </a:blip>
          <a:srcRect b="0" l="0" r="0" t="0"/>
          <a:stretch/>
        </p:blipFill>
        <p:spPr>
          <a:xfrm>
            <a:off x="457200" y="1051560"/>
            <a:ext cx="5120640" cy="2973106"/>
          </a:xfrm>
          <a:prstGeom prst="rect">
            <a:avLst/>
          </a:prstGeom>
          <a:noFill/>
          <a:ln>
            <a:noFill/>
          </a:ln>
        </p:spPr>
      </p:pic>
      <p:sp>
        <p:nvSpPr>
          <p:cNvPr id="1219" name="Google Shape;1219;p77"/>
          <p:cNvSpPr/>
          <p:nvPr/>
        </p:nvSpPr>
        <p:spPr>
          <a:xfrm>
            <a:off x="2139696" y="1636776"/>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77"/>
          <p:cNvSpPr txBox="1"/>
          <p:nvPr/>
        </p:nvSpPr>
        <p:spPr>
          <a:xfrm>
            <a:off x="2139696" y="163677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221" name="Google Shape;1221;p77"/>
          <p:cNvSpPr/>
          <p:nvPr/>
        </p:nvSpPr>
        <p:spPr>
          <a:xfrm>
            <a:off x="2139696" y="245189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77"/>
          <p:cNvSpPr txBox="1"/>
          <p:nvPr/>
        </p:nvSpPr>
        <p:spPr>
          <a:xfrm>
            <a:off x="2139696" y="245189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223" name="Google Shape;1223;p77"/>
          <p:cNvSpPr/>
          <p:nvPr/>
        </p:nvSpPr>
        <p:spPr>
          <a:xfrm>
            <a:off x="2139696" y="3026664"/>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77"/>
          <p:cNvSpPr txBox="1"/>
          <p:nvPr/>
        </p:nvSpPr>
        <p:spPr>
          <a:xfrm>
            <a:off x="2139696" y="302666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225" name="Google Shape;1225;p77"/>
          <p:cNvSpPr/>
          <p:nvPr/>
        </p:nvSpPr>
        <p:spPr>
          <a:xfrm>
            <a:off x="2139696" y="3402874"/>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77"/>
          <p:cNvSpPr txBox="1"/>
          <p:nvPr/>
        </p:nvSpPr>
        <p:spPr>
          <a:xfrm>
            <a:off x="2139696" y="340287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227" name="Google Shape;1227;p77"/>
          <p:cNvSpPr/>
          <p:nvPr/>
        </p:nvSpPr>
        <p:spPr>
          <a:xfrm>
            <a:off x="3801291" y="1490472"/>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77"/>
          <p:cNvSpPr txBox="1"/>
          <p:nvPr/>
        </p:nvSpPr>
        <p:spPr>
          <a:xfrm>
            <a:off x="3801291" y="1490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1229" name="Google Shape;1229;p77"/>
          <p:cNvSpPr/>
          <p:nvPr/>
        </p:nvSpPr>
        <p:spPr>
          <a:xfrm>
            <a:off x="5897880" y="10698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77"/>
          <p:cNvSpPr txBox="1"/>
          <p:nvPr/>
        </p:nvSpPr>
        <p:spPr>
          <a:xfrm>
            <a:off x="5897880"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231" name="Google Shape;1231;p77"/>
          <p:cNvSpPr txBox="1"/>
          <p:nvPr/>
        </p:nvSpPr>
        <p:spPr>
          <a:xfrm>
            <a:off x="6309360" y="105156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Unit</a:t>
            </a:r>
            <a:endParaRPr b="0" i="0" sz="1500" u="none" cap="none" strike="noStrike">
              <a:solidFill>
                <a:schemeClr val="dk1"/>
              </a:solidFill>
              <a:latin typeface="Calibri"/>
              <a:ea typeface="Calibri"/>
              <a:cs typeface="Calibri"/>
              <a:sym typeface="Calibri"/>
            </a:endParaRPr>
          </a:p>
        </p:txBody>
      </p:sp>
      <p:sp>
        <p:nvSpPr>
          <p:cNvPr id="1232" name="Google Shape;1232;p77"/>
          <p:cNvSpPr txBox="1"/>
          <p:nvPr/>
        </p:nvSpPr>
        <p:spPr>
          <a:xfrm>
            <a:off x="6309360" y="1353312"/>
            <a:ext cx="2377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Kavling, cluster, tahap &amp; project</a:t>
            </a:r>
            <a:endParaRPr b="0" i="0" sz="1300" u="none" cap="none" strike="noStrike">
              <a:solidFill>
                <a:schemeClr val="dk1"/>
              </a:solidFill>
              <a:latin typeface="Calibri"/>
              <a:ea typeface="Calibri"/>
              <a:cs typeface="Calibri"/>
              <a:sym typeface="Calibri"/>
            </a:endParaRPr>
          </a:p>
        </p:txBody>
      </p:sp>
      <p:sp>
        <p:nvSpPr>
          <p:cNvPr id="1233" name="Google Shape;1233;p77"/>
          <p:cNvSpPr/>
          <p:nvPr/>
        </p:nvSpPr>
        <p:spPr>
          <a:xfrm>
            <a:off x="5897880" y="1728216"/>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77"/>
          <p:cNvSpPr txBox="1"/>
          <p:nvPr/>
        </p:nvSpPr>
        <p:spPr>
          <a:xfrm>
            <a:off x="5897880" y="172821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235" name="Google Shape;1235;p77"/>
          <p:cNvSpPr txBox="1"/>
          <p:nvPr/>
        </p:nvSpPr>
        <p:spPr>
          <a:xfrm>
            <a:off x="6309360" y="1709928"/>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Ringkasan</a:t>
            </a:r>
            <a:endParaRPr b="0" i="0" sz="1500" u="none" cap="none" strike="noStrike">
              <a:solidFill>
                <a:schemeClr val="dk1"/>
              </a:solidFill>
              <a:latin typeface="Calibri"/>
              <a:ea typeface="Calibri"/>
              <a:cs typeface="Calibri"/>
              <a:sym typeface="Calibri"/>
            </a:endParaRPr>
          </a:p>
        </p:txBody>
      </p:sp>
      <p:sp>
        <p:nvSpPr>
          <p:cNvPr id="1236" name="Google Shape;1236;p77"/>
          <p:cNvSpPr txBox="1"/>
          <p:nvPr/>
        </p:nvSpPr>
        <p:spPr>
          <a:xfrm>
            <a:off x="6309360" y="2011680"/>
            <a:ext cx="2377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Status, cara bayar, total, sales</a:t>
            </a:r>
            <a:endParaRPr b="0" i="0" sz="1300" u="none" cap="none" strike="noStrike">
              <a:solidFill>
                <a:schemeClr val="dk1"/>
              </a:solidFill>
              <a:latin typeface="Calibri"/>
              <a:ea typeface="Calibri"/>
              <a:cs typeface="Calibri"/>
              <a:sym typeface="Calibri"/>
            </a:endParaRPr>
          </a:p>
        </p:txBody>
      </p:sp>
      <p:sp>
        <p:nvSpPr>
          <p:cNvPr id="1237" name="Google Shape;1237;p77"/>
          <p:cNvSpPr/>
          <p:nvPr/>
        </p:nvSpPr>
        <p:spPr>
          <a:xfrm>
            <a:off x="5897880" y="2386584"/>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77"/>
          <p:cNvSpPr txBox="1"/>
          <p:nvPr/>
        </p:nvSpPr>
        <p:spPr>
          <a:xfrm>
            <a:off x="5897880" y="238658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239" name="Google Shape;1239;p77"/>
          <p:cNvSpPr txBox="1"/>
          <p:nvPr/>
        </p:nvSpPr>
        <p:spPr>
          <a:xfrm>
            <a:off x="6309360" y="2368296"/>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Google Sheet (DSR)</a:t>
            </a:r>
            <a:endParaRPr b="0" i="0" sz="1500" u="none" cap="none" strike="noStrike">
              <a:solidFill>
                <a:schemeClr val="dk1"/>
              </a:solidFill>
              <a:latin typeface="Calibri"/>
              <a:ea typeface="Calibri"/>
              <a:cs typeface="Calibri"/>
              <a:sym typeface="Calibri"/>
            </a:endParaRPr>
          </a:p>
        </p:txBody>
      </p:sp>
      <p:sp>
        <p:nvSpPr>
          <p:cNvPr id="1240" name="Google Shape;1240;p77"/>
          <p:cNvSpPr txBox="1"/>
          <p:nvPr/>
        </p:nvSpPr>
        <p:spPr>
          <a:xfrm>
            <a:off x="6309360" y="2670048"/>
            <a:ext cx="2377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Status sync, tab &amp; baris, Buka sheet</a:t>
            </a:r>
            <a:endParaRPr b="0" i="0" sz="1300" u="none" cap="none" strike="noStrike">
              <a:solidFill>
                <a:schemeClr val="dk1"/>
              </a:solidFill>
              <a:latin typeface="Calibri"/>
              <a:ea typeface="Calibri"/>
              <a:cs typeface="Calibri"/>
              <a:sym typeface="Calibri"/>
            </a:endParaRPr>
          </a:p>
        </p:txBody>
      </p:sp>
      <p:sp>
        <p:nvSpPr>
          <p:cNvPr id="1241" name="Google Shape;1241;p77"/>
          <p:cNvSpPr/>
          <p:nvPr/>
        </p:nvSpPr>
        <p:spPr>
          <a:xfrm>
            <a:off x="5897880" y="3044952"/>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77"/>
          <p:cNvSpPr txBox="1"/>
          <p:nvPr/>
        </p:nvSpPr>
        <p:spPr>
          <a:xfrm>
            <a:off x="5897880" y="304495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243" name="Google Shape;1243;p77"/>
          <p:cNvSpPr txBox="1"/>
          <p:nvPr/>
        </p:nvSpPr>
        <p:spPr>
          <a:xfrm>
            <a:off x="6309360" y="3026664"/>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Pembayaran baru</a:t>
            </a:r>
            <a:endParaRPr b="0" i="0" sz="1500" u="none" cap="none" strike="noStrike">
              <a:solidFill>
                <a:schemeClr val="dk1"/>
              </a:solidFill>
              <a:latin typeface="Calibri"/>
              <a:ea typeface="Calibri"/>
              <a:cs typeface="Calibri"/>
              <a:sym typeface="Calibri"/>
            </a:endParaRPr>
          </a:p>
        </p:txBody>
      </p:sp>
      <p:sp>
        <p:nvSpPr>
          <p:cNvPr id="1244" name="Google Shape;1244;p77"/>
          <p:cNvSpPr txBox="1"/>
          <p:nvPr/>
        </p:nvSpPr>
        <p:spPr>
          <a:xfrm>
            <a:off x="6309360" y="3328416"/>
            <a:ext cx="2377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Top up yang sudah disetujui Kasir</a:t>
            </a:r>
            <a:endParaRPr b="0" i="0" sz="1300" u="none" cap="none" strike="noStrike">
              <a:solidFill>
                <a:schemeClr val="dk1"/>
              </a:solidFill>
              <a:latin typeface="Calibri"/>
              <a:ea typeface="Calibri"/>
              <a:cs typeface="Calibri"/>
              <a:sym typeface="Calibri"/>
            </a:endParaRPr>
          </a:p>
        </p:txBody>
      </p:sp>
      <p:sp>
        <p:nvSpPr>
          <p:cNvPr id="1245" name="Google Shape;1245;p77"/>
          <p:cNvSpPr/>
          <p:nvPr/>
        </p:nvSpPr>
        <p:spPr>
          <a:xfrm>
            <a:off x="5897880" y="3703320"/>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77"/>
          <p:cNvSpPr txBox="1"/>
          <p:nvPr/>
        </p:nvSpPr>
        <p:spPr>
          <a:xfrm>
            <a:off x="5897880" y="37033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1247" name="Google Shape;1247;p77"/>
          <p:cNvSpPr txBox="1"/>
          <p:nvPr/>
        </p:nvSpPr>
        <p:spPr>
          <a:xfrm>
            <a:off x="6309360" y="3685032"/>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Panel kanan</a:t>
            </a:r>
            <a:endParaRPr b="0" i="0" sz="1500" u="none" cap="none" strike="noStrike">
              <a:solidFill>
                <a:schemeClr val="dk1"/>
              </a:solidFill>
              <a:latin typeface="Calibri"/>
              <a:ea typeface="Calibri"/>
              <a:cs typeface="Calibri"/>
              <a:sym typeface="Calibri"/>
            </a:endParaRPr>
          </a:p>
        </p:txBody>
      </p:sp>
      <p:sp>
        <p:nvSpPr>
          <p:cNvPr id="1248" name="Google Shape;1248;p77"/>
          <p:cNvSpPr txBox="1"/>
          <p:nvPr/>
        </p:nvSpPr>
        <p:spPr>
          <a:xfrm>
            <a:off x="6309360" y="3986784"/>
            <a:ext cx="2377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Verification, Timeline, dll.</a:t>
            </a:r>
            <a:endParaRPr b="0" i="0" sz="1300" u="none" cap="none" strike="noStrike">
              <a:solidFill>
                <a:schemeClr val="dk1"/>
              </a:solidFill>
              <a:latin typeface="Calibri"/>
              <a:ea typeface="Calibri"/>
              <a:cs typeface="Calibri"/>
              <a:sym typeface="Calibri"/>
            </a:endParaRPr>
          </a:p>
        </p:txBody>
      </p:sp>
      <p:sp>
        <p:nvSpPr>
          <p:cNvPr id="1249" name="Google Shape;1249;p77"/>
          <p:cNvSpPr txBox="1"/>
          <p:nvPr/>
        </p:nvSpPr>
        <p:spPr>
          <a:xfrm>
            <a:off x="457200" y="4160520"/>
            <a:ext cx="82296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 sz="1200" u="none" cap="none" strike="noStrike">
                <a:solidFill>
                  <a:schemeClr val="accent5"/>
                </a:solidFill>
                <a:latin typeface="Calibri"/>
                <a:ea typeface="Calibri"/>
                <a:cs typeface="Calibri"/>
                <a:sym typeface="Calibri"/>
              </a:rPr>
              <a:t>Kolom kiri bisa di-scroll: di bawah banner ada tombol Approve / Reject, lalu Data Customer.</a:t>
            </a:r>
            <a:endParaRPr b="0" i="0" sz="1200" u="none" cap="none" strike="noStrike">
              <a:solidFill>
                <a:schemeClr val="dk1"/>
              </a:solidFill>
              <a:latin typeface="Calibri"/>
              <a:ea typeface="Calibri"/>
              <a:cs typeface="Calibri"/>
              <a:sym typeface="Calibri"/>
            </a:endParaRPr>
          </a:p>
        </p:txBody>
      </p:sp>
      <p:sp>
        <p:nvSpPr>
          <p:cNvPr id="1250" name="Google Shape;1250;p77"/>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78"/>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Data Customer: cek kelengkapan</a:t>
            </a:r>
            <a:endParaRPr sz="2800"/>
          </a:p>
        </p:txBody>
      </p:sp>
      <p:sp>
        <p:nvSpPr>
          <p:cNvPr id="1257" name="Google Shape;1257;p78"/>
          <p:cNvSpPr/>
          <p:nvPr/>
        </p:nvSpPr>
        <p:spPr>
          <a:xfrm>
            <a:off x="402336" y="996696"/>
            <a:ext cx="4681728" cy="2764287"/>
          </a:xfrm>
          <a:prstGeom prst="roundRect">
            <a:avLst>
              <a:gd fmla="val 2646"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agian Data Customer" id="1258" name="Google Shape;1258;p78"/>
          <p:cNvPicPr preferRelativeResize="0"/>
          <p:nvPr/>
        </p:nvPicPr>
        <p:blipFill rotWithShape="1">
          <a:blip r:embed="rId3">
            <a:alphaModFix/>
          </a:blip>
          <a:srcRect b="0" l="0" r="0" t="0"/>
          <a:stretch/>
        </p:blipFill>
        <p:spPr>
          <a:xfrm>
            <a:off x="457200" y="1051560"/>
            <a:ext cx="4572000" cy="2654559"/>
          </a:xfrm>
          <a:prstGeom prst="rect">
            <a:avLst/>
          </a:prstGeom>
          <a:noFill/>
          <a:ln>
            <a:noFill/>
          </a:ln>
        </p:spPr>
      </p:pic>
      <p:sp>
        <p:nvSpPr>
          <p:cNvPr id="1259" name="Google Shape;1259;p78"/>
          <p:cNvSpPr txBox="1"/>
          <p:nvPr/>
        </p:nvSpPr>
        <p:spPr>
          <a:xfrm>
            <a:off x="5303520" y="1051560"/>
            <a:ext cx="3383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 sz="1300" u="none" cap="none" strike="noStrike">
                <a:solidFill>
                  <a:schemeClr val="dk2"/>
                </a:solidFill>
                <a:latin typeface="Calibri"/>
                <a:ea typeface="Calibri"/>
                <a:cs typeface="Calibri"/>
                <a:sym typeface="Calibri"/>
              </a:rPr>
              <a:t>Angka di kanan tiap bagian = field terisi / total field.</a:t>
            </a:r>
            <a:endParaRPr b="0" i="0" sz="1300" u="none" cap="none" strike="noStrike">
              <a:solidFill>
                <a:schemeClr val="dk1"/>
              </a:solidFill>
              <a:latin typeface="Calibri"/>
              <a:ea typeface="Calibri"/>
              <a:cs typeface="Calibri"/>
              <a:sym typeface="Calibri"/>
            </a:endParaRPr>
          </a:p>
        </p:txBody>
      </p:sp>
      <p:sp>
        <p:nvSpPr>
          <p:cNvPr id="1260" name="Google Shape;1260;p78"/>
          <p:cNvSpPr/>
          <p:nvPr/>
        </p:nvSpPr>
        <p:spPr>
          <a:xfrm>
            <a:off x="5303520" y="1600200"/>
            <a:ext cx="1627632" cy="365760"/>
          </a:xfrm>
          <a:prstGeom prst="roundRect">
            <a:avLst>
              <a:gd fmla="val 2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78"/>
          <p:cNvSpPr txBox="1"/>
          <p:nvPr/>
        </p:nvSpPr>
        <p:spPr>
          <a:xfrm>
            <a:off x="5303520" y="1600200"/>
            <a:ext cx="16276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Data Pembeli</a:t>
            </a:r>
            <a:endParaRPr b="0" i="0" sz="1100" u="none" cap="none" strike="noStrike">
              <a:solidFill>
                <a:schemeClr val="dk1"/>
              </a:solidFill>
              <a:latin typeface="Calibri"/>
              <a:ea typeface="Calibri"/>
              <a:cs typeface="Calibri"/>
              <a:sym typeface="Calibri"/>
            </a:endParaRPr>
          </a:p>
        </p:txBody>
      </p:sp>
      <p:sp>
        <p:nvSpPr>
          <p:cNvPr id="1262" name="Google Shape;1262;p78"/>
          <p:cNvSpPr/>
          <p:nvPr/>
        </p:nvSpPr>
        <p:spPr>
          <a:xfrm>
            <a:off x="7022592" y="1600200"/>
            <a:ext cx="1627632" cy="365760"/>
          </a:xfrm>
          <a:prstGeom prst="roundRect">
            <a:avLst>
              <a:gd fmla="val 2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78"/>
          <p:cNvSpPr txBox="1"/>
          <p:nvPr/>
        </p:nvSpPr>
        <p:spPr>
          <a:xfrm>
            <a:off x="7022592" y="1600200"/>
            <a:ext cx="16276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Pasangan</a:t>
            </a:r>
            <a:endParaRPr b="0" i="0" sz="1100" u="none" cap="none" strike="noStrike">
              <a:solidFill>
                <a:schemeClr val="dk1"/>
              </a:solidFill>
              <a:latin typeface="Calibri"/>
              <a:ea typeface="Calibri"/>
              <a:cs typeface="Calibri"/>
              <a:sym typeface="Calibri"/>
            </a:endParaRPr>
          </a:p>
        </p:txBody>
      </p:sp>
      <p:sp>
        <p:nvSpPr>
          <p:cNvPr id="1264" name="Google Shape;1264;p78"/>
          <p:cNvSpPr/>
          <p:nvPr/>
        </p:nvSpPr>
        <p:spPr>
          <a:xfrm>
            <a:off x="5303520" y="2057400"/>
            <a:ext cx="1627632" cy="365760"/>
          </a:xfrm>
          <a:prstGeom prst="roundRect">
            <a:avLst>
              <a:gd fmla="val 2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78"/>
          <p:cNvSpPr txBox="1"/>
          <p:nvPr/>
        </p:nvSpPr>
        <p:spPr>
          <a:xfrm>
            <a:off x="5303520" y="2057400"/>
            <a:ext cx="16276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Data Anak</a:t>
            </a:r>
            <a:endParaRPr b="0" i="0" sz="1100" u="none" cap="none" strike="noStrike">
              <a:solidFill>
                <a:schemeClr val="dk1"/>
              </a:solidFill>
              <a:latin typeface="Calibri"/>
              <a:ea typeface="Calibri"/>
              <a:cs typeface="Calibri"/>
              <a:sym typeface="Calibri"/>
            </a:endParaRPr>
          </a:p>
        </p:txBody>
      </p:sp>
      <p:sp>
        <p:nvSpPr>
          <p:cNvPr id="1266" name="Google Shape;1266;p78"/>
          <p:cNvSpPr/>
          <p:nvPr/>
        </p:nvSpPr>
        <p:spPr>
          <a:xfrm>
            <a:off x="7022592" y="2057400"/>
            <a:ext cx="1627632" cy="365760"/>
          </a:xfrm>
          <a:prstGeom prst="roundRect">
            <a:avLst>
              <a:gd fmla="val 2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78"/>
          <p:cNvSpPr txBox="1"/>
          <p:nvPr/>
        </p:nvSpPr>
        <p:spPr>
          <a:xfrm>
            <a:off x="7022592" y="2057400"/>
            <a:ext cx="16276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Kontak Darurat</a:t>
            </a:r>
            <a:endParaRPr b="0" i="0" sz="1100" u="none" cap="none" strike="noStrike">
              <a:solidFill>
                <a:schemeClr val="dk1"/>
              </a:solidFill>
              <a:latin typeface="Calibri"/>
              <a:ea typeface="Calibri"/>
              <a:cs typeface="Calibri"/>
              <a:sym typeface="Calibri"/>
            </a:endParaRPr>
          </a:p>
        </p:txBody>
      </p:sp>
      <p:sp>
        <p:nvSpPr>
          <p:cNvPr id="1268" name="Google Shape;1268;p78"/>
          <p:cNvSpPr/>
          <p:nvPr/>
        </p:nvSpPr>
        <p:spPr>
          <a:xfrm>
            <a:off x="5303520" y="2514600"/>
            <a:ext cx="1627632" cy="365760"/>
          </a:xfrm>
          <a:prstGeom prst="roundRect">
            <a:avLst>
              <a:gd fmla="val 2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78"/>
          <p:cNvSpPr txBox="1"/>
          <p:nvPr/>
        </p:nvSpPr>
        <p:spPr>
          <a:xfrm>
            <a:off x="5303520" y="2514600"/>
            <a:ext cx="16276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Data Alamat Pembeli</a:t>
            </a:r>
            <a:endParaRPr b="0" i="0" sz="1100" u="none" cap="none" strike="noStrike">
              <a:solidFill>
                <a:schemeClr val="dk1"/>
              </a:solidFill>
              <a:latin typeface="Calibri"/>
              <a:ea typeface="Calibri"/>
              <a:cs typeface="Calibri"/>
              <a:sym typeface="Calibri"/>
            </a:endParaRPr>
          </a:p>
        </p:txBody>
      </p:sp>
      <p:sp>
        <p:nvSpPr>
          <p:cNvPr id="1270" name="Google Shape;1270;p78"/>
          <p:cNvSpPr/>
          <p:nvPr/>
        </p:nvSpPr>
        <p:spPr>
          <a:xfrm>
            <a:off x="7022592" y="2514600"/>
            <a:ext cx="1627632" cy="365760"/>
          </a:xfrm>
          <a:prstGeom prst="roundRect">
            <a:avLst>
              <a:gd fmla="val 2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78"/>
          <p:cNvSpPr txBox="1"/>
          <p:nvPr/>
        </p:nvSpPr>
        <p:spPr>
          <a:xfrm>
            <a:off x="7022592" y="2514600"/>
            <a:ext cx="16276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Alamat Pasangan</a:t>
            </a:r>
            <a:endParaRPr b="0" i="0" sz="1100" u="none" cap="none" strike="noStrike">
              <a:solidFill>
                <a:schemeClr val="dk1"/>
              </a:solidFill>
              <a:latin typeface="Calibri"/>
              <a:ea typeface="Calibri"/>
              <a:cs typeface="Calibri"/>
              <a:sym typeface="Calibri"/>
            </a:endParaRPr>
          </a:p>
        </p:txBody>
      </p:sp>
      <p:sp>
        <p:nvSpPr>
          <p:cNvPr id="1272" name="Google Shape;1272;p78"/>
          <p:cNvSpPr/>
          <p:nvPr/>
        </p:nvSpPr>
        <p:spPr>
          <a:xfrm>
            <a:off x="5303520" y="2971800"/>
            <a:ext cx="1627632" cy="365760"/>
          </a:xfrm>
          <a:prstGeom prst="roundRect">
            <a:avLst>
              <a:gd fmla="val 2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78"/>
          <p:cNvSpPr txBox="1"/>
          <p:nvPr/>
        </p:nvSpPr>
        <p:spPr>
          <a:xfrm>
            <a:off x="5303520" y="2971800"/>
            <a:ext cx="16276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Data Pekerjaan Pembeli</a:t>
            </a:r>
            <a:endParaRPr b="0" i="0" sz="1100" u="none" cap="none" strike="noStrike">
              <a:solidFill>
                <a:schemeClr val="dk1"/>
              </a:solidFill>
              <a:latin typeface="Calibri"/>
              <a:ea typeface="Calibri"/>
              <a:cs typeface="Calibri"/>
              <a:sym typeface="Calibri"/>
            </a:endParaRPr>
          </a:p>
        </p:txBody>
      </p:sp>
      <p:sp>
        <p:nvSpPr>
          <p:cNvPr id="1274" name="Google Shape;1274;p78"/>
          <p:cNvSpPr/>
          <p:nvPr/>
        </p:nvSpPr>
        <p:spPr>
          <a:xfrm>
            <a:off x="7022592" y="2971800"/>
            <a:ext cx="1627632" cy="365760"/>
          </a:xfrm>
          <a:prstGeom prst="roundRect">
            <a:avLst>
              <a:gd fmla="val 2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78"/>
          <p:cNvSpPr txBox="1"/>
          <p:nvPr/>
        </p:nvSpPr>
        <p:spPr>
          <a:xfrm>
            <a:off x="7022592" y="2971800"/>
            <a:ext cx="16276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Data Pekerjaan Pasangan</a:t>
            </a:r>
            <a:endParaRPr b="0" i="0" sz="1100" u="none" cap="none" strike="noStrike">
              <a:solidFill>
                <a:schemeClr val="dk1"/>
              </a:solidFill>
              <a:latin typeface="Calibri"/>
              <a:ea typeface="Calibri"/>
              <a:cs typeface="Calibri"/>
              <a:sym typeface="Calibri"/>
            </a:endParaRPr>
          </a:p>
        </p:txBody>
      </p:sp>
      <p:sp>
        <p:nvSpPr>
          <p:cNvPr id="1276" name="Google Shape;1276;p78"/>
          <p:cNvSpPr/>
          <p:nvPr/>
        </p:nvSpPr>
        <p:spPr>
          <a:xfrm>
            <a:off x="5303520" y="3429000"/>
            <a:ext cx="1627632" cy="365760"/>
          </a:xfrm>
          <a:prstGeom prst="roundRect">
            <a:avLst>
              <a:gd fmla="val 25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78"/>
          <p:cNvSpPr txBox="1"/>
          <p:nvPr/>
        </p:nvSpPr>
        <p:spPr>
          <a:xfrm>
            <a:off x="5303520" y="3429000"/>
            <a:ext cx="16276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 sz="1100" u="none" cap="none" strike="noStrike">
                <a:solidFill>
                  <a:schemeClr val="dk2"/>
                </a:solidFill>
                <a:latin typeface="Calibri"/>
                <a:ea typeface="Calibri"/>
                <a:cs typeface="Calibri"/>
                <a:sym typeface="Calibri"/>
              </a:rPr>
              <a:t>Lainnya</a:t>
            </a:r>
            <a:endParaRPr b="0" i="0" sz="1100" u="none" cap="none" strike="noStrike">
              <a:solidFill>
                <a:schemeClr val="dk1"/>
              </a:solidFill>
              <a:latin typeface="Calibri"/>
              <a:ea typeface="Calibri"/>
              <a:cs typeface="Calibri"/>
              <a:sym typeface="Calibri"/>
            </a:endParaRPr>
          </a:p>
        </p:txBody>
      </p:sp>
      <p:sp>
        <p:nvSpPr>
          <p:cNvPr id="1278" name="Google Shape;1278;p78"/>
          <p:cNvSpPr/>
          <p:nvPr/>
        </p:nvSpPr>
        <p:spPr>
          <a:xfrm>
            <a:off x="457200" y="4069080"/>
            <a:ext cx="8229600" cy="457200"/>
          </a:xfrm>
          <a:prstGeom prst="roundRect">
            <a:avLst>
              <a:gd fmla="val 20000" name="adj"/>
            </a:avLst>
          </a:prstGeom>
          <a:solidFill>
            <a:srgbClr val="FFF7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78"/>
          <p:cNvSpPr txBox="1"/>
          <p:nvPr/>
        </p:nvSpPr>
        <p:spPr>
          <a:xfrm>
            <a:off x="640080" y="406908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4B"/>
              </a:buClr>
              <a:buSzPts val="1200"/>
              <a:buFont typeface="Calibri"/>
              <a:buNone/>
            </a:pPr>
            <a:r>
              <a:rPr b="1" i="0" lang="en" sz="1200" u="none" cap="none" strike="noStrike">
                <a:solidFill>
                  <a:srgbClr val="1E1B4B"/>
                </a:solidFill>
                <a:latin typeface="Calibri"/>
                <a:ea typeface="Calibri"/>
                <a:cs typeface="Calibri"/>
                <a:sym typeface="Calibri"/>
              </a:rPr>
              <a:t>Tips: </a:t>
            </a:r>
            <a:r>
              <a:rPr b="0" i="0" lang="en" sz="1200" u="none" cap="none" strike="noStrike">
                <a:solidFill>
                  <a:schemeClr val="dk1"/>
                </a:solidFill>
                <a:latin typeface="Calibri"/>
                <a:ea typeface="Calibri"/>
                <a:cs typeface="Calibri"/>
                <a:sym typeface="Calibri"/>
              </a:rPr>
              <a:t>Di halaman ini data customer hanya dibaca. Untuk melengkapi / mengubah, gunakan menu Master Customer Reserve.</a:t>
            </a:r>
            <a:endParaRPr b="0" i="0" sz="1200" u="none" cap="none" strike="noStrike">
              <a:solidFill>
                <a:schemeClr val="dk1"/>
              </a:solidFill>
              <a:latin typeface="Calibri"/>
              <a:ea typeface="Calibri"/>
              <a:cs typeface="Calibri"/>
              <a:sym typeface="Calibri"/>
            </a:endParaRPr>
          </a:p>
        </p:txBody>
      </p:sp>
      <p:sp>
        <p:nvSpPr>
          <p:cNvPr id="1280" name="Google Shape;1280;p78"/>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79"/>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Tab Verification: koreksi unit</a:t>
            </a:r>
            <a:endParaRPr sz="2800"/>
          </a:p>
        </p:txBody>
      </p:sp>
      <p:sp>
        <p:nvSpPr>
          <p:cNvPr id="1287" name="Google Shape;1287;p79"/>
          <p:cNvSpPr/>
          <p:nvPr/>
        </p:nvSpPr>
        <p:spPr>
          <a:xfrm>
            <a:off x="402336" y="996696"/>
            <a:ext cx="5230368" cy="2511444"/>
          </a:xfrm>
          <a:prstGeom prst="roundRect">
            <a:avLst>
              <a:gd fmla="val 2913"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ab Verification bagian unit" id="1288" name="Google Shape;1288;p79"/>
          <p:cNvPicPr preferRelativeResize="0"/>
          <p:nvPr/>
        </p:nvPicPr>
        <p:blipFill rotWithShape="1">
          <a:blip r:embed="rId3">
            <a:alphaModFix/>
          </a:blip>
          <a:srcRect b="0" l="0" r="0" t="0"/>
          <a:stretch/>
        </p:blipFill>
        <p:spPr>
          <a:xfrm>
            <a:off x="457200" y="1051560"/>
            <a:ext cx="5120640" cy="2401716"/>
          </a:xfrm>
          <a:prstGeom prst="rect">
            <a:avLst/>
          </a:prstGeom>
          <a:noFill/>
          <a:ln>
            <a:noFill/>
          </a:ln>
        </p:spPr>
      </p:pic>
      <p:sp>
        <p:nvSpPr>
          <p:cNvPr id="1289" name="Google Shape;1289;p79"/>
          <p:cNvSpPr txBox="1"/>
          <p:nvPr/>
        </p:nvSpPr>
        <p:spPr>
          <a:xfrm>
            <a:off x="5852160" y="1051560"/>
            <a:ext cx="2834640" cy="3108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Project: </a:t>
            </a:r>
            <a:r>
              <a:rPr b="0" i="0" lang="en" sz="1300" u="none" cap="none" strike="noStrike">
                <a:solidFill>
                  <a:schemeClr val="dk1"/>
                </a:solidFill>
                <a:latin typeface="Calibri"/>
                <a:ea typeface="Calibri"/>
                <a:cs typeface="Calibri"/>
                <a:sym typeface="Calibri"/>
              </a:rPr>
              <a:t>terkunci (tidak bisa diganti)</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Cluster &amp; Tipe: </a:t>
            </a:r>
            <a:r>
              <a:rPr b="0" i="0" lang="en" sz="1300" u="none" cap="none" strike="noStrike">
                <a:solidFill>
                  <a:schemeClr val="dk1"/>
                </a:solidFill>
                <a:latin typeface="Calibri"/>
                <a:ea typeface="Calibri"/>
                <a:cs typeface="Calibri"/>
                <a:sym typeface="Calibri"/>
              </a:rPr>
              <a:t>menampilkan jumlah unit available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Kavling: </a:t>
            </a:r>
            <a:r>
              <a:rPr b="0" i="0" lang="en" sz="1300" u="none" cap="none" strike="noStrike">
                <a:solidFill>
                  <a:schemeClr val="dk1"/>
                </a:solidFill>
                <a:latin typeface="Calibri"/>
                <a:ea typeface="Calibri"/>
                <a:cs typeface="Calibri"/>
                <a:sym typeface="Calibri"/>
              </a:rPr>
              <a:t>unit saat ini, kavling lain yang Available, atau Belum menentukan kavling</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Gunakan untuk </a:t>
            </a:r>
            <a:r>
              <a:rPr b="0" i="0" lang="en" sz="1300" u="none" cap="none" strike="noStrike">
                <a:solidFill>
                  <a:schemeClr val="dk1"/>
                </a:solidFill>
                <a:latin typeface="Calibri"/>
                <a:ea typeface="Calibri"/>
                <a:cs typeface="Calibri"/>
                <a:sym typeface="Calibri"/>
              </a:rPr>
              <a:t>pindah unit, atau menetapkan kavling untuk RO Waitinglist</a:t>
            </a:r>
            <a:endParaRPr b="0" i="0" sz="1300" u="none" cap="none" strike="noStrike">
              <a:solidFill>
                <a:schemeClr val="dk1"/>
              </a:solidFill>
              <a:latin typeface="Calibri"/>
              <a:ea typeface="Calibri"/>
              <a:cs typeface="Calibri"/>
              <a:sym typeface="Calibri"/>
            </a:endParaRPr>
          </a:p>
        </p:txBody>
      </p:sp>
      <p:sp>
        <p:nvSpPr>
          <p:cNvPr id="1290" name="Google Shape;1290;p79"/>
          <p:cNvSpPr/>
          <p:nvPr/>
        </p:nvSpPr>
        <p:spPr>
          <a:xfrm>
            <a:off x="457200" y="3794760"/>
            <a:ext cx="8229600" cy="457200"/>
          </a:xfrm>
          <a:prstGeom prst="roundRect">
            <a:avLst>
              <a:gd fmla="val 20000" name="adj"/>
            </a:avLst>
          </a:prstGeom>
          <a:solidFill>
            <a:srgbClr val="FFF7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79"/>
          <p:cNvSpPr txBox="1"/>
          <p:nvPr/>
        </p:nvSpPr>
        <p:spPr>
          <a:xfrm>
            <a:off x="640080" y="379476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B4B"/>
              </a:buClr>
              <a:buSzPts val="1200"/>
              <a:buFont typeface="Calibri"/>
              <a:buNone/>
            </a:pPr>
            <a:r>
              <a:rPr b="1" i="0" lang="en" sz="1200" u="none" cap="none" strike="noStrike">
                <a:solidFill>
                  <a:srgbClr val="1E1B4B"/>
                </a:solidFill>
                <a:latin typeface="Calibri"/>
                <a:ea typeface="Calibri"/>
                <a:cs typeface="Calibri"/>
                <a:sym typeface="Calibri"/>
              </a:rPr>
              <a:t>Ingat: </a:t>
            </a:r>
            <a:r>
              <a:rPr b="0" i="0" lang="en" sz="1200" u="none" cap="none" strike="noStrike">
                <a:solidFill>
                  <a:schemeClr val="dk1"/>
                </a:solidFill>
                <a:latin typeface="Calibri"/>
                <a:ea typeface="Calibri"/>
                <a:cs typeface="Calibri"/>
                <a:sym typeface="Calibri"/>
              </a:rPr>
              <a:t>Kartu kiri tetap terlihat saat bekerja di tab Verification, jadi ringkasan &amp; tombol Approve / Reject selalu bisa dicek.</a:t>
            </a:r>
            <a:endParaRPr b="0" i="0" sz="1200" u="none" cap="none" strike="noStrike">
              <a:solidFill>
                <a:schemeClr val="dk1"/>
              </a:solidFill>
              <a:latin typeface="Calibri"/>
              <a:ea typeface="Calibri"/>
              <a:cs typeface="Calibri"/>
              <a:sym typeface="Calibri"/>
            </a:endParaRPr>
          </a:p>
        </p:txBody>
      </p:sp>
      <p:sp>
        <p:nvSpPr>
          <p:cNvPr id="1292" name="Google Shape;1292;p79"/>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p80"/>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Tab Verification: update status</a:t>
            </a:r>
            <a:endParaRPr sz="2800"/>
          </a:p>
        </p:txBody>
      </p:sp>
      <p:sp>
        <p:nvSpPr>
          <p:cNvPr id="1299" name="Google Shape;1299;p80"/>
          <p:cNvSpPr/>
          <p:nvPr/>
        </p:nvSpPr>
        <p:spPr>
          <a:xfrm>
            <a:off x="402336" y="996696"/>
            <a:ext cx="4315968" cy="2551922"/>
          </a:xfrm>
          <a:prstGeom prst="roundRect">
            <a:avLst>
              <a:gd fmla="val 2867"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ab Verification bagian status" id="1300" name="Google Shape;1300;p80"/>
          <p:cNvPicPr preferRelativeResize="0"/>
          <p:nvPr/>
        </p:nvPicPr>
        <p:blipFill rotWithShape="1">
          <a:blip r:embed="rId3">
            <a:alphaModFix/>
          </a:blip>
          <a:srcRect b="0" l="0" r="0" t="0"/>
          <a:stretch/>
        </p:blipFill>
        <p:spPr>
          <a:xfrm>
            <a:off x="457200" y="1051560"/>
            <a:ext cx="4206240" cy="2442194"/>
          </a:xfrm>
          <a:prstGeom prst="rect">
            <a:avLst/>
          </a:prstGeom>
          <a:noFill/>
          <a:ln>
            <a:noFill/>
          </a:ln>
        </p:spPr>
      </p:pic>
      <p:sp>
        <p:nvSpPr>
          <p:cNvPr id="1301" name="Google Shape;1301;p80"/>
          <p:cNvSpPr/>
          <p:nvPr/>
        </p:nvSpPr>
        <p:spPr>
          <a:xfrm>
            <a:off x="4937760" y="10698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80"/>
          <p:cNvSpPr txBox="1"/>
          <p:nvPr/>
        </p:nvSpPr>
        <p:spPr>
          <a:xfrm>
            <a:off x="4937760"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303" name="Google Shape;1303;p80"/>
          <p:cNvSpPr txBox="1"/>
          <p:nvPr/>
        </p:nvSpPr>
        <p:spPr>
          <a:xfrm>
            <a:off x="5349240" y="1051560"/>
            <a:ext cx="3337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Update Status</a:t>
            </a:r>
            <a:endParaRPr b="0" i="0" sz="1500" u="none" cap="none" strike="noStrike">
              <a:solidFill>
                <a:schemeClr val="dk1"/>
              </a:solidFill>
              <a:latin typeface="Calibri"/>
              <a:ea typeface="Calibri"/>
              <a:cs typeface="Calibri"/>
              <a:sym typeface="Calibri"/>
            </a:endParaRPr>
          </a:p>
        </p:txBody>
      </p:sp>
      <p:sp>
        <p:nvSpPr>
          <p:cNvPr id="1304" name="Google Shape;1304;p80"/>
          <p:cNvSpPr txBox="1"/>
          <p:nvPr/>
        </p:nvSpPr>
        <p:spPr>
          <a:xfrm>
            <a:off x="5349240" y="1353312"/>
            <a:ext cx="33375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RBB · Reserve · Reserve Batal · Waitinglist · SP · RBA · SP Batal</a:t>
            </a:r>
            <a:endParaRPr b="0" i="0" sz="1300" u="none" cap="none" strike="noStrike">
              <a:solidFill>
                <a:schemeClr val="dk1"/>
              </a:solidFill>
              <a:latin typeface="Calibri"/>
              <a:ea typeface="Calibri"/>
              <a:cs typeface="Calibri"/>
              <a:sym typeface="Calibri"/>
            </a:endParaRPr>
          </a:p>
        </p:txBody>
      </p:sp>
      <p:sp>
        <p:nvSpPr>
          <p:cNvPr id="1305" name="Google Shape;1305;p80"/>
          <p:cNvSpPr/>
          <p:nvPr/>
        </p:nvSpPr>
        <p:spPr>
          <a:xfrm>
            <a:off x="4937760" y="1956816"/>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80"/>
          <p:cNvSpPr txBox="1"/>
          <p:nvPr/>
        </p:nvSpPr>
        <p:spPr>
          <a:xfrm>
            <a:off x="4937760" y="195681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307" name="Google Shape;1307;p80"/>
          <p:cNvSpPr txBox="1"/>
          <p:nvPr/>
        </p:nvSpPr>
        <p:spPr>
          <a:xfrm>
            <a:off x="5349240" y="1938528"/>
            <a:ext cx="3337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Tanggal status</a:t>
            </a:r>
            <a:endParaRPr b="0" i="0" sz="1500" u="none" cap="none" strike="noStrike">
              <a:solidFill>
                <a:schemeClr val="dk1"/>
              </a:solidFill>
              <a:latin typeface="Calibri"/>
              <a:ea typeface="Calibri"/>
              <a:cs typeface="Calibri"/>
              <a:sym typeface="Calibri"/>
            </a:endParaRPr>
          </a:p>
        </p:txBody>
      </p:sp>
      <p:sp>
        <p:nvSpPr>
          <p:cNvPr id="1308" name="Google Shape;1308;p80"/>
          <p:cNvSpPr txBox="1"/>
          <p:nvPr/>
        </p:nvSpPr>
        <p:spPr>
          <a:xfrm>
            <a:off x="5349240" y="2240280"/>
            <a:ext cx="33375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Ikut status: Tanggal Reserve (terkunci), Tanggal SP (bisa diisi)</a:t>
            </a:r>
            <a:endParaRPr b="0" i="0" sz="1300" u="none" cap="none" strike="noStrike">
              <a:solidFill>
                <a:schemeClr val="dk1"/>
              </a:solidFill>
              <a:latin typeface="Calibri"/>
              <a:ea typeface="Calibri"/>
              <a:cs typeface="Calibri"/>
              <a:sym typeface="Calibri"/>
            </a:endParaRPr>
          </a:p>
        </p:txBody>
      </p:sp>
      <p:sp>
        <p:nvSpPr>
          <p:cNvPr id="1309" name="Google Shape;1309;p80"/>
          <p:cNvSpPr/>
          <p:nvPr/>
        </p:nvSpPr>
        <p:spPr>
          <a:xfrm>
            <a:off x="4937760" y="2843784"/>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80"/>
          <p:cNvSpPr txBox="1"/>
          <p:nvPr/>
        </p:nvSpPr>
        <p:spPr>
          <a:xfrm>
            <a:off x="4937760" y="284378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311" name="Google Shape;1311;p80"/>
          <p:cNvSpPr txBox="1"/>
          <p:nvPr/>
        </p:nvSpPr>
        <p:spPr>
          <a:xfrm>
            <a:off x="5349240" y="2825496"/>
            <a:ext cx="3337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Alasan Batal *</a:t>
            </a:r>
            <a:endParaRPr b="0" i="0" sz="1500" u="none" cap="none" strike="noStrike">
              <a:solidFill>
                <a:schemeClr val="dk1"/>
              </a:solidFill>
              <a:latin typeface="Calibri"/>
              <a:ea typeface="Calibri"/>
              <a:cs typeface="Calibri"/>
              <a:sym typeface="Calibri"/>
            </a:endParaRPr>
          </a:p>
        </p:txBody>
      </p:sp>
      <p:sp>
        <p:nvSpPr>
          <p:cNvPr id="1312" name="Google Shape;1312;p80"/>
          <p:cNvSpPr txBox="1"/>
          <p:nvPr/>
        </p:nvSpPr>
        <p:spPr>
          <a:xfrm>
            <a:off x="5349240" y="3127248"/>
            <a:ext cx="33375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Wajib untuk status batal: Alasan Keluarga, BI Checking, Budget, Macet/Lokasi/Akses, Melihat proyek lain, Produk Konfigurasi, Lain-Lain</a:t>
            </a:r>
            <a:endParaRPr b="0" i="0" sz="1300" u="none" cap="none" strike="noStrike">
              <a:solidFill>
                <a:schemeClr val="dk1"/>
              </a:solidFill>
              <a:latin typeface="Calibri"/>
              <a:ea typeface="Calibri"/>
              <a:cs typeface="Calibri"/>
              <a:sym typeface="Calibri"/>
            </a:endParaRPr>
          </a:p>
        </p:txBody>
      </p:sp>
      <p:sp>
        <p:nvSpPr>
          <p:cNvPr id="1313" name="Google Shape;1313;p80"/>
          <p:cNvSpPr/>
          <p:nvPr/>
        </p:nvSpPr>
        <p:spPr>
          <a:xfrm>
            <a:off x="4937760" y="4096512"/>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80"/>
          <p:cNvSpPr txBox="1"/>
          <p:nvPr/>
        </p:nvSpPr>
        <p:spPr>
          <a:xfrm>
            <a:off x="4937760" y="409651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315" name="Google Shape;1315;p80"/>
          <p:cNvSpPr txBox="1"/>
          <p:nvPr/>
        </p:nvSpPr>
        <p:spPr>
          <a:xfrm>
            <a:off x="5349240" y="4078224"/>
            <a:ext cx="3337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Unit Point &amp; Catatan</a:t>
            </a:r>
            <a:endParaRPr b="0" i="0" sz="1500" u="none" cap="none" strike="noStrike">
              <a:solidFill>
                <a:schemeClr val="dk1"/>
              </a:solidFill>
              <a:latin typeface="Calibri"/>
              <a:ea typeface="Calibri"/>
              <a:cs typeface="Calibri"/>
              <a:sym typeface="Calibri"/>
            </a:endParaRPr>
          </a:p>
        </p:txBody>
      </p:sp>
      <p:sp>
        <p:nvSpPr>
          <p:cNvPr id="1316" name="Google Shape;1316;p80"/>
          <p:cNvSpPr txBox="1"/>
          <p:nvPr/>
        </p:nvSpPr>
        <p:spPr>
          <a:xfrm>
            <a:off x="5349240" y="4379976"/>
            <a:ext cx="33375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Poin unit (mis. 1 / 1.5 / 2) dan catatan RO</a:t>
            </a:r>
            <a:endParaRPr b="0" i="0" sz="1300" u="none" cap="none" strike="noStrike">
              <a:solidFill>
                <a:schemeClr val="dk1"/>
              </a:solidFill>
              <a:latin typeface="Calibri"/>
              <a:ea typeface="Calibri"/>
              <a:cs typeface="Calibri"/>
              <a:sym typeface="Calibri"/>
            </a:endParaRPr>
          </a:p>
        </p:txBody>
      </p:sp>
      <p:sp>
        <p:nvSpPr>
          <p:cNvPr id="1317" name="Google Shape;1317;p80"/>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81"/>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Langkah verifikasi Sales Admin</a:t>
            </a:r>
            <a:endParaRPr sz="2800"/>
          </a:p>
        </p:txBody>
      </p:sp>
      <p:sp>
        <p:nvSpPr>
          <p:cNvPr id="1324" name="Google Shape;1324;p81"/>
          <p:cNvSpPr/>
          <p:nvPr/>
        </p:nvSpPr>
        <p:spPr>
          <a:xfrm>
            <a:off x="457200" y="1188720"/>
            <a:ext cx="1554480" cy="237744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81"/>
          <p:cNvSpPr txBox="1"/>
          <p:nvPr/>
        </p:nvSpPr>
        <p:spPr>
          <a:xfrm>
            <a:off x="594360" y="1298448"/>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800"/>
              <a:buFont typeface="Calibri"/>
              <a:buNone/>
            </a:pPr>
            <a:r>
              <a:rPr b="1" i="0" lang="en" sz="2800" u="none" cap="none" strike="noStrike">
                <a:solidFill>
                  <a:schemeClr val="accent1"/>
                </a:solidFill>
                <a:latin typeface="Calibri"/>
                <a:ea typeface="Calibri"/>
                <a:cs typeface="Calibri"/>
                <a:sym typeface="Calibri"/>
              </a:rPr>
              <a:t>1</a:t>
            </a:r>
            <a:endParaRPr b="0" i="0" sz="2800" u="none" cap="none" strike="noStrike">
              <a:solidFill>
                <a:schemeClr val="dk1"/>
              </a:solidFill>
              <a:latin typeface="Calibri"/>
              <a:ea typeface="Calibri"/>
              <a:cs typeface="Calibri"/>
              <a:sym typeface="Calibri"/>
            </a:endParaRPr>
          </a:p>
        </p:txBody>
      </p:sp>
      <p:sp>
        <p:nvSpPr>
          <p:cNvPr id="1326" name="Google Shape;1326;p81"/>
          <p:cNvSpPr txBox="1"/>
          <p:nvPr/>
        </p:nvSpPr>
        <p:spPr>
          <a:xfrm>
            <a:off x="594360" y="1828800"/>
            <a:ext cx="13258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Buka RO</a:t>
            </a:r>
            <a:endParaRPr b="0" i="0" sz="1400" u="none" cap="none" strike="noStrike">
              <a:solidFill>
                <a:schemeClr val="dk1"/>
              </a:solidFill>
              <a:latin typeface="Calibri"/>
              <a:ea typeface="Calibri"/>
              <a:cs typeface="Calibri"/>
              <a:sym typeface="Calibri"/>
            </a:endParaRPr>
          </a:p>
        </p:txBody>
      </p:sp>
      <p:sp>
        <p:nvSpPr>
          <p:cNvPr id="1327" name="Google Shape;1327;p81"/>
          <p:cNvSpPr txBox="1"/>
          <p:nvPr/>
        </p:nvSpPr>
        <p:spPr>
          <a:xfrm>
            <a:off x="594360" y="2377440"/>
            <a:ext cx="132588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Tab Sales Admin, prioritaskan baris kuning.</a:t>
            </a:r>
            <a:endParaRPr b="0" i="0" sz="1100" u="none" cap="none" strike="noStrike">
              <a:solidFill>
                <a:schemeClr val="dk1"/>
              </a:solidFill>
              <a:latin typeface="Calibri"/>
              <a:ea typeface="Calibri"/>
              <a:cs typeface="Calibri"/>
              <a:sym typeface="Calibri"/>
            </a:endParaRPr>
          </a:p>
        </p:txBody>
      </p:sp>
      <p:sp>
        <p:nvSpPr>
          <p:cNvPr id="1328" name="Google Shape;1328;p81"/>
          <p:cNvSpPr/>
          <p:nvPr/>
        </p:nvSpPr>
        <p:spPr>
          <a:xfrm>
            <a:off x="2025396" y="2286000"/>
            <a:ext cx="100584" cy="201168"/>
          </a:xfrm>
          <a:prstGeom prst="chevron">
            <a:avLst>
              <a:gd fmla="val 50000" name="adj"/>
            </a:avLst>
          </a:prstGeom>
          <a:solidFill>
            <a:srgbClr val="A5A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81"/>
          <p:cNvSpPr/>
          <p:nvPr/>
        </p:nvSpPr>
        <p:spPr>
          <a:xfrm>
            <a:off x="2139696" y="1188720"/>
            <a:ext cx="1554480" cy="237744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81"/>
          <p:cNvSpPr txBox="1"/>
          <p:nvPr/>
        </p:nvSpPr>
        <p:spPr>
          <a:xfrm>
            <a:off x="2276856" y="1298448"/>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800"/>
              <a:buFont typeface="Calibri"/>
              <a:buNone/>
            </a:pPr>
            <a:r>
              <a:rPr b="1" i="0" lang="en" sz="2800" u="none" cap="none" strike="noStrike">
                <a:solidFill>
                  <a:schemeClr val="accent1"/>
                </a:solidFill>
                <a:latin typeface="Calibri"/>
                <a:ea typeface="Calibri"/>
                <a:cs typeface="Calibri"/>
                <a:sym typeface="Calibri"/>
              </a:rPr>
              <a:t>2</a:t>
            </a:r>
            <a:endParaRPr b="0" i="0" sz="2800" u="none" cap="none" strike="noStrike">
              <a:solidFill>
                <a:schemeClr val="dk1"/>
              </a:solidFill>
              <a:latin typeface="Calibri"/>
              <a:ea typeface="Calibri"/>
              <a:cs typeface="Calibri"/>
              <a:sym typeface="Calibri"/>
            </a:endParaRPr>
          </a:p>
        </p:txBody>
      </p:sp>
      <p:sp>
        <p:nvSpPr>
          <p:cNvPr id="1331" name="Google Shape;1331;p81"/>
          <p:cNvSpPr txBox="1"/>
          <p:nvPr/>
        </p:nvSpPr>
        <p:spPr>
          <a:xfrm>
            <a:off x="2276856" y="1828800"/>
            <a:ext cx="13258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Cek ringkasan</a:t>
            </a:r>
            <a:endParaRPr b="0" i="0" sz="1400" u="none" cap="none" strike="noStrike">
              <a:solidFill>
                <a:schemeClr val="dk1"/>
              </a:solidFill>
              <a:latin typeface="Calibri"/>
              <a:ea typeface="Calibri"/>
              <a:cs typeface="Calibri"/>
              <a:sym typeface="Calibri"/>
            </a:endParaRPr>
          </a:p>
        </p:txBody>
      </p:sp>
      <p:sp>
        <p:nvSpPr>
          <p:cNvPr id="1332" name="Google Shape;1332;p81"/>
          <p:cNvSpPr txBox="1"/>
          <p:nvPr/>
        </p:nvSpPr>
        <p:spPr>
          <a:xfrm>
            <a:off x="2276856" y="2377440"/>
            <a:ext cx="132588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Unit, status, cara bayar, total dibayar, banner pembayaran baru.</a:t>
            </a:r>
            <a:endParaRPr b="0" i="0" sz="1100" u="none" cap="none" strike="noStrike">
              <a:solidFill>
                <a:schemeClr val="dk1"/>
              </a:solidFill>
              <a:latin typeface="Calibri"/>
              <a:ea typeface="Calibri"/>
              <a:cs typeface="Calibri"/>
              <a:sym typeface="Calibri"/>
            </a:endParaRPr>
          </a:p>
        </p:txBody>
      </p:sp>
      <p:sp>
        <p:nvSpPr>
          <p:cNvPr id="1333" name="Google Shape;1333;p81"/>
          <p:cNvSpPr/>
          <p:nvPr/>
        </p:nvSpPr>
        <p:spPr>
          <a:xfrm>
            <a:off x="3707892" y="2286000"/>
            <a:ext cx="100584" cy="201168"/>
          </a:xfrm>
          <a:prstGeom prst="chevron">
            <a:avLst>
              <a:gd fmla="val 50000" name="adj"/>
            </a:avLst>
          </a:prstGeom>
          <a:solidFill>
            <a:srgbClr val="A5A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81"/>
          <p:cNvSpPr/>
          <p:nvPr/>
        </p:nvSpPr>
        <p:spPr>
          <a:xfrm>
            <a:off x="3822192" y="1188720"/>
            <a:ext cx="1554480" cy="237744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81"/>
          <p:cNvSpPr txBox="1"/>
          <p:nvPr/>
        </p:nvSpPr>
        <p:spPr>
          <a:xfrm>
            <a:off x="3959352" y="1298448"/>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800"/>
              <a:buFont typeface="Calibri"/>
              <a:buNone/>
            </a:pPr>
            <a:r>
              <a:rPr b="1" i="0" lang="en" sz="2800" u="none" cap="none" strike="noStrike">
                <a:solidFill>
                  <a:schemeClr val="accent1"/>
                </a:solidFill>
                <a:latin typeface="Calibri"/>
                <a:ea typeface="Calibri"/>
                <a:cs typeface="Calibri"/>
                <a:sym typeface="Calibri"/>
              </a:rPr>
              <a:t>3</a:t>
            </a:r>
            <a:endParaRPr b="0" i="0" sz="2800" u="none" cap="none" strike="noStrike">
              <a:solidFill>
                <a:schemeClr val="dk1"/>
              </a:solidFill>
              <a:latin typeface="Calibri"/>
              <a:ea typeface="Calibri"/>
              <a:cs typeface="Calibri"/>
              <a:sym typeface="Calibri"/>
            </a:endParaRPr>
          </a:p>
        </p:txBody>
      </p:sp>
      <p:sp>
        <p:nvSpPr>
          <p:cNvPr id="1336" name="Google Shape;1336;p81"/>
          <p:cNvSpPr txBox="1"/>
          <p:nvPr/>
        </p:nvSpPr>
        <p:spPr>
          <a:xfrm>
            <a:off x="3959352" y="1828800"/>
            <a:ext cx="13258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Cek data &amp; dokumen</a:t>
            </a:r>
            <a:endParaRPr b="0" i="0" sz="1400" u="none" cap="none" strike="noStrike">
              <a:solidFill>
                <a:schemeClr val="dk1"/>
              </a:solidFill>
              <a:latin typeface="Calibri"/>
              <a:ea typeface="Calibri"/>
              <a:cs typeface="Calibri"/>
              <a:sym typeface="Calibri"/>
            </a:endParaRPr>
          </a:p>
        </p:txBody>
      </p:sp>
      <p:sp>
        <p:nvSpPr>
          <p:cNvPr id="1337" name="Google Shape;1337;p81"/>
          <p:cNvSpPr txBox="1"/>
          <p:nvPr/>
        </p:nvSpPr>
        <p:spPr>
          <a:xfrm>
            <a:off x="3959352" y="2377440"/>
            <a:ext cx="132588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Data Customer + tab Attachment (KTP, NPWP, bukti).</a:t>
            </a:r>
            <a:endParaRPr b="0" i="0" sz="1100" u="none" cap="none" strike="noStrike">
              <a:solidFill>
                <a:schemeClr val="dk1"/>
              </a:solidFill>
              <a:latin typeface="Calibri"/>
              <a:ea typeface="Calibri"/>
              <a:cs typeface="Calibri"/>
              <a:sym typeface="Calibri"/>
            </a:endParaRPr>
          </a:p>
        </p:txBody>
      </p:sp>
      <p:sp>
        <p:nvSpPr>
          <p:cNvPr id="1338" name="Google Shape;1338;p81"/>
          <p:cNvSpPr/>
          <p:nvPr/>
        </p:nvSpPr>
        <p:spPr>
          <a:xfrm>
            <a:off x="5390388" y="2286000"/>
            <a:ext cx="100584" cy="201168"/>
          </a:xfrm>
          <a:prstGeom prst="chevron">
            <a:avLst>
              <a:gd fmla="val 50000" name="adj"/>
            </a:avLst>
          </a:prstGeom>
          <a:solidFill>
            <a:srgbClr val="A5A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81"/>
          <p:cNvSpPr/>
          <p:nvPr/>
        </p:nvSpPr>
        <p:spPr>
          <a:xfrm>
            <a:off x="5504688" y="1188720"/>
            <a:ext cx="1554480" cy="237744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81"/>
          <p:cNvSpPr txBox="1"/>
          <p:nvPr/>
        </p:nvSpPr>
        <p:spPr>
          <a:xfrm>
            <a:off x="5641848" y="1298448"/>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800"/>
              <a:buFont typeface="Calibri"/>
              <a:buNone/>
            </a:pPr>
            <a:r>
              <a:rPr b="1" i="0" lang="en" sz="2800" u="none" cap="none" strike="noStrike">
                <a:solidFill>
                  <a:schemeClr val="accent1"/>
                </a:solidFill>
                <a:latin typeface="Calibri"/>
                <a:ea typeface="Calibri"/>
                <a:cs typeface="Calibri"/>
                <a:sym typeface="Calibri"/>
              </a:rPr>
              <a:t>4</a:t>
            </a:r>
            <a:endParaRPr b="0" i="0" sz="2800" u="none" cap="none" strike="noStrike">
              <a:solidFill>
                <a:schemeClr val="dk1"/>
              </a:solidFill>
              <a:latin typeface="Calibri"/>
              <a:ea typeface="Calibri"/>
              <a:cs typeface="Calibri"/>
              <a:sym typeface="Calibri"/>
            </a:endParaRPr>
          </a:p>
        </p:txBody>
      </p:sp>
      <p:sp>
        <p:nvSpPr>
          <p:cNvPr id="1341" name="Google Shape;1341;p81"/>
          <p:cNvSpPr txBox="1"/>
          <p:nvPr/>
        </p:nvSpPr>
        <p:spPr>
          <a:xfrm>
            <a:off x="5641848" y="1828800"/>
            <a:ext cx="13258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Koreksi bila perlu</a:t>
            </a:r>
            <a:endParaRPr b="0" i="0" sz="1400" u="none" cap="none" strike="noStrike">
              <a:solidFill>
                <a:schemeClr val="dk1"/>
              </a:solidFill>
              <a:latin typeface="Calibri"/>
              <a:ea typeface="Calibri"/>
              <a:cs typeface="Calibri"/>
              <a:sym typeface="Calibri"/>
            </a:endParaRPr>
          </a:p>
        </p:txBody>
      </p:sp>
      <p:sp>
        <p:nvSpPr>
          <p:cNvPr id="1342" name="Google Shape;1342;p81"/>
          <p:cNvSpPr txBox="1"/>
          <p:nvPr/>
        </p:nvSpPr>
        <p:spPr>
          <a:xfrm>
            <a:off x="5641848" y="2377440"/>
            <a:ext cx="132588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Tab Verification: kavling, status, unit point, catatan.</a:t>
            </a:r>
            <a:endParaRPr b="0" i="0" sz="1100" u="none" cap="none" strike="noStrike">
              <a:solidFill>
                <a:schemeClr val="dk1"/>
              </a:solidFill>
              <a:latin typeface="Calibri"/>
              <a:ea typeface="Calibri"/>
              <a:cs typeface="Calibri"/>
              <a:sym typeface="Calibri"/>
            </a:endParaRPr>
          </a:p>
        </p:txBody>
      </p:sp>
      <p:sp>
        <p:nvSpPr>
          <p:cNvPr id="1343" name="Google Shape;1343;p81"/>
          <p:cNvSpPr/>
          <p:nvPr/>
        </p:nvSpPr>
        <p:spPr>
          <a:xfrm>
            <a:off x="7072884" y="2286000"/>
            <a:ext cx="100584" cy="201168"/>
          </a:xfrm>
          <a:prstGeom prst="chevron">
            <a:avLst>
              <a:gd fmla="val 50000" name="adj"/>
            </a:avLst>
          </a:prstGeom>
          <a:solidFill>
            <a:srgbClr val="A5A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81"/>
          <p:cNvSpPr/>
          <p:nvPr/>
        </p:nvSpPr>
        <p:spPr>
          <a:xfrm>
            <a:off x="7187184" y="1188720"/>
            <a:ext cx="1554480" cy="2377440"/>
          </a:xfrm>
          <a:prstGeom prst="roundRect">
            <a:avLst>
              <a:gd fmla="val 5882"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81"/>
          <p:cNvSpPr txBox="1"/>
          <p:nvPr/>
        </p:nvSpPr>
        <p:spPr>
          <a:xfrm>
            <a:off x="7324344" y="1298448"/>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E663"/>
              </a:buClr>
              <a:buSzPts val="2800"/>
              <a:buFont typeface="Calibri"/>
              <a:buNone/>
            </a:pPr>
            <a:r>
              <a:rPr b="1" i="0" lang="en" sz="2800" u="none" cap="none" strike="noStrike">
                <a:solidFill>
                  <a:srgbClr val="F5E663"/>
                </a:solidFill>
                <a:latin typeface="Calibri"/>
                <a:ea typeface="Calibri"/>
                <a:cs typeface="Calibri"/>
                <a:sym typeface="Calibri"/>
              </a:rPr>
              <a:t>5</a:t>
            </a:r>
            <a:endParaRPr b="0" i="0" sz="2800" u="none" cap="none" strike="noStrike">
              <a:solidFill>
                <a:schemeClr val="dk1"/>
              </a:solidFill>
              <a:latin typeface="Calibri"/>
              <a:ea typeface="Calibri"/>
              <a:cs typeface="Calibri"/>
              <a:sym typeface="Calibri"/>
            </a:endParaRPr>
          </a:p>
        </p:txBody>
      </p:sp>
      <p:sp>
        <p:nvSpPr>
          <p:cNvPr id="1346" name="Google Shape;1346;p81"/>
          <p:cNvSpPr txBox="1"/>
          <p:nvPr/>
        </p:nvSpPr>
        <p:spPr>
          <a:xfrm>
            <a:off x="7324344" y="1828800"/>
            <a:ext cx="13258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 sz="1400" u="none" cap="none" strike="noStrike">
                <a:solidFill>
                  <a:schemeClr val="lt1"/>
                </a:solidFill>
                <a:latin typeface="Calibri"/>
                <a:ea typeface="Calibri"/>
                <a:cs typeface="Calibri"/>
                <a:sym typeface="Calibri"/>
              </a:rPr>
              <a:t>Putuskan</a:t>
            </a:r>
            <a:endParaRPr b="0" i="0" sz="1400" u="none" cap="none" strike="noStrike">
              <a:solidFill>
                <a:schemeClr val="dk1"/>
              </a:solidFill>
              <a:latin typeface="Calibri"/>
              <a:ea typeface="Calibri"/>
              <a:cs typeface="Calibri"/>
              <a:sym typeface="Calibri"/>
            </a:endParaRPr>
          </a:p>
        </p:txBody>
      </p:sp>
      <p:sp>
        <p:nvSpPr>
          <p:cNvPr id="1347" name="Google Shape;1347;p81"/>
          <p:cNvSpPr txBox="1"/>
          <p:nvPr/>
        </p:nvSpPr>
        <p:spPr>
          <a:xfrm>
            <a:off x="7324344" y="2377440"/>
            <a:ext cx="132588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100"/>
              <a:buFont typeface="Calibri"/>
              <a:buNone/>
            </a:pPr>
            <a:r>
              <a:rPr b="0" i="0" lang="en" sz="1100" u="none" cap="none" strike="noStrike">
                <a:solidFill>
                  <a:schemeClr val="lt1"/>
                </a:solidFill>
                <a:latin typeface="Calibri"/>
                <a:ea typeface="Calibri"/>
                <a:cs typeface="Calibri"/>
                <a:sym typeface="Calibri"/>
              </a:rPr>
              <a:t>Approve, atau Reject + Alasan Penolakan.</a:t>
            </a:r>
            <a:endParaRPr b="0" i="0" sz="1100" u="none" cap="none" strike="noStrike">
              <a:solidFill>
                <a:schemeClr val="dk1"/>
              </a:solidFill>
              <a:latin typeface="Calibri"/>
              <a:ea typeface="Calibri"/>
              <a:cs typeface="Calibri"/>
              <a:sym typeface="Calibri"/>
            </a:endParaRPr>
          </a:p>
        </p:txBody>
      </p:sp>
      <p:sp>
        <p:nvSpPr>
          <p:cNvPr id="1348" name="Google Shape;1348;p81"/>
          <p:cNvSpPr/>
          <p:nvPr/>
        </p:nvSpPr>
        <p:spPr>
          <a:xfrm>
            <a:off x="457200" y="3794760"/>
            <a:ext cx="8229600" cy="685800"/>
          </a:xfrm>
          <a:prstGeom prst="roundRect">
            <a:avLst>
              <a:gd fmla="val 13333" name="adj"/>
            </a:avLst>
          </a:prstGeom>
          <a:solidFill>
            <a:srgbClr val="FFF7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81"/>
          <p:cNvSpPr txBox="1"/>
          <p:nvPr/>
        </p:nvSpPr>
        <p:spPr>
          <a:xfrm>
            <a:off x="640080" y="3794760"/>
            <a:ext cx="7863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Hasil di Message: </a:t>
            </a:r>
            <a:r>
              <a:rPr b="0" i="0" lang="en" sz="1200" u="none" cap="none" strike="noStrike">
                <a:solidFill>
                  <a:schemeClr val="dk1"/>
                </a:solidFill>
                <a:latin typeface="Calibri"/>
                <a:ea typeface="Calibri"/>
                <a:cs typeface="Calibri"/>
                <a:sym typeface="Calibri"/>
              </a:rPr>
              <a:t>"Data verifikasi Sales Admin disimpan. Status reserve: SP. Kavling BA12-77: RBB menjadi Ordered. Status prospek kontak: 31 - RBB → 50 - SP."</a:t>
            </a:r>
            <a:endParaRPr b="0" i="0" sz="1200" u="none" cap="none" strike="noStrike">
              <a:solidFill>
                <a:schemeClr val="dk1"/>
              </a:solidFill>
              <a:latin typeface="Calibri"/>
              <a:ea typeface="Calibri"/>
              <a:cs typeface="Calibri"/>
              <a:sym typeface="Calibri"/>
            </a:endParaRPr>
          </a:p>
        </p:txBody>
      </p:sp>
      <p:sp>
        <p:nvSpPr>
          <p:cNvPr id="1350" name="Google Shape;1350;p81"/>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82"/>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Jejak audit: Timeline, Attachment &amp; Message</a:t>
            </a:r>
            <a:endParaRPr sz="2800"/>
          </a:p>
        </p:txBody>
      </p:sp>
      <p:sp>
        <p:nvSpPr>
          <p:cNvPr id="1357" name="Google Shape;1357;p82"/>
          <p:cNvSpPr/>
          <p:nvPr/>
        </p:nvSpPr>
        <p:spPr>
          <a:xfrm>
            <a:off x="402336" y="996696"/>
            <a:ext cx="4681728" cy="2764287"/>
          </a:xfrm>
          <a:prstGeom prst="roundRect">
            <a:avLst>
              <a:gd fmla="val 2646"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ab Message tampilan admin" id="1358" name="Google Shape;1358;p82"/>
          <p:cNvPicPr preferRelativeResize="0"/>
          <p:nvPr/>
        </p:nvPicPr>
        <p:blipFill rotWithShape="1">
          <a:blip r:embed="rId3">
            <a:alphaModFix/>
          </a:blip>
          <a:srcRect b="0" l="0" r="0" t="0"/>
          <a:stretch/>
        </p:blipFill>
        <p:spPr>
          <a:xfrm>
            <a:off x="457200" y="1051560"/>
            <a:ext cx="4572000" cy="2654559"/>
          </a:xfrm>
          <a:prstGeom prst="rect">
            <a:avLst/>
          </a:prstGeom>
          <a:noFill/>
          <a:ln>
            <a:noFill/>
          </a:ln>
        </p:spPr>
      </p:pic>
      <p:sp>
        <p:nvSpPr>
          <p:cNvPr id="1359" name="Google Shape;1359;p82"/>
          <p:cNvSpPr/>
          <p:nvPr/>
        </p:nvSpPr>
        <p:spPr>
          <a:xfrm>
            <a:off x="5303520" y="105156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60" name="Google Shape;1360;p82"/>
          <p:cNvPicPr preferRelativeResize="0"/>
          <p:nvPr/>
        </p:nvPicPr>
        <p:blipFill rotWithShape="1">
          <a:blip r:embed="rId4">
            <a:alphaModFix/>
          </a:blip>
          <a:srcRect b="0" l="0" r="0" t="0"/>
          <a:stretch/>
        </p:blipFill>
        <p:spPr>
          <a:xfrm>
            <a:off x="5413248" y="1161288"/>
            <a:ext cx="237744" cy="237744"/>
          </a:xfrm>
          <a:prstGeom prst="rect">
            <a:avLst/>
          </a:prstGeom>
          <a:noFill/>
          <a:ln>
            <a:noFill/>
          </a:ln>
        </p:spPr>
      </p:pic>
      <p:sp>
        <p:nvSpPr>
          <p:cNvPr id="1361" name="Google Shape;1361;p82"/>
          <p:cNvSpPr txBox="1"/>
          <p:nvPr/>
        </p:nvSpPr>
        <p:spPr>
          <a:xfrm>
            <a:off x="5897880" y="1051560"/>
            <a:ext cx="27889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Timeline</a:t>
            </a:r>
            <a:endParaRPr b="0" i="0" sz="1400" u="none" cap="none" strike="noStrike">
              <a:solidFill>
                <a:schemeClr val="dk1"/>
              </a:solidFill>
              <a:latin typeface="Calibri"/>
              <a:ea typeface="Calibri"/>
              <a:cs typeface="Calibri"/>
              <a:sym typeface="Calibri"/>
            </a:endParaRPr>
          </a:p>
        </p:txBody>
      </p:sp>
      <p:sp>
        <p:nvSpPr>
          <p:cNvPr id="1362" name="Google Shape;1362;p82"/>
          <p:cNvSpPr txBox="1"/>
          <p:nvPr/>
        </p:nvSpPr>
        <p:spPr>
          <a:xfrm>
            <a:off x="5897880" y="1353312"/>
            <a:ext cx="2788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Tahap Leads → Akad/PPJB dengan tanggal, nominal &amp; status.</a:t>
            </a:r>
            <a:endParaRPr b="0" i="0" sz="1200" u="none" cap="none" strike="noStrike">
              <a:solidFill>
                <a:schemeClr val="dk1"/>
              </a:solidFill>
              <a:latin typeface="Calibri"/>
              <a:ea typeface="Calibri"/>
              <a:cs typeface="Calibri"/>
              <a:sym typeface="Calibri"/>
            </a:endParaRPr>
          </a:p>
        </p:txBody>
      </p:sp>
      <p:sp>
        <p:nvSpPr>
          <p:cNvPr id="1363" name="Google Shape;1363;p82"/>
          <p:cNvSpPr/>
          <p:nvPr/>
        </p:nvSpPr>
        <p:spPr>
          <a:xfrm>
            <a:off x="5303520" y="210312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64" name="Google Shape;1364;p82"/>
          <p:cNvPicPr preferRelativeResize="0"/>
          <p:nvPr/>
        </p:nvPicPr>
        <p:blipFill rotWithShape="1">
          <a:blip r:embed="rId5">
            <a:alphaModFix/>
          </a:blip>
          <a:srcRect b="0" l="0" r="0" t="0"/>
          <a:stretch/>
        </p:blipFill>
        <p:spPr>
          <a:xfrm>
            <a:off x="5413248" y="2212848"/>
            <a:ext cx="237744" cy="237744"/>
          </a:xfrm>
          <a:prstGeom prst="rect">
            <a:avLst/>
          </a:prstGeom>
          <a:noFill/>
          <a:ln>
            <a:noFill/>
          </a:ln>
        </p:spPr>
      </p:pic>
      <p:sp>
        <p:nvSpPr>
          <p:cNvPr id="1365" name="Google Shape;1365;p82"/>
          <p:cNvSpPr txBox="1"/>
          <p:nvPr/>
        </p:nvSpPr>
        <p:spPr>
          <a:xfrm>
            <a:off x="5897880" y="2103120"/>
            <a:ext cx="27889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Attachment</a:t>
            </a:r>
            <a:endParaRPr b="0" i="0" sz="1400" u="none" cap="none" strike="noStrike">
              <a:solidFill>
                <a:schemeClr val="dk1"/>
              </a:solidFill>
              <a:latin typeface="Calibri"/>
              <a:ea typeface="Calibri"/>
              <a:cs typeface="Calibri"/>
              <a:sym typeface="Calibri"/>
            </a:endParaRPr>
          </a:p>
        </p:txBody>
      </p:sp>
      <p:sp>
        <p:nvSpPr>
          <p:cNvPr id="1366" name="Google Shape;1366;p82"/>
          <p:cNvSpPr txBox="1"/>
          <p:nvPr/>
        </p:nvSpPr>
        <p:spPr>
          <a:xfrm>
            <a:off x="5897880" y="2404872"/>
            <a:ext cx="2788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Dokumen per tipe; Verifikasi (Pending/Approved/Rejected), upload maks. 10 file × 10 MB.</a:t>
            </a:r>
            <a:endParaRPr b="0" i="0" sz="1200" u="none" cap="none" strike="noStrike">
              <a:solidFill>
                <a:schemeClr val="dk1"/>
              </a:solidFill>
              <a:latin typeface="Calibri"/>
              <a:ea typeface="Calibri"/>
              <a:cs typeface="Calibri"/>
              <a:sym typeface="Calibri"/>
            </a:endParaRPr>
          </a:p>
        </p:txBody>
      </p:sp>
      <p:sp>
        <p:nvSpPr>
          <p:cNvPr id="1367" name="Google Shape;1367;p82"/>
          <p:cNvSpPr/>
          <p:nvPr/>
        </p:nvSpPr>
        <p:spPr>
          <a:xfrm>
            <a:off x="5303520" y="315468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68" name="Google Shape;1368;p82"/>
          <p:cNvPicPr preferRelativeResize="0"/>
          <p:nvPr/>
        </p:nvPicPr>
        <p:blipFill rotWithShape="1">
          <a:blip r:embed="rId6">
            <a:alphaModFix/>
          </a:blip>
          <a:srcRect b="0" l="0" r="0" t="0"/>
          <a:stretch/>
        </p:blipFill>
        <p:spPr>
          <a:xfrm>
            <a:off x="5413248" y="3264408"/>
            <a:ext cx="237744" cy="237744"/>
          </a:xfrm>
          <a:prstGeom prst="rect">
            <a:avLst/>
          </a:prstGeom>
          <a:noFill/>
          <a:ln>
            <a:noFill/>
          </a:ln>
        </p:spPr>
      </p:pic>
      <p:sp>
        <p:nvSpPr>
          <p:cNvPr id="1369" name="Google Shape;1369;p82"/>
          <p:cNvSpPr txBox="1"/>
          <p:nvPr/>
        </p:nvSpPr>
        <p:spPr>
          <a:xfrm>
            <a:off x="5897880" y="3154680"/>
            <a:ext cx="27889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Message</a:t>
            </a:r>
            <a:endParaRPr b="0" i="0" sz="1400" u="none" cap="none" strike="noStrike">
              <a:solidFill>
                <a:schemeClr val="dk1"/>
              </a:solidFill>
              <a:latin typeface="Calibri"/>
              <a:ea typeface="Calibri"/>
              <a:cs typeface="Calibri"/>
              <a:sym typeface="Calibri"/>
            </a:endParaRPr>
          </a:p>
        </p:txBody>
      </p:sp>
      <p:sp>
        <p:nvSpPr>
          <p:cNvPr id="1370" name="Google Shape;1370;p82"/>
          <p:cNvSpPr txBox="1"/>
          <p:nvPr/>
        </p:nvSpPr>
        <p:spPr>
          <a:xfrm>
            <a:off x="5897880" y="3456432"/>
            <a:ext cx="2788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Log otomatis semua aksi Sales, Kasir &amp; Admin + Tulis Pesan.</a:t>
            </a:r>
            <a:endParaRPr b="0" i="0" sz="1200" u="none" cap="none" strike="noStrike">
              <a:solidFill>
                <a:schemeClr val="dk1"/>
              </a:solidFill>
              <a:latin typeface="Calibri"/>
              <a:ea typeface="Calibri"/>
              <a:cs typeface="Calibri"/>
              <a:sym typeface="Calibri"/>
            </a:endParaRPr>
          </a:p>
        </p:txBody>
      </p:sp>
      <p:sp>
        <p:nvSpPr>
          <p:cNvPr id="1371" name="Google Shape;1371;p82"/>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83"/>
          <p:cNvSpPr txBox="1"/>
          <p:nvPr>
            <p:ph type="title"/>
          </p:nvPr>
        </p:nvSpPr>
        <p:spPr>
          <a:xfrm>
            <a:off x="548640" y="1828800"/>
            <a:ext cx="804672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 sz="3600">
                <a:solidFill>
                  <a:schemeClr val="lt1"/>
                </a:solidFill>
              </a:rPr>
              <a:t>Master data</a:t>
            </a:r>
            <a:endParaRPr sz="3600"/>
          </a:p>
        </p:txBody>
      </p:sp>
      <p:sp>
        <p:nvSpPr>
          <p:cNvPr id="1378" name="Google Shape;1378;p83"/>
          <p:cNvSpPr txBox="1"/>
          <p:nvPr>
            <p:ph idx="1" type="body"/>
          </p:nvPr>
        </p:nvSpPr>
        <p:spPr>
          <a:xfrm>
            <a:off x="548640" y="2834640"/>
            <a:ext cx="8046720" cy="7315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rPr lang="en" sz="1600">
                <a:solidFill>
                  <a:schemeClr val="lt2"/>
                </a:solidFill>
              </a:rPr>
              <a:t>Master Customer Reserve &amp; Master Status Reserve</a:t>
            </a:r>
            <a:endParaRPr sz="1600"/>
          </a:p>
        </p:txBody>
      </p:sp>
      <p:sp>
        <p:nvSpPr>
          <p:cNvPr id="1379" name="Google Shape;1379;p83"/>
          <p:cNvSpPr txBox="1"/>
          <p:nvPr>
            <p:ph idx="4294967295"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84"/>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Master Customer Reserve</a:t>
            </a:r>
            <a:endParaRPr sz="2800"/>
          </a:p>
        </p:txBody>
      </p:sp>
      <p:sp>
        <p:nvSpPr>
          <p:cNvPr id="1386" name="Google Shape;1386;p84"/>
          <p:cNvSpPr/>
          <p:nvPr/>
        </p:nvSpPr>
        <p:spPr>
          <a:xfrm>
            <a:off x="402336" y="996696"/>
            <a:ext cx="5047488" cy="2976652"/>
          </a:xfrm>
          <a:prstGeom prst="roundRect">
            <a:avLst>
              <a:gd fmla="val 2458"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aster Customer Reserve" id="1387" name="Google Shape;1387;p84"/>
          <p:cNvPicPr preferRelativeResize="0"/>
          <p:nvPr/>
        </p:nvPicPr>
        <p:blipFill rotWithShape="1">
          <a:blip r:embed="rId3">
            <a:alphaModFix/>
          </a:blip>
          <a:srcRect b="0" l="0" r="0" t="0"/>
          <a:stretch/>
        </p:blipFill>
        <p:spPr>
          <a:xfrm>
            <a:off x="457200" y="1051560"/>
            <a:ext cx="4937760" cy="2866924"/>
          </a:xfrm>
          <a:prstGeom prst="rect">
            <a:avLst/>
          </a:prstGeom>
          <a:noFill/>
          <a:ln>
            <a:noFill/>
          </a:ln>
        </p:spPr>
      </p:pic>
      <p:sp>
        <p:nvSpPr>
          <p:cNvPr id="1388" name="Google Shape;1388;p84"/>
          <p:cNvSpPr txBox="1"/>
          <p:nvPr/>
        </p:nvSpPr>
        <p:spPr>
          <a:xfrm>
            <a:off x="5669280" y="1051560"/>
            <a:ext cx="3017520" cy="3383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Cari: </a:t>
            </a:r>
            <a:r>
              <a:rPr b="0" i="0" lang="en" sz="1200" u="none" cap="none" strike="noStrike">
                <a:solidFill>
                  <a:schemeClr val="dk1"/>
                </a:solidFill>
                <a:latin typeface="Calibri"/>
                <a:ea typeface="Calibri"/>
                <a:cs typeface="Calibri"/>
                <a:sym typeface="Calibri"/>
              </a:rPr>
              <a:t>nama, KTP, NPWP, HP, email, contact, no. reserve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Kolom: </a:t>
            </a:r>
            <a:r>
              <a:rPr b="0" i="0" lang="en" sz="1200" u="none" cap="none" strike="noStrike">
                <a:solidFill>
                  <a:schemeClr val="dk1"/>
                </a:solidFill>
                <a:latin typeface="Calibri"/>
                <a:ea typeface="Calibri"/>
                <a:cs typeface="Calibri"/>
                <a:sym typeface="Calibri"/>
              </a:rPr>
              <a:t>Customer/KTP, Kontak, Pekerjaan, Status, Contact Terkait, Reserve Order, Dibuat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Action: </a:t>
            </a:r>
            <a:r>
              <a:rPr b="0" i="0" lang="en" sz="1200" u="none" cap="none" strike="noStrike">
                <a:solidFill>
                  <a:schemeClr val="dk1"/>
                </a:solidFill>
                <a:latin typeface="Calibri"/>
                <a:ea typeface="Calibri"/>
                <a:cs typeface="Calibri"/>
                <a:sym typeface="Calibri"/>
              </a:rPr>
              <a:t>Edit / lengkapi data, Hapus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Filter: </a:t>
            </a:r>
            <a:r>
              <a:rPr b="0" i="0" lang="en" sz="1200" u="none" cap="none" strike="noStrike">
                <a:solidFill>
                  <a:schemeClr val="dk1"/>
                </a:solidFill>
                <a:latin typeface="Calibri"/>
                <a:ea typeface="Calibri"/>
                <a:cs typeface="Calibri"/>
                <a:sym typeface="Calibri"/>
              </a:rPr>
              <a:t>Status Customer (Reserve/SP), Kategori Pekerjaan, tanggal dibuat, Contact, Owner, Status Prospek, Project, Sales Team</a:t>
            </a:r>
            <a:endParaRPr b="0" i="0" sz="1200" u="none" cap="none" strike="noStrike">
              <a:solidFill>
                <a:schemeClr val="dk1"/>
              </a:solidFill>
              <a:latin typeface="Calibri"/>
              <a:ea typeface="Calibri"/>
              <a:cs typeface="Calibri"/>
              <a:sym typeface="Calibri"/>
            </a:endParaRPr>
          </a:p>
        </p:txBody>
      </p:sp>
      <p:sp>
        <p:nvSpPr>
          <p:cNvPr id="1389" name="Google Shape;1389;p84"/>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85"/>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Edit Customer Reserve</a:t>
            </a:r>
            <a:endParaRPr sz="2800"/>
          </a:p>
        </p:txBody>
      </p:sp>
      <p:sp>
        <p:nvSpPr>
          <p:cNvPr id="1396" name="Google Shape;1396;p85"/>
          <p:cNvSpPr/>
          <p:nvPr/>
        </p:nvSpPr>
        <p:spPr>
          <a:xfrm>
            <a:off x="402336" y="996696"/>
            <a:ext cx="4087368" cy="2419194"/>
          </a:xfrm>
          <a:prstGeom prst="roundRect">
            <a:avLst>
              <a:gd fmla="val 3024"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orm Edit Customer Reserve" id="1397" name="Google Shape;1397;p85"/>
          <p:cNvPicPr preferRelativeResize="0"/>
          <p:nvPr/>
        </p:nvPicPr>
        <p:blipFill rotWithShape="1">
          <a:blip r:embed="rId3">
            <a:alphaModFix/>
          </a:blip>
          <a:srcRect b="0" l="0" r="0" t="0"/>
          <a:stretch/>
        </p:blipFill>
        <p:spPr>
          <a:xfrm>
            <a:off x="457200" y="1051560"/>
            <a:ext cx="3977640" cy="2309466"/>
          </a:xfrm>
          <a:prstGeom prst="rect">
            <a:avLst/>
          </a:prstGeom>
          <a:noFill/>
          <a:ln>
            <a:noFill/>
          </a:ln>
        </p:spPr>
      </p:pic>
      <p:sp>
        <p:nvSpPr>
          <p:cNvPr id="1398" name="Google Shape;1398;p85"/>
          <p:cNvSpPr/>
          <p:nvPr/>
        </p:nvSpPr>
        <p:spPr>
          <a:xfrm>
            <a:off x="4654296" y="996696"/>
            <a:ext cx="4087368" cy="2419194"/>
          </a:xfrm>
          <a:prstGeom prst="roundRect">
            <a:avLst>
              <a:gd fmla="val 3024"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agian Kuesioner" id="1399" name="Google Shape;1399;p85"/>
          <p:cNvPicPr preferRelativeResize="0"/>
          <p:nvPr/>
        </p:nvPicPr>
        <p:blipFill rotWithShape="1">
          <a:blip r:embed="rId4">
            <a:alphaModFix/>
          </a:blip>
          <a:srcRect b="0" l="0" r="0" t="0"/>
          <a:stretch/>
        </p:blipFill>
        <p:spPr>
          <a:xfrm>
            <a:off x="4709160" y="1051560"/>
            <a:ext cx="3977640" cy="2309466"/>
          </a:xfrm>
          <a:prstGeom prst="rect">
            <a:avLst/>
          </a:prstGeom>
          <a:noFill/>
          <a:ln>
            <a:noFill/>
          </a:ln>
        </p:spPr>
      </p:pic>
      <p:sp>
        <p:nvSpPr>
          <p:cNvPr id="1400" name="Google Shape;1400;p85"/>
          <p:cNvSpPr txBox="1"/>
          <p:nvPr/>
        </p:nvSpPr>
        <p:spPr>
          <a:xfrm>
            <a:off x="457200" y="3502152"/>
            <a:ext cx="39776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 sz="1300" u="none" cap="none" strike="noStrike">
                <a:solidFill>
                  <a:schemeClr val="dk2"/>
                </a:solidFill>
                <a:latin typeface="Calibri"/>
                <a:ea typeface="Calibri"/>
                <a:cs typeface="Calibri"/>
                <a:sym typeface="Calibri"/>
              </a:rPr>
              <a:t>Form + Reserve Order Terkait</a:t>
            </a:r>
            <a:endParaRPr b="0" i="0" sz="1300" u="none" cap="none" strike="noStrike">
              <a:solidFill>
                <a:schemeClr val="dk1"/>
              </a:solidFill>
              <a:latin typeface="Calibri"/>
              <a:ea typeface="Calibri"/>
              <a:cs typeface="Calibri"/>
              <a:sym typeface="Calibri"/>
            </a:endParaRPr>
          </a:p>
        </p:txBody>
      </p:sp>
      <p:sp>
        <p:nvSpPr>
          <p:cNvPr id="1401" name="Google Shape;1401;p85"/>
          <p:cNvSpPr txBox="1"/>
          <p:nvPr/>
        </p:nvSpPr>
        <p:spPr>
          <a:xfrm>
            <a:off x="457200" y="3776472"/>
            <a:ext cx="39776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Isi per bagian, klik Perbarui Customer. Nama &amp; No. HP 1 ikut ke semua RO terkait (dan nama penerima TTS).</a:t>
            </a:r>
            <a:endParaRPr b="0" i="0" sz="1200" u="none" cap="none" strike="noStrike">
              <a:solidFill>
                <a:schemeClr val="dk1"/>
              </a:solidFill>
              <a:latin typeface="Calibri"/>
              <a:ea typeface="Calibri"/>
              <a:cs typeface="Calibri"/>
              <a:sym typeface="Calibri"/>
            </a:endParaRPr>
          </a:p>
        </p:txBody>
      </p:sp>
      <p:sp>
        <p:nvSpPr>
          <p:cNvPr id="1402" name="Google Shape;1402;p85"/>
          <p:cNvSpPr txBox="1"/>
          <p:nvPr/>
        </p:nvSpPr>
        <p:spPr>
          <a:xfrm>
            <a:off x="4709160" y="3502152"/>
            <a:ext cx="39776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 sz="1300" u="none" cap="none" strike="noStrike">
                <a:solidFill>
                  <a:schemeClr val="dk2"/>
                </a:solidFill>
                <a:latin typeface="Calibri"/>
                <a:ea typeface="Calibri"/>
                <a:cs typeface="Calibri"/>
                <a:sym typeface="Calibri"/>
              </a:rPr>
              <a:t>Kuesioner</a:t>
            </a:r>
            <a:endParaRPr b="0" i="0" sz="1300" u="none" cap="none" strike="noStrike">
              <a:solidFill>
                <a:schemeClr val="dk1"/>
              </a:solidFill>
              <a:latin typeface="Calibri"/>
              <a:ea typeface="Calibri"/>
              <a:cs typeface="Calibri"/>
              <a:sym typeface="Calibri"/>
            </a:endParaRPr>
          </a:p>
        </p:txBody>
      </p:sp>
      <p:sp>
        <p:nvSpPr>
          <p:cNvPr id="1403" name="Google Shape;1403;p85"/>
          <p:cNvSpPr txBox="1"/>
          <p:nvPr/>
        </p:nvSpPr>
        <p:spPr>
          <a:xfrm>
            <a:off x="4709160" y="3776472"/>
            <a:ext cx="39776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Properti pilihan lain (cluster, produk, kota) dan Tipe Pembeli: Walk-In / Appointment.</a:t>
            </a:r>
            <a:endParaRPr b="0" i="0" sz="1200" u="none" cap="none" strike="noStrike">
              <a:solidFill>
                <a:schemeClr val="dk1"/>
              </a:solidFill>
              <a:latin typeface="Calibri"/>
              <a:ea typeface="Calibri"/>
              <a:cs typeface="Calibri"/>
              <a:sym typeface="Calibri"/>
            </a:endParaRPr>
          </a:p>
        </p:txBody>
      </p:sp>
      <p:sp>
        <p:nvSpPr>
          <p:cNvPr id="1404" name="Google Shape;1404;p85"/>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86"/>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Master Status Reserve</a:t>
            </a:r>
            <a:endParaRPr sz="2800"/>
          </a:p>
        </p:txBody>
      </p:sp>
      <p:sp>
        <p:nvSpPr>
          <p:cNvPr id="1411" name="Google Shape;1411;p86"/>
          <p:cNvSpPr/>
          <p:nvPr/>
        </p:nvSpPr>
        <p:spPr>
          <a:xfrm>
            <a:off x="402336" y="996696"/>
            <a:ext cx="4681728" cy="2764287"/>
          </a:xfrm>
          <a:prstGeom prst="roundRect">
            <a:avLst>
              <a:gd fmla="val 2646"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aster Status Reserve" id="1412" name="Google Shape;1412;p86"/>
          <p:cNvPicPr preferRelativeResize="0"/>
          <p:nvPr/>
        </p:nvPicPr>
        <p:blipFill rotWithShape="1">
          <a:blip r:embed="rId3">
            <a:alphaModFix/>
          </a:blip>
          <a:srcRect b="0" l="0" r="0" t="0"/>
          <a:stretch/>
        </p:blipFill>
        <p:spPr>
          <a:xfrm>
            <a:off x="457200" y="1051560"/>
            <a:ext cx="4572000" cy="2654559"/>
          </a:xfrm>
          <a:prstGeom prst="rect">
            <a:avLst/>
          </a:prstGeom>
          <a:noFill/>
          <a:ln>
            <a:noFill/>
          </a:ln>
        </p:spPr>
      </p:pic>
      <p:sp>
        <p:nvSpPr>
          <p:cNvPr id="1413" name="Google Shape;1413;p86"/>
          <p:cNvSpPr txBox="1"/>
          <p:nvPr/>
        </p:nvSpPr>
        <p:spPr>
          <a:xfrm>
            <a:off x="5303520" y="1051560"/>
            <a:ext cx="33832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 sz="1300" u="none" cap="none" strike="noStrike">
                <a:solidFill>
                  <a:schemeClr val="dk2"/>
                </a:solidFill>
                <a:latin typeface="Calibri"/>
                <a:ea typeface="Calibri"/>
                <a:cs typeface="Calibri"/>
                <a:sym typeface="Calibri"/>
              </a:rPr>
              <a:t>Pemetaan status RO → status unit</a:t>
            </a:r>
            <a:endParaRPr b="0" i="0" sz="1300" u="none" cap="none" strike="noStrike">
              <a:solidFill>
                <a:schemeClr val="dk1"/>
              </a:solidFill>
              <a:latin typeface="Calibri"/>
              <a:ea typeface="Calibri"/>
              <a:cs typeface="Calibri"/>
              <a:sym typeface="Calibri"/>
            </a:endParaRPr>
          </a:p>
        </p:txBody>
      </p:sp>
      <p:graphicFrame>
        <p:nvGraphicFramePr>
          <p:cNvPr id="1414" name="Google Shape;1414;p86"/>
          <p:cNvGraphicFramePr/>
          <p:nvPr/>
        </p:nvGraphicFramePr>
        <p:xfrm>
          <a:off x="5303520" y="1371600"/>
          <a:ext cx="3000000" cy="3000000"/>
        </p:xfrm>
        <a:graphic>
          <a:graphicData uri="http://schemas.openxmlformats.org/drawingml/2006/table">
            <a:tbl>
              <a:tblPr>
                <a:noFill/>
                <a:tableStyleId>{47ECAFDB-8954-43E7-B7F7-16EFB2354023}</a:tableStyleId>
              </a:tblPr>
              <a:tblGrid>
                <a:gridCol w="1691650"/>
                <a:gridCol w="1691650"/>
              </a:tblGrid>
              <a:tr h="292600">
                <a:tc>
                  <a:txBody>
                    <a:bodyPr/>
                    <a:lstStyle/>
                    <a:p>
                      <a:pPr indent="0" lvl="0" marL="0" marR="0" rtl="0" algn="l">
                        <a:spcBef>
                          <a:spcPts val="0"/>
                        </a:spcBef>
                        <a:spcAft>
                          <a:spcPts val="0"/>
                        </a:spcAft>
                        <a:buClr>
                          <a:srgbClr val="FFFFFF"/>
                        </a:buClr>
                        <a:buSzPts val="1200"/>
                        <a:buFont typeface="Calibri"/>
                        <a:buNone/>
                      </a:pPr>
                      <a:r>
                        <a:rPr b="1" lang="en" sz="1200" u="none" cap="none" strike="noStrike">
                          <a:solidFill>
                            <a:srgbClr val="FFFFFF"/>
                          </a:solidFill>
                          <a:latin typeface="Calibri"/>
                          <a:ea typeface="Calibri"/>
                          <a:cs typeface="Calibri"/>
                          <a:sym typeface="Calibri"/>
                        </a:rPr>
                        <a:t>Status RO</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5B5BD6"/>
                    </a:solidFill>
                  </a:tcPr>
                </a:tc>
                <a:tc>
                  <a:txBody>
                    <a:bodyPr/>
                    <a:lstStyle/>
                    <a:p>
                      <a:pPr indent="0" lvl="0" marL="0" marR="0" rtl="0" algn="l">
                        <a:spcBef>
                          <a:spcPts val="0"/>
                        </a:spcBef>
                        <a:spcAft>
                          <a:spcPts val="0"/>
                        </a:spcAft>
                        <a:buClr>
                          <a:srgbClr val="FFFFFF"/>
                        </a:buClr>
                        <a:buSzPts val="1200"/>
                        <a:buFont typeface="Calibri"/>
                        <a:buNone/>
                      </a:pPr>
                      <a:r>
                        <a:rPr b="1" lang="en" sz="1200" u="none" cap="none" strike="noStrike">
                          <a:solidFill>
                            <a:srgbClr val="FFFFFF"/>
                          </a:solidFill>
                          <a:latin typeface="Calibri"/>
                          <a:ea typeface="Calibri"/>
                          <a:cs typeface="Calibri"/>
                          <a:sym typeface="Calibri"/>
                        </a:rPr>
                        <a:t>Status Unit</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5B5BD6"/>
                    </a:solidFill>
                  </a:tcPr>
                </a:tc>
              </a:tr>
              <a:tr h="292600">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Reserve</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EEF0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Reserve</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EEF0FF"/>
                    </a:solidFill>
                  </a:tcPr>
                </a:tc>
              </a:tr>
              <a:tr h="292600">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Waitinglist</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Reserve</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SP</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EEF0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Ordered</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EEF0FF"/>
                    </a:solidFill>
                  </a:tcPr>
                </a:tc>
              </a:tr>
              <a:tr h="292600">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Reserve Batal</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Sellable</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SP Batal</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EEF0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Sellable</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EEF0FF"/>
                    </a:solidFill>
                  </a:tcPr>
                </a:tc>
              </a:tr>
              <a:tr h="292600">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RBB / RBA</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RBB / RBA</a:t>
                      </a:r>
                      <a:endParaRPr sz="1200" u="none" cap="none" strike="noStrike">
                        <a:latin typeface="Calibri"/>
                        <a:ea typeface="Calibri"/>
                        <a:cs typeface="Calibri"/>
                        <a:sym typeface="Calibri"/>
                      </a:endParaRPr>
                    </a:p>
                  </a:txBody>
                  <a:tcPr marT="45725" marB="45725" marR="45725" marL="45725">
                    <a:lnL cap="flat" cmpd="sng" w="9525">
                      <a:solidFill>
                        <a:srgbClr val="D6D9F7"/>
                      </a:solidFill>
                      <a:prstDash val="solid"/>
                      <a:round/>
                      <a:headEnd len="sm" w="sm" type="none"/>
                      <a:tailEnd len="sm" w="sm" type="none"/>
                    </a:lnL>
                    <a:lnR cap="flat" cmpd="sng" w="9525">
                      <a:solidFill>
                        <a:srgbClr val="D6D9F7"/>
                      </a:solidFill>
                      <a:prstDash val="solid"/>
                      <a:round/>
                      <a:headEnd len="sm" w="sm" type="none"/>
                      <a:tailEnd len="sm" w="sm" type="none"/>
                    </a:lnR>
                    <a:lnT cap="flat" cmpd="sng" w="9525">
                      <a:solidFill>
                        <a:srgbClr val="D6D9F7"/>
                      </a:solidFill>
                      <a:prstDash val="solid"/>
                      <a:round/>
                      <a:headEnd len="sm" w="sm" type="none"/>
                      <a:tailEnd len="sm" w="sm" type="none"/>
                    </a:lnT>
                    <a:lnB cap="flat" cmpd="sng" w="9525">
                      <a:solidFill>
                        <a:srgbClr val="D6D9F7"/>
                      </a:solidFill>
                      <a:prstDash val="solid"/>
                      <a:round/>
                      <a:headEnd len="sm" w="sm" type="none"/>
                      <a:tailEnd len="sm" w="sm" type="none"/>
                    </a:lnB>
                    <a:solidFill>
                      <a:srgbClr val="FFFFFF"/>
                    </a:solidFill>
                  </a:tcPr>
                </a:tc>
              </a:tr>
            </a:tbl>
          </a:graphicData>
        </a:graphic>
      </p:graphicFrame>
      <p:sp>
        <p:nvSpPr>
          <p:cNvPr id="1415" name="Google Shape;1415;p86"/>
          <p:cNvSpPr/>
          <p:nvPr/>
        </p:nvSpPr>
        <p:spPr>
          <a:xfrm>
            <a:off x="457200" y="4023360"/>
            <a:ext cx="8229600" cy="457200"/>
          </a:xfrm>
          <a:prstGeom prst="roundRect">
            <a:avLst>
              <a:gd fmla="val 20000" name="adj"/>
            </a:avLst>
          </a:prstGeom>
          <a:solidFill>
            <a:srgbClr val="FD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86"/>
          <p:cNvSpPr txBox="1"/>
          <p:nvPr/>
        </p:nvSpPr>
        <p:spPr>
          <a:xfrm>
            <a:off x="640080" y="402336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Calibri"/>
              <a:buNone/>
            </a:pPr>
            <a:r>
              <a:rPr b="1" i="0" lang="en" sz="1200" u="none" cap="none" strike="noStrike">
                <a:solidFill>
                  <a:srgbClr val="DC2626"/>
                </a:solidFill>
                <a:latin typeface="Calibri"/>
                <a:ea typeface="Calibri"/>
                <a:cs typeface="Calibri"/>
                <a:sym typeface="Calibri"/>
              </a:rPr>
              <a:t>Tambah Status: </a:t>
            </a:r>
            <a:r>
              <a:rPr b="0" i="0" lang="en" sz="1200" u="none" cap="none" strike="noStrike">
                <a:solidFill>
                  <a:schemeClr val="dk1"/>
                </a:solidFill>
                <a:latin typeface="Calibri"/>
                <a:ea typeface="Calibri"/>
                <a:cs typeface="Calibri"/>
                <a:sym typeface="Calibri"/>
              </a:rPr>
              <a:t>Nama Status, Nama Tampilan, Status Unit, Aktif. Nama status tidak bisa diubah karena dipakai sebagai kunci logika RO; status berlabel Sistem bawaan aplikasi.</a:t>
            </a:r>
            <a:endParaRPr b="0" i="0" sz="1200" u="none" cap="none" strike="noStrike">
              <a:solidFill>
                <a:schemeClr val="dk1"/>
              </a:solidFill>
              <a:latin typeface="Calibri"/>
              <a:ea typeface="Calibri"/>
              <a:cs typeface="Calibri"/>
              <a:sym typeface="Calibri"/>
            </a:endParaRPr>
          </a:p>
        </p:txBody>
      </p:sp>
      <p:sp>
        <p:nvSpPr>
          <p:cNvPr id="1417" name="Google Shape;1417;p86"/>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87"/>
          <p:cNvSpPr txBox="1"/>
          <p:nvPr>
            <p:ph type="title"/>
          </p:nvPr>
        </p:nvSpPr>
        <p:spPr>
          <a:xfrm>
            <a:off x="548640" y="1828800"/>
            <a:ext cx="804672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 sz="3600">
                <a:solidFill>
                  <a:schemeClr val="lt1"/>
                </a:solidFill>
              </a:rPr>
              <a:t>Tanda Terima Sementara (TTS)</a:t>
            </a:r>
            <a:endParaRPr sz="3600"/>
          </a:p>
        </p:txBody>
      </p:sp>
      <p:sp>
        <p:nvSpPr>
          <p:cNvPr id="1424" name="Google Shape;1424;p87"/>
          <p:cNvSpPr txBox="1"/>
          <p:nvPr>
            <p:ph idx="1" type="body"/>
          </p:nvPr>
        </p:nvSpPr>
        <p:spPr>
          <a:xfrm>
            <a:off x="548640" y="2834640"/>
            <a:ext cx="8046720" cy="7315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rPr lang="en" sz="1600">
                <a:solidFill>
                  <a:schemeClr val="lt2"/>
                </a:solidFill>
              </a:rPr>
              <a:t>Memantau semua bukti penerimaan uang lintas Reserve Order, sampai cetak TTS</a:t>
            </a:r>
            <a:endParaRPr sz="1600"/>
          </a:p>
        </p:txBody>
      </p:sp>
      <p:sp>
        <p:nvSpPr>
          <p:cNvPr id="1425" name="Google Shape;1425;p87"/>
          <p:cNvSpPr txBox="1"/>
          <p:nvPr>
            <p:ph idx="4294967295"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0" name="Shape 1430"/>
        <p:cNvGrpSpPr/>
        <p:nvPr/>
      </p:nvGrpSpPr>
      <p:grpSpPr>
        <a:xfrm>
          <a:off x="0" y="0"/>
          <a:ext cx="0" cy="0"/>
          <a:chOff x="0" y="0"/>
          <a:chExt cx="0" cy="0"/>
        </a:xfrm>
      </p:grpSpPr>
      <p:sp>
        <p:nvSpPr>
          <p:cNvPr id="1431" name="Google Shape;1431;p88"/>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Menu Tanda Terima Sementara</a:t>
            </a:r>
            <a:endParaRPr sz="2800"/>
          </a:p>
        </p:txBody>
      </p:sp>
      <p:sp>
        <p:nvSpPr>
          <p:cNvPr id="1432" name="Google Shape;1432;p88"/>
          <p:cNvSpPr/>
          <p:nvPr/>
        </p:nvSpPr>
        <p:spPr>
          <a:xfrm>
            <a:off x="402336" y="996696"/>
            <a:ext cx="5047488" cy="2976652"/>
          </a:xfrm>
          <a:prstGeom prst="roundRect">
            <a:avLst>
              <a:gd fmla="val 2458"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ftar Tanda Terima Sementara" id="1433" name="Google Shape;1433;p88"/>
          <p:cNvPicPr preferRelativeResize="0"/>
          <p:nvPr/>
        </p:nvPicPr>
        <p:blipFill rotWithShape="1">
          <a:blip r:embed="rId3">
            <a:alphaModFix/>
          </a:blip>
          <a:srcRect b="0" l="0" r="0" t="0"/>
          <a:stretch/>
        </p:blipFill>
        <p:spPr>
          <a:xfrm>
            <a:off x="457200" y="1051560"/>
            <a:ext cx="4937760" cy="2866924"/>
          </a:xfrm>
          <a:prstGeom prst="rect">
            <a:avLst/>
          </a:prstGeom>
          <a:noFill/>
          <a:ln>
            <a:noFill/>
          </a:ln>
        </p:spPr>
      </p:pic>
      <p:sp>
        <p:nvSpPr>
          <p:cNvPr id="1434" name="Google Shape;1434;p88"/>
          <p:cNvSpPr/>
          <p:nvPr/>
        </p:nvSpPr>
        <p:spPr>
          <a:xfrm>
            <a:off x="1968759" y="1515105"/>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88"/>
          <p:cNvSpPr txBox="1"/>
          <p:nvPr/>
        </p:nvSpPr>
        <p:spPr>
          <a:xfrm>
            <a:off x="1968759" y="1515105"/>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436" name="Google Shape;1436;p88"/>
          <p:cNvSpPr/>
          <p:nvPr/>
        </p:nvSpPr>
        <p:spPr>
          <a:xfrm>
            <a:off x="3984171" y="1515105"/>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88"/>
          <p:cNvSpPr txBox="1"/>
          <p:nvPr/>
        </p:nvSpPr>
        <p:spPr>
          <a:xfrm>
            <a:off x="3984171" y="1515105"/>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438" name="Google Shape;1438;p88"/>
          <p:cNvSpPr/>
          <p:nvPr/>
        </p:nvSpPr>
        <p:spPr>
          <a:xfrm>
            <a:off x="920745" y="2623582"/>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88"/>
          <p:cNvSpPr txBox="1"/>
          <p:nvPr/>
        </p:nvSpPr>
        <p:spPr>
          <a:xfrm>
            <a:off x="920745" y="262358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440" name="Google Shape;1440;p88"/>
          <p:cNvSpPr/>
          <p:nvPr/>
        </p:nvSpPr>
        <p:spPr>
          <a:xfrm>
            <a:off x="3278777" y="2336385"/>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88"/>
          <p:cNvSpPr txBox="1"/>
          <p:nvPr/>
        </p:nvSpPr>
        <p:spPr>
          <a:xfrm>
            <a:off x="3278777" y="2336385"/>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442" name="Google Shape;1442;p88"/>
          <p:cNvSpPr/>
          <p:nvPr/>
        </p:nvSpPr>
        <p:spPr>
          <a:xfrm>
            <a:off x="5669280" y="10698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88"/>
          <p:cNvSpPr txBox="1"/>
          <p:nvPr/>
        </p:nvSpPr>
        <p:spPr>
          <a:xfrm>
            <a:off x="5669280"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444" name="Google Shape;1444;p88"/>
          <p:cNvSpPr txBox="1"/>
          <p:nvPr/>
        </p:nvSpPr>
        <p:spPr>
          <a:xfrm>
            <a:off x="6080760" y="1051560"/>
            <a:ext cx="2606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Cari</a:t>
            </a:r>
            <a:endParaRPr b="0" i="0" sz="1500" u="none" cap="none" strike="noStrike">
              <a:solidFill>
                <a:schemeClr val="dk1"/>
              </a:solidFill>
              <a:latin typeface="Calibri"/>
              <a:ea typeface="Calibri"/>
              <a:cs typeface="Calibri"/>
              <a:sym typeface="Calibri"/>
            </a:endParaRPr>
          </a:p>
        </p:txBody>
      </p:sp>
      <p:sp>
        <p:nvSpPr>
          <p:cNvPr id="1445" name="Google Shape;1445;p88"/>
          <p:cNvSpPr txBox="1"/>
          <p:nvPr/>
        </p:nvSpPr>
        <p:spPr>
          <a:xfrm>
            <a:off x="6080760" y="1353312"/>
            <a:ext cx="2606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No. TTS, no. reserve, customer, KTP, kavling, sales</a:t>
            </a:r>
            <a:endParaRPr b="0" i="0" sz="1300" u="none" cap="none" strike="noStrike">
              <a:solidFill>
                <a:schemeClr val="dk1"/>
              </a:solidFill>
              <a:latin typeface="Calibri"/>
              <a:ea typeface="Calibri"/>
              <a:cs typeface="Calibri"/>
              <a:sym typeface="Calibri"/>
            </a:endParaRPr>
          </a:p>
        </p:txBody>
      </p:sp>
      <p:sp>
        <p:nvSpPr>
          <p:cNvPr id="1446" name="Google Shape;1446;p88"/>
          <p:cNvSpPr/>
          <p:nvPr/>
        </p:nvSpPr>
        <p:spPr>
          <a:xfrm>
            <a:off x="5669280" y="189280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88"/>
          <p:cNvSpPr txBox="1"/>
          <p:nvPr/>
        </p:nvSpPr>
        <p:spPr>
          <a:xfrm>
            <a:off x="5669280" y="18928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448" name="Google Shape;1448;p88"/>
          <p:cNvSpPr txBox="1"/>
          <p:nvPr/>
        </p:nvSpPr>
        <p:spPr>
          <a:xfrm>
            <a:off x="6080760" y="1874520"/>
            <a:ext cx="2606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Status Bayar &amp; Filter</a:t>
            </a:r>
            <a:endParaRPr b="0" i="0" sz="1500" u="none" cap="none" strike="noStrike">
              <a:solidFill>
                <a:schemeClr val="dk1"/>
              </a:solidFill>
              <a:latin typeface="Calibri"/>
              <a:ea typeface="Calibri"/>
              <a:cs typeface="Calibri"/>
              <a:sym typeface="Calibri"/>
            </a:endParaRPr>
          </a:p>
        </p:txBody>
      </p:sp>
      <p:sp>
        <p:nvSpPr>
          <p:cNvPr id="1449" name="Google Shape;1449;p88"/>
          <p:cNvSpPr txBox="1"/>
          <p:nvPr/>
        </p:nvSpPr>
        <p:spPr>
          <a:xfrm>
            <a:off x="6080760" y="2176272"/>
            <a:ext cx="26060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Menunggu / Disetujui / Ditolak; filter RO, customer, jenis bayar, tanggal, tim sales</a:t>
            </a:r>
            <a:endParaRPr b="0" i="0" sz="1300" u="none" cap="none" strike="noStrike">
              <a:solidFill>
                <a:schemeClr val="dk1"/>
              </a:solidFill>
              <a:latin typeface="Calibri"/>
              <a:ea typeface="Calibri"/>
              <a:cs typeface="Calibri"/>
              <a:sym typeface="Calibri"/>
            </a:endParaRPr>
          </a:p>
        </p:txBody>
      </p:sp>
      <p:sp>
        <p:nvSpPr>
          <p:cNvPr id="1450" name="Google Shape;1450;p88"/>
          <p:cNvSpPr/>
          <p:nvPr/>
        </p:nvSpPr>
        <p:spPr>
          <a:xfrm>
            <a:off x="5669280" y="28986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88"/>
          <p:cNvSpPr txBox="1"/>
          <p:nvPr/>
        </p:nvSpPr>
        <p:spPr>
          <a:xfrm>
            <a:off x="5669280" y="28986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452" name="Google Shape;1452;p88"/>
          <p:cNvSpPr txBox="1"/>
          <p:nvPr/>
        </p:nvSpPr>
        <p:spPr>
          <a:xfrm>
            <a:off x="6080760" y="2880360"/>
            <a:ext cx="2606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Ikon printer</a:t>
            </a:r>
            <a:endParaRPr b="0" i="0" sz="1500" u="none" cap="none" strike="noStrike">
              <a:solidFill>
                <a:schemeClr val="dk1"/>
              </a:solidFill>
              <a:latin typeface="Calibri"/>
              <a:ea typeface="Calibri"/>
              <a:cs typeface="Calibri"/>
              <a:sym typeface="Calibri"/>
            </a:endParaRPr>
          </a:p>
        </p:txBody>
      </p:sp>
      <p:sp>
        <p:nvSpPr>
          <p:cNvPr id="1453" name="Google Shape;1453;p88"/>
          <p:cNvSpPr txBox="1"/>
          <p:nvPr/>
        </p:nvSpPr>
        <p:spPr>
          <a:xfrm>
            <a:off x="6080760" y="3182112"/>
            <a:ext cx="2606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Langsung cetak TTS dari daftar</a:t>
            </a:r>
            <a:endParaRPr b="0" i="0" sz="1300" u="none" cap="none" strike="noStrike">
              <a:solidFill>
                <a:schemeClr val="dk1"/>
              </a:solidFill>
              <a:latin typeface="Calibri"/>
              <a:ea typeface="Calibri"/>
              <a:cs typeface="Calibri"/>
              <a:sym typeface="Calibri"/>
            </a:endParaRPr>
          </a:p>
        </p:txBody>
      </p:sp>
      <p:sp>
        <p:nvSpPr>
          <p:cNvPr id="1454" name="Google Shape;1454;p88"/>
          <p:cNvSpPr/>
          <p:nvPr/>
        </p:nvSpPr>
        <p:spPr>
          <a:xfrm>
            <a:off x="5669280" y="372160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88"/>
          <p:cNvSpPr txBox="1"/>
          <p:nvPr/>
        </p:nvSpPr>
        <p:spPr>
          <a:xfrm>
            <a:off x="5669280" y="37216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456" name="Google Shape;1456;p88"/>
          <p:cNvSpPr txBox="1"/>
          <p:nvPr/>
        </p:nvSpPr>
        <p:spPr>
          <a:xfrm>
            <a:off x="6080760" y="3703320"/>
            <a:ext cx="2606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Klik baris</a:t>
            </a:r>
            <a:endParaRPr b="0" i="0" sz="1500" u="none" cap="none" strike="noStrike">
              <a:solidFill>
                <a:schemeClr val="dk1"/>
              </a:solidFill>
              <a:latin typeface="Calibri"/>
              <a:ea typeface="Calibri"/>
              <a:cs typeface="Calibri"/>
              <a:sym typeface="Calibri"/>
            </a:endParaRPr>
          </a:p>
        </p:txBody>
      </p:sp>
      <p:sp>
        <p:nvSpPr>
          <p:cNvPr id="1457" name="Google Shape;1457;p88"/>
          <p:cNvSpPr txBox="1"/>
          <p:nvPr/>
        </p:nvSpPr>
        <p:spPr>
          <a:xfrm>
            <a:off x="6080760" y="4005072"/>
            <a:ext cx="2606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Membuka halaman Pembayaran TTS</a:t>
            </a:r>
            <a:endParaRPr b="0" i="0" sz="1300" u="none" cap="none" strike="noStrike">
              <a:solidFill>
                <a:schemeClr val="dk1"/>
              </a:solidFill>
              <a:latin typeface="Calibri"/>
              <a:ea typeface="Calibri"/>
              <a:cs typeface="Calibri"/>
              <a:sym typeface="Calibri"/>
            </a:endParaRPr>
          </a:p>
        </p:txBody>
      </p:sp>
      <p:sp>
        <p:nvSpPr>
          <p:cNvPr id="1458" name="Google Shape;1458;p88"/>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89"/>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Halaman Pembayaran TTS</a:t>
            </a:r>
            <a:endParaRPr sz="2800"/>
          </a:p>
        </p:txBody>
      </p:sp>
      <p:sp>
        <p:nvSpPr>
          <p:cNvPr id="1465" name="Google Shape;1465;p89"/>
          <p:cNvSpPr/>
          <p:nvPr/>
        </p:nvSpPr>
        <p:spPr>
          <a:xfrm>
            <a:off x="402336" y="996696"/>
            <a:ext cx="5230368" cy="3082834"/>
          </a:xfrm>
          <a:prstGeom prst="roundRect">
            <a:avLst>
              <a:gd fmla="val 2373"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alaman Pembayaran TTS" id="1466" name="Google Shape;1466;p89"/>
          <p:cNvPicPr preferRelativeResize="0"/>
          <p:nvPr/>
        </p:nvPicPr>
        <p:blipFill rotWithShape="1">
          <a:blip r:embed="rId3">
            <a:alphaModFix/>
          </a:blip>
          <a:srcRect b="0" l="0" r="0" t="0"/>
          <a:stretch/>
        </p:blipFill>
        <p:spPr>
          <a:xfrm>
            <a:off x="457200" y="1051560"/>
            <a:ext cx="5120640" cy="2973106"/>
          </a:xfrm>
          <a:prstGeom prst="rect">
            <a:avLst/>
          </a:prstGeom>
          <a:noFill/>
          <a:ln>
            <a:noFill/>
          </a:ln>
        </p:spPr>
      </p:pic>
      <p:sp>
        <p:nvSpPr>
          <p:cNvPr id="1467" name="Google Shape;1467;p89"/>
          <p:cNvSpPr/>
          <p:nvPr/>
        </p:nvSpPr>
        <p:spPr>
          <a:xfrm>
            <a:off x="1789611" y="1365069"/>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89"/>
          <p:cNvSpPr txBox="1"/>
          <p:nvPr/>
        </p:nvSpPr>
        <p:spPr>
          <a:xfrm>
            <a:off x="1789611" y="1365069"/>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469" name="Google Shape;1469;p89"/>
          <p:cNvSpPr/>
          <p:nvPr/>
        </p:nvSpPr>
        <p:spPr>
          <a:xfrm>
            <a:off x="3749040" y="2201091"/>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89"/>
          <p:cNvSpPr txBox="1"/>
          <p:nvPr/>
        </p:nvSpPr>
        <p:spPr>
          <a:xfrm>
            <a:off x="3749040" y="2201091"/>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471" name="Google Shape;1471;p89"/>
          <p:cNvSpPr/>
          <p:nvPr/>
        </p:nvSpPr>
        <p:spPr>
          <a:xfrm>
            <a:off x="5368834" y="1835331"/>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89"/>
          <p:cNvSpPr txBox="1"/>
          <p:nvPr/>
        </p:nvSpPr>
        <p:spPr>
          <a:xfrm>
            <a:off x="5368834" y="1835331"/>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473" name="Google Shape;1473;p89"/>
          <p:cNvSpPr/>
          <p:nvPr/>
        </p:nvSpPr>
        <p:spPr>
          <a:xfrm>
            <a:off x="5368834" y="2854234"/>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89"/>
          <p:cNvSpPr txBox="1"/>
          <p:nvPr/>
        </p:nvSpPr>
        <p:spPr>
          <a:xfrm>
            <a:off x="5368834" y="285423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475" name="Google Shape;1475;p89"/>
          <p:cNvSpPr/>
          <p:nvPr/>
        </p:nvSpPr>
        <p:spPr>
          <a:xfrm>
            <a:off x="5897880" y="10698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89"/>
          <p:cNvSpPr txBox="1"/>
          <p:nvPr/>
        </p:nvSpPr>
        <p:spPr>
          <a:xfrm>
            <a:off x="5897880"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477" name="Google Shape;1477;p89"/>
          <p:cNvSpPr txBox="1"/>
          <p:nvPr/>
        </p:nvSpPr>
        <p:spPr>
          <a:xfrm>
            <a:off x="6309360" y="105156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Kembali &amp; Print TTS</a:t>
            </a:r>
            <a:endParaRPr b="0" i="0" sz="1500" u="none" cap="none" strike="noStrike">
              <a:solidFill>
                <a:schemeClr val="dk1"/>
              </a:solidFill>
              <a:latin typeface="Calibri"/>
              <a:ea typeface="Calibri"/>
              <a:cs typeface="Calibri"/>
              <a:sym typeface="Calibri"/>
            </a:endParaRPr>
          </a:p>
        </p:txBody>
      </p:sp>
      <p:sp>
        <p:nvSpPr>
          <p:cNvPr id="1478" name="Google Shape;1478;p89"/>
          <p:cNvSpPr txBox="1"/>
          <p:nvPr/>
        </p:nvSpPr>
        <p:spPr>
          <a:xfrm>
            <a:off x="6309360" y="1353312"/>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Kembali ke daftar atau cetak TTS</a:t>
            </a:r>
            <a:endParaRPr b="0" i="0" sz="1300" u="none" cap="none" strike="noStrike">
              <a:solidFill>
                <a:schemeClr val="dk1"/>
              </a:solidFill>
              <a:latin typeface="Calibri"/>
              <a:ea typeface="Calibri"/>
              <a:cs typeface="Calibri"/>
              <a:sym typeface="Calibri"/>
            </a:endParaRPr>
          </a:p>
        </p:txBody>
      </p:sp>
      <p:sp>
        <p:nvSpPr>
          <p:cNvPr id="1479" name="Google Shape;1479;p89"/>
          <p:cNvSpPr/>
          <p:nvPr/>
        </p:nvSpPr>
        <p:spPr>
          <a:xfrm>
            <a:off x="5897880" y="180136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89"/>
          <p:cNvSpPr txBox="1"/>
          <p:nvPr/>
        </p:nvSpPr>
        <p:spPr>
          <a:xfrm>
            <a:off x="5897880" y="180136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481" name="Google Shape;1481;p89"/>
          <p:cNvSpPr txBox="1"/>
          <p:nvPr/>
        </p:nvSpPr>
        <p:spPr>
          <a:xfrm>
            <a:off x="6309360" y="178308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Form TTS (hanya baca)</a:t>
            </a:r>
            <a:endParaRPr b="0" i="0" sz="1500" u="none" cap="none" strike="noStrike">
              <a:solidFill>
                <a:schemeClr val="dk1"/>
              </a:solidFill>
              <a:latin typeface="Calibri"/>
              <a:ea typeface="Calibri"/>
              <a:cs typeface="Calibri"/>
              <a:sym typeface="Calibri"/>
            </a:endParaRPr>
          </a:p>
        </p:txBody>
      </p:sp>
      <p:sp>
        <p:nvSpPr>
          <p:cNvPr id="1482" name="Google Shape;1482;p89"/>
          <p:cNvSpPr txBox="1"/>
          <p:nvPr/>
        </p:nvSpPr>
        <p:spPr>
          <a:xfrm>
            <a:off x="6309360" y="2084832"/>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No. TTS, telah terima dari, jenis bayar, kavling, tanggal</a:t>
            </a:r>
            <a:endParaRPr b="0" i="0" sz="1300" u="none" cap="none" strike="noStrike">
              <a:solidFill>
                <a:schemeClr val="dk1"/>
              </a:solidFill>
              <a:latin typeface="Calibri"/>
              <a:ea typeface="Calibri"/>
              <a:cs typeface="Calibri"/>
              <a:sym typeface="Calibri"/>
            </a:endParaRPr>
          </a:p>
        </p:txBody>
      </p:sp>
      <p:sp>
        <p:nvSpPr>
          <p:cNvPr id="1483" name="Google Shape;1483;p89"/>
          <p:cNvSpPr/>
          <p:nvPr/>
        </p:nvSpPr>
        <p:spPr>
          <a:xfrm>
            <a:off x="5897880" y="253288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89"/>
          <p:cNvSpPr txBox="1"/>
          <p:nvPr/>
        </p:nvSpPr>
        <p:spPr>
          <a:xfrm>
            <a:off x="5897880" y="253288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485" name="Google Shape;1485;p89"/>
          <p:cNvSpPr txBox="1"/>
          <p:nvPr/>
        </p:nvSpPr>
        <p:spPr>
          <a:xfrm>
            <a:off x="6309360" y="251460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Status &amp; Google Sheet (RB)</a:t>
            </a:r>
            <a:endParaRPr b="0" i="0" sz="1500" u="none" cap="none" strike="noStrike">
              <a:solidFill>
                <a:schemeClr val="dk1"/>
              </a:solidFill>
              <a:latin typeface="Calibri"/>
              <a:ea typeface="Calibri"/>
              <a:cs typeface="Calibri"/>
              <a:sym typeface="Calibri"/>
            </a:endParaRPr>
          </a:p>
        </p:txBody>
      </p:sp>
      <p:sp>
        <p:nvSpPr>
          <p:cNvPr id="1486" name="Google Shape;1486;p89"/>
          <p:cNvSpPr txBox="1"/>
          <p:nvPr/>
        </p:nvSpPr>
        <p:spPr>
          <a:xfrm>
            <a:off x="6309360" y="2816352"/>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Disetujui oleh siapa &amp; kapan; tab dan baris sheet</a:t>
            </a:r>
            <a:endParaRPr b="0" i="0" sz="1300" u="none" cap="none" strike="noStrike">
              <a:solidFill>
                <a:schemeClr val="dk1"/>
              </a:solidFill>
              <a:latin typeface="Calibri"/>
              <a:ea typeface="Calibri"/>
              <a:cs typeface="Calibri"/>
              <a:sym typeface="Calibri"/>
            </a:endParaRPr>
          </a:p>
        </p:txBody>
      </p:sp>
      <p:sp>
        <p:nvSpPr>
          <p:cNvPr id="1487" name="Google Shape;1487;p89"/>
          <p:cNvSpPr/>
          <p:nvPr/>
        </p:nvSpPr>
        <p:spPr>
          <a:xfrm>
            <a:off x="5897880" y="326440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89"/>
          <p:cNvSpPr txBox="1"/>
          <p:nvPr/>
        </p:nvSpPr>
        <p:spPr>
          <a:xfrm>
            <a:off x="5897880" y="32644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489" name="Google Shape;1489;p89"/>
          <p:cNvSpPr txBox="1"/>
          <p:nvPr/>
        </p:nvSpPr>
        <p:spPr>
          <a:xfrm>
            <a:off x="6309360" y="324612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Bukti &amp; KTP Pemohon</a:t>
            </a:r>
            <a:endParaRPr b="0" i="0" sz="1500" u="none" cap="none" strike="noStrike">
              <a:solidFill>
                <a:schemeClr val="dk1"/>
              </a:solidFill>
              <a:latin typeface="Calibri"/>
              <a:ea typeface="Calibri"/>
              <a:cs typeface="Calibri"/>
              <a:sym typeface="Calibri"/>
            </a:endParaRPr>
          </a:p>
        </p:txBody>
      </p:sp>
      <p:sp>
        <p:nvSpPr>
          <p:cNvPr id="1490" name="Google Shape;1490;p89"/>
          <p:cNvSpPr txBox="1"/>
          <p:nvPr/>
        </p:nvSpPr>
        <p:spPr>
          <a:xfrm>
            <a:off x="6309360" y="3547872"/>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Dokumen terlampir beserta status verifikasinya</a:t>
            </a:r>
            <a:endParaRPr b="0" i="0" sz="1300" u="none" cap="none" strike="noStrike">
              <a:solidFill>
                <a:schemeClr val="dk1"/>
              </a:solidFill>
              <a:latin typeface="Calibri"/>
              <a:ea typeface="Calibri"/>
              <a:cs typeface="Calibri"/>
              <a:sym typeface="Calibri"/>
            </a:endParaRPr>
          </a:p>
        </p:txBody>
      </p:sp>
      <p:sp>
        <p:nvSpPr>
          <p:cNvPr id="1491" name="Google Shape;1491;p89"/>
          <p:cNvSpPr txBox="1"/>
          <p:nvPr/>
        </p:nvSpPr>
        <p:spPr>
          <a:xfrm>
            <a:off x="457200" y="4160520"/>
            <a:ext cx="8229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1" lang="en" sz="1100" u="none" cap="none" strike="noStrike">
                <a:solidFill>
                  <a:schemeClr val="accent5"/>
                </a:solidFill>
                <a:latin typeface="Calibri"/>
                <a:ea typeface="Calibri"/>
                <a:cs typeface="Calibri"/>
                <a:sym typeface="Calibri"/>
              </a:rPr>
              <a:t>Gambar bukti pembayaran pada screenshot sengaja diburamkan.</a:t>
            </a:r>
            <a:endParaRPr b="0" i="0" sz="1100" u="none" cap="none" strike="noStrike">
              <a:solidFill>
                <a:schemeClr val="dk1"/>
              </a:solidFill>
              <a:latin typeface="Calibri"/>
              <a:ea typeface="Calibri"/>
              <a:cs typeface="Calibri"/>
              <a:sym typeface="Calibri"/>
            </a:endParaRPr>
          </a:p>
        </p:txBody>
      </p:sp>
      <p:sp>
        <p:nvSpPr>
          <p:cNvPr id="1492" name="Google Shape;1492;p89"/>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90"/>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Cara bayar &amp; dokumen pendukung</a:t>
            </a:r>
            <a:endParaRPr sz="2800"/>
          </a:p>
        </p:txBody>
      </p:sp>
      <p:sp>
        <p:nvSpPr>
          <p:cNvPr id="1499" name="Google Shape;1499;p90"/>
          <p:cNvSpPr/>
          <p:nvPr/>
        </p:nvSpPr>
        <p:spPr>
          <a:xfrm>
            <a:off x="402336" y="996696"/>
            <a:ext cx="4315968" cy="2551922"/>
          </a:xfrm>
          <a:prstGeom prst="roundRect">
            <a:avLst>
              <a:gd fmla="val 2867"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lam Bentuk dan dokumen TTS" id="1500" name="Google Shape;1500;p90"/>
          <p:cNvPicPr preferRelativeResize="0"/>
          <p:nvPr/>
        </p:nvPicPr>
        <p:blipFill rotWithShape="1">
          <a:blip r:embed="rId3">
            <a:alphaModFix/>
          </a:blip>
          <a:srcRect b="0" l="0" r="0" t="0"/>
          <a:stretch/>
        </p:blipFill>
        <p:spPr>
          <a:xfrm>
            <a:off x="457200" y="1051560"/>
            <a:ext cx="4206240" cy="2442194"/>
          </a:xfrm>
          <a:prstGeom prst="rect">
            <a:avLst/>
          </a:prstGeom>
          <a:noFill/>
          <a:ln>
            <a:noFill/>
          </a:ln>
        </p:spPr>
      </p:pic>
      <p:sp>
        <p:nvSpPr>
          <p:cNvPr id="1501" name="Google Shape;1501;p90"/>
          <p:cNvSpPr txBox="1"/>
          <p:nvPr/>
        </p:nvSpPr>
        <p:spPr>
          <a:xfrm>
            <a:off x="4937760" y="1051560"/>
            <a:ext cx="374904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Dalam bentuk: </a:t>
            </a:r>
            <a:r>
              <a:rPr b="0" i="0" lang="en" sz="1200" u="none" cap="none" strike="noStrike">
                <a:solidFill>
                  <a:schemeClr val="dk1"/>
                </a:solidFill>
                <a:latin typeface="Calibri"/>
                <a:ea typeface="Calibri"/>
                <a:cs typeface="Calibri"/>
                <a:sym typeface="Calibri"/>
              </a:rPr>
              <a:t>Tunai (tampil status setor ke bank), Transfer Bank / VA (bank &amp; rekening tujuan), Kartu Kredit, Bilyet Giro / Cheque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Cocokkan: </a:t>
            </a:r>
            <a:r>
              <a:rPr b="0" i="0" lang="en" sz="1200" u="none" cap="none" strike="noStrike">
                <a:solidFill>
                  <a:schemeClr val="dk1"/>
                </a:solidFill>
                <a:latin typeface="Calibri"/>
                <a:ea typeface="Calibri"/>
                <a:cs typeface="Calibri"/>
                <a:sym typeface="Calibri"/>
              </a:rPr>
              <a:t>nominal = terbilang, kavling = unit RO, tanggal transfer terisi</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Dokumen: </a:t>
            </a:r>
            <a:r>
              <a:rPr b="0" i="0" lang="en" sz="1200" u="none" cap="none" strike="noStrike">
                <a:solidFill>
                  <a:schemeClr val="dk1"/>
                </a:solidFill>
                <a:latin typeface="Calibri"/>
                <a:ea typeface="Calibri"/>
                <a:cs typeface="Calibri"/>
                <a:sym typeface="Calibri"/>
              </a:rPr>
              <a:t>Bukti Pembayaran &amp; KTP Pemohon harus berstatus Approved</a:t>
            </a:r>
            <a:endParaRPr b="0" i="0" sz="1200" u="none" cap="none" strike="noStrike">
              <a:solidFill>
                <a:schemeClr val="dk1"/>
              </a:solidFill>
              <a:latin typeface="Calibri"/>
              <a:ea typeface="Calibri"/>
              <a:cs typeface="Calibri"/>
              <a:sym typeface="Calibri"/>
            </a:endParaRPr>
          </a:p>
        </p:txBody>
      </p:sp>
      <p:sp>
        <p:nvSpPr>
          <p:cNvPr id="1502" name="Google Shape;1502;p90"/>
          <p:cNvSpPr/>
          <p:nvPr/>
        </p:nvSpPr>
        <p:spPr>
          <a:xfrm>
            <a:off x="457200" y="4069080"/>
            <a:ext cx="8229600" cy="457200"/>
          </a:xfrm>
          <a:prstGeom prst="roundRect">
            <a:avLst>
              <a:gd fmla="val 20000" name="adj"/>
            </a:avLst>
          </a:prstGeom>
          <a:solidFill>
            <a:srgbClr val="FD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90"/>
          <p:cNvSpPr txBox="1"/>
          <p:nvPr/>
        </p:nvSpPr>
        <p:spPr>
          <a:xfrm>
            <a:off x="640080" y="406908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Calibri"/>
              <a:buNone/>
            </a:pPr>
            <a:r>
              <a:rPr b="1" i="0" lang="en" sz="1200" u="none" cap="none" strike="noStrike">
                <a:solidFill>
                  <a:srgbClr val="DC2626"/>
                </a:solidFill>
                <a:latin typeface="Calibri"/>
                <a:ea typeface="Calibri"/>
                <a:cs typeface="Calibri"/>
                <a:sym typeface="Calibri"/>
              </a:rPr>
              <a:t>Perhatian: </a:t>
            </a:r>
            <a:r>
              <a:rPr b="0" i="0" lang="en" sz="1200" u="none" cap="none" strike="noStrike">
                <a:solidFill>
                  <a:schemeClr val="dk1"/>
                </a:solidFill>
                <a:latin typeface="Calibri"/>
                <a:ea typeface="Calibri"/>
                <a:cs typeface="Calibri"/>
                <a:sym typeface="Calibri"/>
              </a:rPr>
              <a:t>Data training memakai lampiran dummy (bukan bukti transfer / KTP asli). Lihat slide berikut untuk ciri dokumen yang valid.</a:t>
            </a:r>
            <a:endParaRPr b="0" i="0" sz="1200" u="none" cap="none" strike="noStrike">
              <a:solidFill>
                <a:schemeClr val="dk1"/>
              </a:solidFill>
              <a:latin typeface="Calibri"/>
              <a:ea typeface="Calibri"/>
              <a:cs typeface="Calibri"/>
              <a:sym typeface="Calibri"/>
            </a:endParaRPr>
          </a:p>
        </p:txBody>
      </p:sp>
      <p:sp>
        <p:nvSpPr>
          <p:cNvPr id="1504" name="Google Shape;1504;p90"/>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sp>
        <p:nvSpPr>
          <p:cNvPr id="1510" name="Google Shape;1510;p91"/>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Ciri dokumen yang valid</a:t>
            </a:r>
            <a:endParaRPr sz="2800"/>
          </a:p>
        </p:txBody>
      </p:sp>
      <p:sp>
        <p:nvSpPr>
          <p:cNvPr id="1511" name="Google Shape;1511;p91"/>
          <p:cNvSpPr/>
          <p:nvPr/>
        </p:nvSpPr>
        <p:spPr>
          <a:xfrm>
            <a:off x="457200" y="1051560"/>
            <a:ext cx="4023360" cy="3429000"/>
          </a:xfrm>
          <a:prstGeom prst="roundRect">
            <a:avLst>
              <a:gd fmla="val 2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91"/>
          <p:cNvSpPr txBox="1"/>
          <p:nvPr/>
        </p:nvSpPr>
        <p:spPr>
          <a:xfrm>
            <a:off x="685800" y="1188720"/>
            <a:ext cx="35661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Bukti transfer</a:t>
            </a:r>
            <a:endParaRPr b="0" i="0" sz="1500" u="none" cap="none" strike="noStrike">
              <a:solidFill>
                <a:schemeClr val="dk1"/>
              </a:solidFill>
              <a:latin typeface="Calibri"/>
              <a:ea typeface="Calibri"/>
              <a:cs typeface="Calibri"/>
              <a:sym typeface="Calibri"/>
            </a:endParaRPr>
          </a:p>
        </p:txBody>
      </p:sp>
      <p:sp>
        <p:nvSpPr>
          <p:cNvPr id="1513" name="Google Shape;1513;p91"/>
          <p:cNvSpPr/>
          <p:nvPr/>
        </p:nvSpPr>
        <p:spPr>
          <a:xfrm>
            <a:off x="685800" y="1600200"/>
            <a:ext cx="3566160" cy="1691640"/>
          </a:xfrm>
          <a:prstGeom prst="roundRect">
            <a:avLst>
              <a:gd fmla="val 3243" name="adj"/>
            </a:avLst>
          </a:prstGeom>
          <a:solidFill>
            <a:srgbClr val="FFFFFF"/>
          </a:solidFill>
          <a:ln cap="flat" cmpd="sng" w="12700">
            <a:solidFill>
              <a:srgbClr val="D6D9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91"/>
          <p:cNvSpPr txBox="1"/>
          <p:nvPr/>
        </p:nvSpPr>
        <p:spPr>
          <a:xfrm>
            <a:off x="822960" y="1691640"/>
            <a:ext cx="13716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Status</a:t>
            </a:r>
            <a:endParaRPr b="0" i="0" sz="1100" u="none" cap="none" strike="noStrike">
              <a:solidFill>
                <a:schemeClr val="dk1"/>
              </a:solidFill>
              <a:latin typeface="Calibri"/>
              <a:ea typeface="Calibri"/>
              <a:cs typeface="Calibri"/>
              <a:sym typeface="Calibri"/>
            </a:endParaRPr>
          </a:p>
        </p:txBody>
      </p:sp>
      <p:sp>
        <p:nvSpPr>
          <p:cNvPr id="1515" name="Google Shape;1515;p91"/>
          <p:cNvSpPr txBox="1"/>
          <p:nvPr/>
        </p:nvSpPr>
        <p:spPr>
          <a:xfrm>
            <a:off x="2194560" y="1691640"/>
            <a:ext cx="196596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Berhasil</a:t>
            </a:r>
            <a:endParaRPr b="0" i="0" sz="1100" u="none" cap="none" strike="noStrike">
              <a:solidFill>
                <a:schemeClr val="dk1"/>
              </a:solidFill>
              <a:latin typeface="Calibri"/>
              <a:ea typeface="Calibri"/>
              <a:cs typeface="Calibri"/>
              <a:sym typeface="Calibri"/>
            </a:endParaRPr>
          </a:p>
        </p:txBody>
      </p:sp>
      <p:sp>
        <p:nvSpPr>
          <p:cNvPr id="1516" name="Google Shape;1516;p91"/>
          <p:cNvSpPr txBox="1"/>
          <p:nvPr/>
        </p:nvSpPr>
        <p:spPr>
          <a:xfrm>
            <a:off x="822960" y="1956816"/>
            <a:ext cx="13716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Tanggal</a:t>
            </a:r>
            <a:endParaRPr b="0" i="0" sz="1100" u="none" cap="none" strike="noStrike">
              <a:solidFill>
                <a:schemeClr val="dk1"/>
              </a:solidFill>
              <a:latin typeface="Calibri"/>
              <a:ea typeface="Calibri"/>
              <a:cs typeface="Calibri"/>
              <a:sym typeface="Calibri"/>
            </a:endParaRPr>
          </a:p>
        </p:txBody>
      </p:sp>
      <p:sp>
        <p:nvSpPr>
          <p:cNvPr id="1517" name="Google Shape;1517;p91"/>
          <p:cNvSpPr txBox="1"/>
          <p:nvPr/>
        </p:nvSpPr>
        <p:spPr>
          <a:xfrm>
            <a:off x="2194560" y="1956816"/>
            <a:ext cx="196596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 Tgl Transfer di TTS</a:t>
            </a:r>
            <a:endParaRPr b="0" i="0" sz="1100" u="none" cap="none" strike="noStrike">
              <a:solidFill>
                <a:schemeClr val="dk1"/>
              </a:solidFill>
              <a:latin typeface="Calibri"/>
              <a:ea typeface="Calibri"/>
              <a:cs typeface="Calibri"/>
              <a:sym typeface="Calibri"/>
            </a:endParaRPr>
          </a:p>
        </p:txBody>
      </p:sp>
      <p:sp>
        <p:nvSpPr>
          <p:cNvPr id="1518" name="Google Shape;1518;p91"/>
          <p:cNvSpPr txBox="1"/>
          <p:nvPr/>
        </p:nvSpPr>
        <p:spPr>
          <a:xfrm>
            <a:off x="822960" y="2221992"/>
            <a:ext cx="13716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Rek. tujuan</a:t>
            </a:r>
            <a:endParaRPr b="0" i="0" sz="1100" u="none" cap="none" strike="noStrike">
              <a:solidFill>
                <a:schemeClr val="dk1"/>
              </a:solidFill>
              <a:latin typeface="Calibri"/>
              <a:ea typeface="Calibri"/>
              <a:cs typeface="Calibri"/>
              <a:sym typeface="Calibri"/>
            </a:endParaRPr>
          </a:p>
        </p:txBody>
      </p:sp>
      <p:sp>
        <p:nvSpPr>
          <p:cNvPr id="1519" name="Google Shape;1519;p91"/>
          <p:cNvSpPr txBox="1"/>
          <p:nvPr/>
        </p:nvSpPr>
        <p:spPr>
          <a:xfrm>
            <a:off x="2194560" y="2221992"/>
            <a:ext cx="196596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 rekening di TTS</a:t>
            </a:r>
            <a:endParaRPr b="0" i="0" sz="1100" u="none" cap="none" strike="noStrike">
              <a:solidFill>
                <a:schemeClr val="dk1"/>
              </a:solidFill>
              <a:latin typeface="Calibri"/>
              <a:ea typeface="Calibri"/>
              <a:cs typeface="Calibri"/>
              <a:sym typeface="Calibri"/>
            </a:endParaRPr>
          </a:p>
        </p:txBody>
      </p:sp>
      <p:sp>
        <p:nvSpPr>
          <p:cNvPr id="1520" name="Google Shape;1520;p91"/>
          <p:cNvSpPr txBox="1"/>
          <p:nvPr/>
        </p:nvSpPr>
        <p:spPr>
          <a:xfrm>
            <a:off x="822960" y="2487168"/>
            <a:ext cx="13716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Pengirim</a:t>
            </a:r>
            <a:endParaRPr b="0" i="0" sz="1100" u="none" cap="none" strike="noStrike">
              <a:solidFill>
                <a:schemeClr val="dk1"/>
              </a:solidFill>
              <a:latin typeface="Calibri"/>
              <a:ea typeface="Calibri"/>
              <a:cs typeface="Calibri"/>
              <a:sym typeface="Calibri"/>
            </a:endParaRPr>
          </a:p>
        </p:txBody>
      </p:sp>
      <p:sp>
        <p:nvSpPr>
          <p:cNvPr id="1521" name="Google Shape;1521;p91"/>
          <p:cNvSpPr txBox="1"/>
          <p:nvPr/>
        </p:nvSpPr>
        <p:spPr>
          <a:xfrm>
            <a:off x="2194560" y="2487168"/>
            <a:ext cx="196596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a.n. customer / keluarga</a:t>
            </a:r>
            <a:endParaRPr b="0" i="0" sz="1100" u="none" cap="none" strike="noStrike">
              <a:solidFill>
                <a:schemeClr val="dk1"/>
              </a:solidFill>
              <a:latin typeface="Calibri"/>
              <a:ea typeface="Calibri"/>
              <a:cs typeface="Calibri"/>
              <a:sym typeface="Calibri"/>
            </a:endParaRPr>
          </a:p>
        </p:txBody>
      </p:sp>
      <p:sp>
        <p:nvSpPr>
          <p:cNvPr id="1522" name="Google Shape;1522;p91"/>
          <p:cNvSpPr txBox="1"/>
          <p:nvPr/>
        </p:nvSpPr>
        <p:spPr>
          <a:xfrm>
            <a:off x="822960" y="2752344"/>
            <a:ext cx="13716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Nominal</a:t>
            </a:r>
            <a:endParaRPr b="0" i="0" sz="1100" u="none" cap="none" strike="noStrike">
              <a:solidFill>
                <a:schemeClr val="dk1"/>
              </a:solidFill>
              <a:latin typeface="Calibri"/>
              <a:ea typeface="Calibri"/>
              <a:cs typeface="Calibri"/>
              <a:sym typeface="Calibri"/>
            </a:endParaRPr>
          </a:p>
        </p:txBody>
      </p:sp>
      <p:sp>
        <p:nvSpPr>
          <p:cNvPr id="1523" name="Google Shape;1523;p91"/>
          <p:cNvSpPr txBox="1"/>
          <p:nvPr/>
        </p:nvSpPr>
        <p:spPr>
          <a:xfrm>
            <a:off x="2194560" y="2752344"/>
            <a:ext cx="196596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 Nominal TTS</a:t>
            </a:r>
            <a:endParaRPr b="0" i="0" sz="1100" u="none" cap="none" strike="noStrike">
              <a:solidFill>
                <a:schemeClr val="dk1"/>
              </a:solidFill>
              <a:latin typeface="Calibri"/>
              <a:ea typeface="Calibri"/>
              <a:cs typeface="Calibri"/>
              <a:sym typeface="Calibri"/>
            </a:endParaRPr>
          </a:p>
        </p:txBody>
      </p:sp>
      <p:sp>
        <p:nvSpPr>
          <p:cNvPr id="1524" name="Google Shape;1524;p91"/>
          <p:cNvSpPr txBox="1"/>
          <p:nvPr/>
        </p:nvSpPr>
        <p:spPr>
          <a:xfrm>
            <a:off x="822960" y="3017520"/>
            <a:ext cx="13716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No. referensi</a:t>
            </a:r>
            <a:endParaRPr b="0" i="0" sz="1100" u="none" cap="none" strike="noStrike">
              <a:solidFill>
                <a:schemeClr val="dk1"/>
              </a:solidFill>
              <a:latin typeface="Calibri"/>
              <a:ea typeface="Calibri"/>
              <a:cs typeface="Calibri"/>
              <a:sym typeface="Calibri"/>
            </a:endParaRPr>
          </a:p>
        </p:txBody>
      </p:sp>
      <p:sp>
        <p:nvSpPr>
          <p:cNvPr id="1525" name="Google Shape;1525;p91"/>
          <p:cNvSpPr txBox="1"/>
          <p:nvPr/>
        </p:nvSpPr>
        <p:spPr>
          <a:xfrm>
            <a:off x="2194560" y="3017520"/>
            <a:ext cx="196596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terlihat jelas</a:t>
            </a:r>
            <a:endParaRPr b="0" i="0" sz="1100" u="none" cap="none" strike="noStrike">
              <a:solidFill>
                <a:schemeClr val="dk1"/>
              </a:solidFill>
              <a:latin typeface="Calibri"/>
              <a:ea typeface="Calibri"/>
              <a:cs typeface="Calibri"/>
              <a:sym typeface="Calibri"/>
            </a:endParaRPr>
          </a:p>
        </p:txBody>
      </p:sp>
      <p:sp>
        <p:nvSpPr>
          <p:cNvPr id="1526" name="Google Shape;1526;p91"/>
          <p:cNvSpPr txBox="1"/>
          <p:nvPr/>
        </p:nvSpPr>
        <p:spPr>
          <a:xfrm rot="-1080000">
            <a:off x="1280160" y="2148840"/>
            <a:ext cx="237744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3600"/>
              <a:buFont typeface="Calibri"/>
              <a:buNone/>
            </a:pPr>
            <a:r>
              <a:rPr b="1" i="0" lang="en" sz="3600" u="none" cap="none" strike="noStrike">
                <a:solidFill>
                  <a:srgbClr val="DC2626"/>
                </a:solidFill>
                <a:latin typeface="Calibri"/>
                <a:ea typeface="Calibri"/>
                <a:cs typeface="Calibri"/>
                <a:sym typeface="Calibri"/>
              </a:rPr>
              <a:t>CONTOH</a:t>
            </a:r>
            <a:endParaRPr b="0" i="0" sz="3600" u="none" cap="none" strike="noStrike">
              <a:solidFill>
                <a:schemeClr val="dk1"/>
              </a:solidFill>
              <a:latin typeface="Calibri"/>
              <a:ea typeface="Calibri"/>
              <a:cs typeface="Calibri"/>
              <a:sym typeface="Calibri"/>
            </a:endParaRPr>
          </a:p>
        </p:txBody>
      </p:sp>
      <p:sp>
        <p:nvSpPr>
          <p:cNvPr id="1527" name="Google Shape;1527;p91"/>
          <p:cNvSpPr/>
          <p:nvPr/>
        </p:nvSpPr>
        <p:spPr>
          <a:xfrm>
            <a:off x="4663440" y="1051560"/>
            <a:ext cx="4023360" cy="3429000"/>
          </a:xfrm>
          <a:prstGeom prst="roundRect">
            <a:avLst>
              <a:gd fmla="val 2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91"/>
          <p:cNvSpPr txBox="1"/>
          <p:nvPr/>
        </p:nvSpPr>
        <p:spPr>
          <a:xfrm>
            <a:off x="4892040" y="1188720"/>
            <a:ext cx="35661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KTP Pemohon</a:t>
            </a:r>
            <a:endParaRPr b="0" i="0" sz="1500" u="none" cap="none" strike="noStrike">
              <a:solidFill>
                <a:schemeClr val="dk1"/>
              </a:solidFill>
              <a:latin typeface="Calibri"/>
              <a:ea typeface="Calibri"/>
              <a:cs typeface="Calibri"/>
              <a:sym typeface="Calibri"/>
            </a:endParaRPr>
          </a:p>
        </p:txBody>
      </p:sp>
      <p:sp>
        <p:nvSpPr>
          <p:cNvPr id="1529" name="Google Shape;1529;p91"/>
          <p:cNvSpPr/>
          <p:nvPr/>
        </p:nvSpPr>
        <p:spPr>
          <a:xfrm>
            <a:off x="4892040" y="1600200"/>
            <a:ext cx="3566160" cy="1691640"/>
          </a:xfrm>
          <a:prstGeom prst="roundRect">
            <a:avLst>
              <a:gd fmla="val 3243" name="adj"/>
            </a:avLst>
          </a:prstGeom>
          <a:solidFill>
            <a:srgbClr val="FFFFFF"/>
          </a:solidFill>
          <a:ln cap="flat" cmpd="sng" w="12700">
            <a:solidFill>
              <a:srgbClr val="D6D9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91"/>
          <p:cNvSpPr txBox="1"/>
          <p:nvPr/>
        </p:nvSpPr>
        <p:spPr>
          <a:xfrm>
            <a:off x="5029200" y="1691640"/>
            <a:ext cx="13716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Nama</a:t>
            </a:r>
            <a:endParaRPr b="0" i="0" sz="1100" u="none" cap="none" strike="noStrike">
              <a:solidFill>
                <a:schemeClr val="dk1"/>
              </a:solidFill>
              <a:latin typeface="Calibri"/>
              <a:ea typeface="Calibri"/>
              <a:cs typeface="Calibri"/>
              <a:sym typeface="Calibri"/>
            </a:endParaRPr>
          </a:p>
        </p:txBody>
      </p:sp>
      <p:sp>
        <p:nvSpPr>
          <p:cNvPr id="1531" name="Google Shape;1531;p91"/>
          <p:cNvSpPr txBox="1"/>
          <p:nvPr/>
        </p:nvSpPr>
        <p:spPr>
          <a:xfrm>
            <a:off x="6400800" y="1691640"/>
            <a:ext cx="196596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 Telah terima dari</a:t>
            </a:r>
            <a:endParaRPr b="0" i="0" sz="1100" u="none" cap="none" strike="noStrike">
              <a:solidFill>
                <a:schemeClr val="dk1"/>
              </a:solidFill>
              <a:latin typeface="Calibri"/>
              <a:ea typeface="Calibri"/>
              <a:cs typeface="Calibri"/>
              <a:sym typeface="Calibri"/>
            </a:endParaRPr>
          </a:p>
        </p:txBody>
      </p:sp>
      <p:sp>
        <p:nvSpPr>
          <p:cNvPr id="1532" name="Google Shape;1532;p91"/>
          <p:cNvSpPr txBox="1"/>
          <p:nvPr/>
        </p:nvSpPr>
        <p:spPr>
          <a:xfrm>
            <a:off x="5029200" y="1956816"/>
            <a:ext cx="13716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NIK</a:t>
            </a:r>
            <a:endParaRPr b="0" i="0" sz="1100" u="none" cap="none" strike="noStrike">
              <a:solidFill>
                <a:schemeClr val="dk1"/>
              </a:solidFill>
              <a:latin typeface="Calibri"/>
              <a:ea typeface="Calibri"/>
              <a:cs typeface="Calibri"/>
              <a:sym typeface="Calibri"/>
            </a:endParaRPr>
          </a:p>
        </p:txBody>
      </p:sp>
      <p:sp>
        <p:nvSpPr>
          <p:cNvPr id="1533" name="Google Shape;1533;p91"/>
          <p:cNvSpPr txBox="1"/>
          <p:nvPr/>
        </p:nvSpPr>
        <p:spPr>
          <a:xfrm>
            <a:off x="6400800" y="1956816"/>
            <a:ext cx="196596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16 digit = No. KTP</a:t>
            </a:r>
            <a:endParaRPr b="0" i="0" sz="1100" u="none" cap="none" strike="noStrike">
              <a:solidFill>
                <a:schemeClr val="dk1"/>
              </a:solidFill>
              <a:latin typeface="Calibri"/>
              <a:ea typeface="Calibri"/>
              <a:cs typeface="Calibri"/>
              <a:sym typeface="Calibri"/>
            </a:endParaRPr>
          </a:p>
        </p:txBody>
      </p:sp>
      <p:sp>
        <p:nvSpPr>
          <p:cNvPr id="1534" name="Google Shape;1534;p91"/>
          <p:cNvSpPr txBox="1"/>
          <p:nvPr/>
        </p:nvSpPr>
        <p:spPr>
          <a:xfrm>
            <a:off x="5029200" y="2221992"/>
            <a:ext cx="13716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Foto</a:t>
            </a:r>
            <a:endParaRPr b="0" i="0" sz="1100" u="none" cap="none" strike="noStrike">
              <a:solidFill>
                <a:schemeClr val="dk1"/>
              </a:solidFill>
              <a:latin typeface="Calibri"/>
              <a:ea typeface="Calibri"/>
              <a:cs typeface="Calibri"/>
              <a:sym typeface="Calibri"/>
            </a:endParaRPr>
          </a:p>
        </p:txBody>
      </p:sp>
      <p:sp>
        <p:nvSpPr>
          <p:cNvPr id="1535" name="Google Shape;1535;p91"/>
          <p:cNvSpPr txBox="1"/>
          <p:nvPr/>
        </p:nvSpPr>
        <p:spPr>
          <a:xfrm>
            <a:off x="6400800" y="2221992"/>
            <a:ext cx="196596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jelas, tidak buram</a:t>
            </a:r>
            <a:endParaRPr b="0" i="0" sz="1100" u="none" cap="none" strike="noStrike">
              <a:solidFill>
                <a:schemeClr val="dk1"/>
              </a:solidFill>
              <a:latin typeface="Calibri"/>
              <a:ea typeface="Calibri"/>
              <a:cs typeface="Calibri"/>
              <a:sym typeface="Calibri"/>
            </a:endParaRPr>
          </a:p>
        </p:txBody>
      </p:sp>
      <p:sp>
        <p:nvSpPr>
          <p:cNvPr id="1536" name="Google Shape;1536;p91"/>
          <p:cNvSpPr txBox="1"/>
          <p:nvPr/>
        </p:nvSpPr>
        <p:spPr>
          <a:xfrm>
            <a:off x="5029200" y="2487168"/>
            <a:ext cx="13716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Kondisi</a:t>
            </a:r>
            <a:endParaRPr b="0" i="0" sz="1100" u="none" cap="none" strike="noStrike">
              <a:solidFill>
                <a:schemeClr val="dk1"/>
              </a:solidFill>
              <a:latin typeface="Calibri"/>
              <a:ea typeface="Calibri"/>
              <a:cs typeface="Calibri"/>
              <a:sym typeface="Calibri"/>
            </a:endParaRPr>
          </a:p>
        </p:txBody>
      </p:sp>
      <p:sp>
        <p:nvSpPr>
          <p:cNvPr id="1537" name="Google Shape;1537;p91"/>
          <p:cNvSpPr txBox="1"/>
          <p:nvPr/>
        </p:nvSpPr>
        <p:spPr>
          <a:xfrm>
            <a:off x="6400800" y="2487168"/>
            <a:ext cx="196596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utuh, tidak terpotong</a:t>
            </a:r>
            <a:endParaRPr b="0" i="0" sz="1100" u="none" cap="none" strike="noStrike">
              <a:solidFill>
                <a:schemeClr val="dk1"/>
              </a:solidFill>
              <a:latin typeface="Calibri"/>
              <a:ea typeface="Calibri"/>
              <a:cs typeface="Calibri"/>
              <a:sym typeface="Calibri"/>
            </a:endParaRPr>
          </a:p>
        </p:txBody>
      </p:sp>
      <p:sp>
        <p:nvSpPr>
          <p:cNvPr id="1538" name="Google Shape;1538;p91"/>
          <p:cNvSpPr txBox="1"/>
          <p:nvPr/>
        </p:nvSpPr>
        <p:spPr>
          <a:xfrm>
            <a:off x="5029200" y="2752344"/>
            <a:ext cx="13716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Masa berlaku</a:t>
            </a:r>
            <a:endParaRPr b="0" i="0" sz="1100" u="none" cap="none" strike="noStrike">
              <a:solidFill>
                <a:schemeClr val="dk1"/>
              </a:solidFill>
              <a:latin typeface="Calibri"/>
              <a:ea typeface="Calibri"/>
              <a:cs typeface="Calibri"/>
              <a:sym typeface="Calibri"/>
            </a:endParaRPr>
          </a:p>
        </p:txBody>
      </p:sp>
      <p:sp>
        <p:nvSpPr>
          <p:cNvPr id="1539" name="Google Shape;1539;p91"/>
          <p:cNvSpPr txBox="1"/>
          <p:nvPr/>
        </p:nvSpPr>
        <p:spPr>
          <a:xfrm>
            <a:off x="6400800" y="2752344"/>
            <a:ext cx="196596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Seumur hidup / berlaku</a:t>
            </a:r>
            <a:endParaRPr b="0" i="0" sz="1100" u="none" cap="none" strike="noStrike">
              <a:solidFill>
                <a:schemeClr val="dk1"/>
              </a:solidFill>
              <a:latin typeface="Calibri"/>
              <a:ea typeface="Calibri"/>
              <a:cs typeface="Calibri"/>
              <a:sym typeface="Calibri"/>
            </a:endParaRPr>
          </a:p>
        </p:txBody>
      </p:sp>
      <p:sp>
        <p:nvSpPr>
          <p:cNvPr id="1540" name="Google Shape;1540;p91"/>
          <p:cNvSpPr txBox="1"/>
          <p:nvPr/>
        </p:nvSpPr>
        <p:spPr>
          <a:xfrm>
            <a:off x="5029200" y="3017520"/>
            <a:ext cx="13716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 sz="1100" u="none" cap="none" strike="noStrike">
                <a:solidFill>
                  <a:schemeClr val="accent5"/>
                </a:solidFill>
                <a:latin typeface="Calibri"/>
                <a:ea typeface="Calibri"/>
                <a:cs typeface="Calibri"/>
                <a:sym typeface="Calibri"/>
              </a:rPr>
              <a:t>File</a:t>
            </a:r>
            <a:endParaRPr b="0" i="0" sz="1100" u="none" cap="none" strike="noStrike">
              <a:solidFill>
                <a:schemeClr val="dk1"/>
              </a:solidFill>
              <a:latin typeface="Calibri"/>
              <a:ea typeface="Calibri"/>
              <a:cs typeface="Calibri"/>
              <a:sym typeface="Calibri"/>
            </a:endParaRPr>
          </a:p>
        </p:txBody>
      </p:sp>
      <p:sp>
        <p:nvSpPr>
          <p:cNvPr id="1541" name="Google Shape;1541;p91"/>
          <p:cNvSpPr txBox="1"/>
          <p:nvPr/>
        </p:nvSpPr>
        <p:spPr>
          <a:xfrm>
            <a:off x="6400800" y="3017520"/>
            <a:ext cx="196596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gambar / PDF ≤ 10 MB</a:t>
            </a:r>
            <a:endParaRPr b="0" i="0" sz="1100" u="none" cap="none" strike="noStrike">
              <a:solidFill>
                <a:schemeClr val="dk1"/>
              </a:solidFill>
              <a:latin typeface="Calibri"/>
              <a:ea typeface="Calibri"/>
              <a:cs typeface="Calibri"/>
              <a:sym typeface="Calibri"/>
            </a:endParaRPr>
          </a:p>
        </p:txBody>
      </p:sp>
      <p:sp>
        <p:nvSpPr>
          <p:cNvPr id="1542" name="Google Shape;1542;p91"/>
          <p:cNvSpPr txBox="1"/>
          <p:nvPr/>
        </p:nvSpPr>
        <p:spPr>
          <a:xfrm rot="-1080000">
            <a:off x="5486400" y="2148840"/>
            <a:ext cx="237744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3600"/>
              <a:buFont typeface="Calibri"/>
              <a:buNone/>
            </a:pPr>
            <a:r>
              <a:rPr b="1" i="0" lang="en" sz="3600" u="none" cap="none" strike="noStrike">
                <a:solidFill>
                  <a:srgbClr val="DC2626"/>
                </a:solidFill>
                <a:latin typeface="Calibri"/>
                <a:ea typeface="Calibri"/>
                <a:cs typeface="Calibri"/>
                <a:sym typeface="Calibri"/>
              </a:rPr>
              <a:t>CONTOH</a:t>
            </a:r>
            <a:endParaRPr b="0" i="0" sz="3600" u="none" cap="none" strike="noStrike">
              <a:solidFill>
                <a:schemeClr val="dk1"/>
              </a:solidFill>
              <a:latin typeface="Calibri"/>
              <a:ea typeface="Calibri"/>
              <a:cs typeface="Calibri"/>
              <a:sym typeface="Calibri"/>
            </a:endParaRPr>
          </a:p>
        </p:txBody>
      </p:sp>
      <p:sp>
        <p:nvSpPr>
          <p:cNvPr id="1543" name="Google Shape;1543;p91"/>
          <p:cNvSpPr txBox="1"/>
          <p:nvPr/>
        </p:nvSpPr>
        <p:spPr>
          <a:xfrm>
            <a:off x="685800" y="3429000"/>
            <a:ext cx="36118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Tolak (Rejected) bila: berupa screenshot chat, nominal / tanggal / rekening tidak cocok, atau gambar buram &amp; terpotong.</a:t>
            </a:r>
            <a:endParaRPr b="0" i="0" sz="1200" u="none" cap="none" strike="noStrike">
              <a:solidFill>
                <a:schemeClr val="dk1"/>
              </a:solidFill>
              <a:latin typeface="Calibri"/>
              <a:ea typeface="Calibri"/>
              <a:cs typeface="Calibri"/>
              <a:sym typeface="Calibri"/>
            </a:endParaRPr>
          </a:p>
        </p:txBody>
      </p:sp>
      <p:sp>
        <p:nvSpPr>
          <p:cNvPr id="1544" name="Google Shape;1544;p91"/>
          <p:cNvSpPr txBox="1"/>
          <p:nvPr/>
        </p:nvSpPr>
        <p:spPr>
          <a:xfrm>
            <a:off x="4892040" y="3429000"/>
            <a:ext cx="36118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 sz="1200" u="none" cap="none" strike="noStrike">
                <a:solidFill>
                  <a:schemeClr val="dk1"/>
                </a:solidFill>
                <a:latin typeface="Calibri"/>
                <a:ea typeface="Calibri"/>
                <a:cs typeface="Calibri"/>
                <a:sym typeface="Calibri"/>
              </a:rPr>
              <a:t>Nama &amp; NIK harus sama dengan data di Master Customer Reserve dan TTS.</a:t>
            </a:r>
            <a:endParaRPr b="0" i="0" sz="1200" u="none" cap="none" strike="noStrike">
              <a:solidFill>
                <a:schemeClr val="dk1"/>
              </a:solidFill>
              <a:latin typeface="Calibri"/>
              <a:ea typeface="Calibri"/>
              <a:cs typeface="Calibri"/>
              <a:sym typeface="Calibri"/>
            </a:endParaRPr>
          </a:p>
        </p:txBody>
      </p:sp>
      <p:sp>
        <p:nvSpPr>
          <p:cNvPr id="1545" name="Google Shape;1545;p91"/>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id="1551" name="Google Shape;1551;p92"/>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Print TTS</a:t>
            </a:r>
            <a:endParaRPr sz="2800"/>
          </a:p>
        </p:txBody>
      </p:sp>
      <p:sp>
        <p:nvSpPr>
          <p:cNvPr id="1552" name="Google Shape;1552;p92"/>
          <p:cNvSpPr/>
          <p:nvPr/>
        </p:nvSpPr>
        <p:spPr>
          <a:xfrm>
            <a:off x="768096" y="996696"/>
            <a:ext cx="3904488" cy="3423063"/>
          </a:xfrm>
          <a:prstGeom prst="roundRect">
            <a:avLst>
              <a:gd fmla="val 2137"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ampilan cetak TTS" id="1553" name="Google Shape;1553;p92"/>
          <p:cNvPicPr preferRelativeResize="0"/>
          <p:nvPr/>
        </p:nvPicPr>
        <p:blipFill rotWithShape="1">
          <a:blip r:embed="rId3">
            <a:alphaModFix/>
          </a:blip>
          <a:srcRect b="0" l="0" r="0" t="0"/>
          <a:stretch/>
        </p:blipFill>
        <p:spPr>
          <a:xfrm>
            <a:off x="822960" y="1051560"/>
            <a:ext cx="3794760" cy="3313335"/>
          </a:xfrm>
          <a:prstGeom prst="rect">
            <a:avLst/>
          </a:prstGeom>
          <a:noFill/>
          <a:ln>
            <a:noFill/>
          </a:ln>
        </p:spPr>
      </p:pic>
      <p:sp>
        <p:nvSpPr>
          <p:cNvPr id="1554" name="Google Shape;1554;p92"/>
          <p:cNvSpPr/>
          <p:nvPr/>
        </p:nvSpPr>
        <p:spPr>
          <a:xfrm>
            <a:off x="5029200" y="10698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92"/>
          <p:cNvSpPr txBox="1"/>
          <p:nvPr/>
        </p:nvSpPr>
        <p:spPr>
          <a:xfrm>
            <a:off x="5029200"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556" name="Google Shape;1556;p92"/>
          <p:cNvSpPr txBox="1"/>
          <p:nvPr/>
        </p:nvSpPr>
        <p:spPr>
          <a:xfrm>
            <a:off x="5440680" y="1051560"/>
            <a:ext cx="3246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Buka</a:t>
            </a:r>
            <a:endParaRPr b="0" i="0" sz="1500" u="none" cap="none" strike="noStrike">
              <a:solidFill>
                <a:schemeClr val="dk1"/>
              </a:solidFill>
              <a:latin typeface="Calibri"/>
              <a:ea typeface="Calibri"/>
              <a:cs typeface="Calibri"/>
              <a:sym typeface="Calibri"/>
            </a:endParaRPr>
          </a:p>
        </p:txBody>
      </p:sp>
      <p:sp>
        <p:nvSpPr>
          <p:cNvPr id="1557" name="Google Shape;1557;p92"/>
          <p:cNvSpPr txBox="1"/>
          <p:nvPr/>
        </p:nvSpPr>
        <p:spPr>
          <a:xfrm>
            <a:off x="5440680" y="1353312"/>
            <a:ext cx="3246120"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Tombol Print TTS di halaman TTS, atau ikon printer di daftar</a:t>
            </a:r>
            <a:endParaRPr b="0" i="0" sz="1300" u="none" cap="none" strike="noStrike">
              <a:solidFill>
                <a:schemeClr val="dk1"/>
              </a:solidFill>
              <a:latin typeface="Calibri"/>
              <a:ea typeface="Calibri"/>
              <a:cs typeface="Calibri"/>
              <a:sym typeface="Calibri"/>
            </a:endParaRPr>
          </a:p>
        </p:txBody>
      </p:sp>
      <p:sp>
        <p:nvSpPr>
          <p:cNvPr id="1558" name="Google Shape;1558;p92"/>
          <p:cNvSpPr/>
          <p:nvPr/>
        </p:nvSpPr>
        <p:spPr>
          <a:xfrm>
            <a:off x="5029200" y="184708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92"/>
          <p:cNvSpPr txBox="1"/>
          <p:nvPr/>
        </p:nvSpPr>
        <p:spPr>
          <a:xfrm>
            <a:off x="5029200" y="184708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560" name="Google Shape;1560;p92"/>
          <p:cNvSpPr txBox="1"/>
          <p:nvPr/>
        </p:nvSpPr>
        <p:spPr>
          <a:xfrm>
            <a:off x="5440680" y="1828800"/>
            <a:ext cx="3246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Periksa</a:t>
            </a:r>
            <a:endParaRPr b="0" i="0" sz="1500" u="none" cap="none" strike="noStrike">
              <a:solidFill>
                <a:schemeClr val="dk1"/>
              </a:solidFill>
              <a:latin typeface="Calibri"/>
              <a:ea typeface="Calibri"/>
              <a:cs typeface="Calibri"/>
              <a:sym typeface="Calibri"/>
            </a:endParaRPr>
          </a:p>
        </p:txBody>
      </p:sp>
      <p:sp>
        <p:nvSpPr>
          <p:cNvPr id="1561" name="Google Shape;1561;p92"/>
          <p:cNvSpPr txBox="1"/>
          <p:nvPr/>
        </p:nvSpPr>
        <p:spPr>
          <a:xfrm>
            <a:off x="5440680" y="2130552"/>
            <a:ext cx="3246120"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Telah terima dari, terbilang, jenis bayar, kavling, cara bayar &amp; TOTAL</a:t>
            </a:r>
            <a:endParaRPr b="0" i="0" sz="1300" u="none" cap="none" strike="noStrike">
              <a:solidFill>
                <a:schemeClr val="dk1"/>
              </a:solidFill>
              <a:latin typeface="Calibri"/>
              <a:ea typeface="Calibri"/>
              <a:cs typeface="Calibri"/>
              <a:sym typeface="Calibri"/>
            </a:endParaRPr>
          </a:p>
        </p:txBody>
      </p:sp>
      <p:sp>
        <p:nvSpPr>
          <p:cNvPr id="1562" name="Google Shape;1562;p92"/>
          <p:cNvSpPr/>
          <p:nvPr/>
        </p:nvSpPr>
        <p:spPr>
          <a:xfrm>
            <a:off x="5029200" y="262432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92"/>
          <p:cNvSpPr txBox="1"/>
          <p:nvPr/>
        </p:nvSpPr>
        <p:spPr>
          <a:xfrm>
            <a:off x="5029200" y="262432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564" name="Google Shape;1564;p92"/>
          <p:cNvSpPr txBox="1"/>
          <p:nvPr/>
        </p:nvSpPr>
        <p:spPr>
          <a:xfrm>
            <a:off x="5440680" y="2606040"/>
            <a:ext cx="3246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Cetak</a:t>
            </a:r>
            <a:endParaRPr b="0" i="0" sz="1500" u="none" cap="none" strike="noStrike">
              <a:solidFill>
                <a:schemeClr val="dk1"/>
              </a:solidFill>
              <a:latin typeface="Calibri"/>
              <a:ea typeface="Calibri"/>
              <a:cs typeface="Calibri"/>
              <a:sym typeface="Calibri"/>
            </a:endParaRPr>
          </a:p>
        </p:txBody>
      </p:sp>
      <p:sp>
        <p:nvSpPr>
          <p:cNvPr id="1565" name="Google Shape;1565;p92"/>
          <p:cNvSpPr txBox="1"/>
          <p:nvPr/>
        </p:nvSpPr>
        <p:spPr>
          <a:xfrm>
            <a:off x="5440680" y="2907792"/>
            <a:ext cx="3246120"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Tab baru terbuka → klik Cetak / Print</a:t>
            </a:r>
            <a:endParaRPr b="0" i="0" sz="1300" u="none" cap="none" strike="noStrike">
              <a:solidFill>
                <a:schemeClr val="dk1"/>
              </a:solidFill>
              <a:latin typeface="Calibri"/>
              <a:ea typeface="Calibri"/>
              <a:cs typeface="Calibri"/>
              <a:sym typeface="Calibri"/>
            </a:endParaRPr>
          </a:p>
        </p:txBody>
      </p:sp>
      <p:sp>
        <p:nvSpPr>
          <p:cNvPr id="1566" name="Google Shape;1566;p92"/>
          <p:cNvSpPr/>
          <p:nvPr/>
        </p:nvSpPr>
        <p:spPr>
          <a:xfrm>
            <a:off x="5029200" y="340156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92"/>
          <p:cNvSpPr txBox="1"/>
          <p:nvPr/>
        </p:nvSpPr>
        <p:spPr>
          <a:xfrm>
            <a:off x="5029200" y="340156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568" name="Google Shape;1568;p92"/>
          <p:cNvSpPr txBox="1"/>
          <p:nvPr/>
        </p:nvSpPr>
        <p:spPr>
          <a:xfrm>
            <a:off x="5440680" y="3383280"/>
            <a:ext cx="3246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Tanda tangan</a:t>
            </a:r>
            <a:endParaRPr b="0" i="0" sz="1500" u="none" cap="none" strike="noStrike">
              <a:solidFill>
                <a:schemeClr val="dk1"/>
              </a:solidFill>
              <a:latin typeface="Calibri"/>
              <a:ea typeface="Calibri"/>
              <a:cs typeface="Calibri"/>
              <a:sym typeface="Calibri"/>
            </a:endParaRPr>
          </a:p>
        </p:txBody>
      </p:sp>
      <p:sp>
        <p:nvSpPr>
          <p:cNvPr id="1569" name="Google Shape;1569;p92"/>
          <p:cNvSpPr txBox="1"/>
          <p:nvPr/>
        </p:nvSpPr>
        <p:spPr>
          <a:xfrm>
            <a:off x="5440680" y="3685032"/>
            <a:ext cx="3246120"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Nama Kasir pemverifikasi, tanggal, catatan legal TTS</a:t>
            </a:r>
            <a:endParaRPr b="0" i="0" sz="1300" u="none" cap="none" strike="noStrike">
              <a:solidFill>
                <a:schemeClr val="dk1"/>
              </a:solidFill>
              <a:latin typeface="Calibri"/>
              <a:ea typeface="Calibri"/>
              <a:cs typeface="Calibri"/>
              <a:sym typeface="Calibri"/>
            </a:endParaRPr>
          </a:p>
        </p:txBody>
      </p:sp>
      <p:sp>
        <p:nvSpPr>
          <p:cNvPr id="1570" name="Google Shape;1570;p92"/>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5" name="Shape 1575"/>
        <p:cNvGrpSpPr/>
        <p:nvPr/>
      </p:nvGrpSpPr>
      <p:grpSpPr>
        <a:xfrm>
          <a:off x="0" y="0"/>
          <a:ext cx="0" cy="0"/>
          <a:chOff x="0" y="0"/>
          <a:chExt cx="0" cy="0"/>
        </a:xfrm>
      </p:grpSpPr>
      <p:sp>
        <p:nvSpPr>
          <p:cNvPr id="1576" name="Google Shape;1576;p93"/>
          <p:cNvSpPr txBox="1"/>
          <p:nvPr>
            <p:ph type="title"/>
          </p:nvPr>
        </p:nvSpPr>
        <p:spPr>
          <a:xfrm>
            <a:off x="548640" y="1828800"/>
            <a:ext cx="8046720" cy="914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600"/>
              <a:buFont typeface="Arial"/>
              <a:buNone/>
            </a:pPr>
            <a:r>
              <a:rPr b="1" lang="en" sz="3600">
                <a:solidFill>
                  <a:schemeClr val="lt1"/>
                </a:solidFill>
              </a:rPr>
              <a:t>Map Siteplan</a:t>
            </a:r>
            <a:endParaRPr sz="3600"/>
          </a:p>
        </p:txBody>
      </p:sp>
      <p:sp>
        <p:nvSpPr>
          <p:cNvPr id="1577" name="Google Shape;1577;p93"/>
          <p:cNvSpPr txBox="1"/>
          <p:nvPr>
            <p:ph idx="1" type="body"/>
          </p:nvPr>
        </p:nvSpPr>
        <p:spPr>
          <a:xfrm>
            <a:off x="548640" y="2834640"/>
            <a:ext cx="8046720" cy="7315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rPr lang="en" sz="1600">
                <a:solidFill>
                  <a:schemeClr val="lt2"/>
                </a:solidFill>
              </a:rPr>
              <a:t>Cek ketersediaan unit sebelum menetapkan / memindah kavling</a:t>
            </a:r>
            <a:endParaRPr sz="1600"/>
          </a:p>
        </p:txBody>
      </p:sp>
      <p:sp>
        <p:nvSpPr>
          <p:cNvPr id="1578" name="Google Shape;1578;p93"/>
          <p:cNvSpPr txBox="1"/>
          <p:nvPr>
            <p:ph idx="4294967295" type="sldNum"/>
          </p:nvPr>
        </p:nvSpPr>
        <p:spPr>
          <a:xfrm>
            <a:off x="841248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3" name="Shape 1583"/>
        <p:cNvGrpSpPr/>
        <p:nvPr/>
      </p:nvGrpSpPr>
      <p:grpSpPr>
        <a:xfrm>
          <a:off x="0" y="0"/>
          <a:ext cx="0" cy="0"/>
          <a:chOff x="0" y="0"/>
          <a:chExt cx="0" cy="0"/>
        </a:xfrm>
      </p:grpSpPr>
      <p:sp>
        <p:nvSpPr>
          <p:cNvPr id="1584" name="Google Shape;1584;p94"/>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Membaca Map Siteplan</a:t>
            </a:r>
            <a:endParaRPr sz="2800"/>
          </a:p>
        </p:txBody>
      </p:sp>
      <p:sp>
        <p:nvSpPr>
          <p:cNvPr id="1585" name="Google Shape;1585;p94"/>
          <p:cNvSpPr/>
          <p:nvPr/>
        </p:nvSpPr>
        <p:spPr>
          <a:xfrm>
            <a:off x="402336" y="996696"/>
            <a:ext cx="5230368" cy="3082834"/>
          </a:xfrm>
          <a:prstGeom prst="roundRect">
            <a:avLst>
              <a:gd fmla="val 2373" name="adj"/>
            </a:avLst>
          </a:prstGeom>
          <a:solidFill>
            <a:schemeClr val="lt2"/>
          </a:solidFill>
          <a:ln cap="flat" cmpd="sng" w="12700">
            <a:solidFill>
              <a:srgbClr val="D6D9F7"/>
            </a:solidFill>
            <a:prstDash val="solid"/>
            <a:round/>
            <a:headEnd len="sm" w="sm" type="none"/>
            <a:tailEnd len="sm" w="sm" type="none"/>
          </a:ln>
          <a:effectLst>
            <a:outerShdw blurRad="101600" rotWithShape="0" algn="bl" dir="5400000" dist="25400">
              <a:srgbClr val="1E1B4B">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ap Siteplan" id="1586" name="Google Shape;1586;p94"/>
          <p:cNvPicPr preferRelativeResize="0"/>
          <p:nvPr/>
        </p:nvPicPr>
        <p:blipFill rotWithShape="1">
          <a:blip r:embed="rId3">
            <a:alphaModFix/>
          </a:blip>
          <a:srcRect b="0" l="0" r="0" t="0"/>
          <a:stretch/>
        </p:blipFill>
        <p:spPr>
          <a:xfrm>
            <a:off x="457200" y="1051560"/>
            <a:ext cx="5120640" cy="2973106"/>
          </a:xfrm>
          <a:prstGeom prst="rect">
            <a:avLst/>
          </a:prstGeom>
          <a:noFill/>
          <a:ln>
            <a:noFill/>
          </a:ln>
        </p:spPr>
      </p:pic>
      <p:sp>
        <p:nvSpPr>
          <p:cNvPr id="1587" name="Google Shape;1587;p94"/>
          <p:cNvSpPr/>
          <p:nvPr/>
        </p:nvSpPr>
        <p:spPr>
          <a:xfrm>
            <a:off x="1789611" y="1783080"/>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94"/>
          <p:cNvSpPr txBox="1"/>
          <p:nvPr/>
        </p:nvSpPr>
        <p:spPr>
          <a:xfrm>
            <a:off x="1789611" y="178308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589" name="Google Shape;1589;p94"/>
          <p:cNvSpPr/>
          <p:nvPr/>
        </p:nvSpPr>
        <p:spPr>
          <a:xfrm>
            <a:off x="2693561" y="1950285"/>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94"/>
          <p:cNvSpPr txBox="1"/>
          <p:nvPr/>
        </p:nvSpPr>
        <p:spPr>
          <a:xfrm>
            <a:off x="2693561" y="1950285"/>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591" name="Google Shape;1591;p94"/>
          <p:cNvSpPr/>
          <p:nvPr/>
        </p:nvSpPr>
        <p:spPr>
          <a:xfrm>
            <a:off x="3801291" y="2619103"/>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94"/>
          <p:cNvSpPr txBox="1"/>
          <p:nvPr/>
        </p:nvSpPr>
        <p:spPr>
          <a:xfrm>
            <a:off x="3801291" y="2619103"/>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593" name="Google Shape;1593;p94"/>
          <p:cNvSpPr/>
          <p:nvPr/>
        </p:nvSpPr>
        <p:spPr>
          <a:xfrm>
            <a:off x="4428309" y="1563624"/>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94"/>
          <p:cNvSpPr txBox="1"/>
          <p:nvPr/>
        </p:nvSpPr>
        <p:spPr>
          <a:xfrm>
            <a:off x="4428309" y="15636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595" name="Google Shape;1595;p94"/>
          <p:cNvSpPr/>
          <p:nvPr/>
        </p:nvSpPr>
        <p:spPr>
          <a:xfrm>
            <a:off x="5897880" y="106984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94"/>
          <p:cNvSpPr txBox="1"/>
          <p:nvPr/>
        </p:nvSpPr>
        <p:spPr>
          <a:xfrm>
            <a:off x="5897880" y="1069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597" name="Google Shape;1597;p94"/>
          <p:cNvSpPr txBox="1"/>
          <p:nvPr/>
        </p:nvSpPr>
        <p:spPr>
          <a:xfrm>
            <a:off x="6309360" y="105156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Pilih siteplan</a:t>
            </a:r>
            <a:endParaRPr b="0" i="0" sz="1500" u="none" cap="none" strike="noStrike">
              <a:solidFill>
                <a:schemeClr val="dk1"/>
              </a:solidFill>
              <a:latin typeface="Calibri"/>
              <a:ea typeface="Calibri"/>
              <a:cs typeface="Calibri"/>
              <a:sym typeface="Calibri"/>
            </a:endParaRPr>
          </a:p>
        </p:txBody>
      </p:sp>
      <p:sp>
        <p:nvSpPr>
          <p:cNvPr id="1598" name="Google Shape;1598;p94"/>
          <p:cNvSpPr txBox="1"/>
          <p:nvPr/>
        </p:nvSpPr>
        <p:spPr>
          <a:xfrm>
            <a:off x="6309360" y="1353312"/>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Per project: Balmoral, Vista, EcoArdence, Ecoscape</a:t>
            </a:r>
            <a:endParaRPr b="0" i="0" sz="1300" u="none" cap="none" strike="noStrike">
              <a:solidFill>
                <a:schemeClr val="dk1"/>
              </a:solidFill>
              <a:latin typeface="Calibri"/>
              <a:ea typeface="Calibri"/>
              <a:cs typeface="Calibri"/>
              <a:sym typeface="Calibri"/>
            </a:endParaRPr>
          </a:p>
        </p:txBody>
      </p:sp>
      <p:sp>
        <p:nvSpPr>
          <p:cNvPr id="1599" name="Google Shape;1599;p94"/>
          <p:cNvSpPr/>
          <p:nvPr/>
        </p:nvSpPr>
        <p:spPr>
          <a:xfrm>
            <a:off x="5897880" y="180136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94"/>
          <p:cNvSpPr txBox="1"/>
          <p:nvPr/>
        </p:nvSpPr>
        <p:spPr>
          <a:xfrm>
            <a:off x="5897880" y="180136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601" name="Google Shape;1601;p94"/>
          <p:cNvSpPr txBox="1"/>
          <p:nvPr/>
        </p:nvSpPr>
        <p:spPr>
          <a:xfrm>
            <a:off x="6309360" y="178308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Legenda</a:t>
            </a:r>
            <a:endParaRPr b="0" i="0" sz="1500" u="none" cap="none" strike="noStrike">
              <a:solidFill>
                <a:schemeClr val="dk1"/>
              </a:solidFill>
              <a:latin typeface="Calibri"/>
              <a:ea typeface="Calibri"/>
              <a:cs typeface="Calibri"/>
              <a:sym typeface="Calibri"/>
            </a:endParaRPr>
          </a:p>
        </p:txBody>
      </p:sp>
      <p:sp>
        <p:nvSpPr>
          <p:cNvPr id="1602" name="Google Shape;1602;p94"/>
          <p:cNvSpPr txBox="1"/>
          <p:nvPr/>
        </p:nvSpPr>
        <p:spPr>
          <a:xfrm>
            <a:off x="6309360" y="2084832"/>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Hijau Available · Merah Hold · Biru SP</a:t>
            </a:r>
            <a:endParaRPr b="0" i="0" sz="1300" u="none" cap="none" strike="noStrike">
              <a:solidFill>
                <a:schemeClr val="dk1"/>
              </a:solidFill>
              <a:latin typeface="Calibri"/>
              <a:ea typeface="Calibri"/>
              <a:cs typeface="Calibri"/>
              <a:sym typeface="Calibri"/>
            </a:endParaRPr>
          </a:p>
        </p:txBody>
      </p:sp>
      <p:sp>
        <p:nvSpPr>
          <p:cNvPr id="1603" name="Google Shape;1603;p94"/>
          <p:cNvSpPr/>
          <p:nvPr/>
        </p:nvSpPr>
        <p:spPr>
          <a:xfrm>
            <a:off x="5897880" y="253288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94"/>
          <p:cNvSpPr txBox="1"/>
          <p:nvPr/>
        </p:nvSpPr>
        <p:spPr>
          <a:xfrm>
            <a:off x="5897880" y="253288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605" name="Google Shape;1605;p94"/>
          <p:cNvSpPr txBox="1"/>
          <p:nvPr/>
        </p:nvSpPr>
        <p:spPr>
          <a:xfrm>
            <a:off x="6309360" y="251460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Klik unit</a:t>
            </a:r>
            <a:endParaRPr b="0" i="0" sz="1500" u="none" cap="none" strike="noStrike">
              <a:solidFill>
                <a:schemeClr val="dk1"/>
              </a:solidFill>
              <a:latin typeface="Calibri"/>
              <a:ea typeface="Calibri"/>
              <a:cs typeface="Calibri"/>
              <a:sym typeface="Calibri"/>
            </a:endParaRPr>
          </a:p>
        </p:txBody>
      </p:sp>
      <p:sp>
        <p:nvSpPr>
          <p:cNvPr id="1606" name="Google Shape;1606;p94"/>
          <p:cNvSpPr txBox="1"/>
          <p:nvPr/>
        </p:nvSpPr>
        <p:spPr>
          <a:xfrm>
            <a:off x="6309360" y="2816352"/>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Melihat harga &amp; simulasi unit</a:t>
            </a:r>
            <a:endParaRPr b="0" i="0" sz="1300" u="none" cap="none" strike="noStrike">
              <a:solidFill>
                <a:schemeClr val="dk1"/>
              </a:solidFill>
              <a:latin typeface="Calibri"/>
              <a:ea typeface="Calibri"/>
              <a:cs typeface="Calibri"/>
              <a:sym typeface="Calibri"/>
            </a:endParaRPr>
          </a:p>
        </p:txBody>
      </p:sp>
      <p:sp>
        <p:nvSpPr>
          <p:cNvPr id="1607" name="Google Shape;1607;p94"/>
          <p:cNvSpPr/>
          <p:nvPr/>
        </p:nvSpPr>
        <p:spPr>
          <a:xfrm>
            <a:off x="5897880" y="3264408"/>
            <a:ext cx="292608" cy="29260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94"/>
          <p:cNvSpPr txBox="1"/>
          <p:nvPr/>
        </p:nvSpPr>
        <p:spPr>
          <a:xfrm>
            <a:off x="5897880" y="32644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 sz="1200" u="none" cap="none" strike="noStrike">
                <a:solidFill>
                  <a:schemeClr val="dk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609" name="Google Shape;1609;p94"/>
          <p:cNvSpPr txBox="1"/>
          <p:nvPr/>
        </p:nvSpPr>
        <p:spPr>
          <a:xfrm>
            <a:off x="6309360" y="3246120"/>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Tampilan</a:t>
            </a:r>
            <a:endParaRPr b="0" i="0" sz="1500" u="none" cap="none" strike="noStrike">
              <a:solidFill>
                <a:schemeClr val="dk1"/>
              </a:solidFill>
              <a:latin typeface="Calibri"/>
              <a:ea typeface="Calibri"/>
              <a:cs typeface="Calibri"/>
              <a:sym typeface="Calibri"/>
            </a:endParaRPr>
          </a:p>
        </p:txBody>
      </p:sp>
      <p:sp>
        <p:nvSpPr>
          <p:cNvPr id="1610" name="Google Shape;1610;p94"/>
          <p:cNvSpPr txBox="1"/>
          <p:nvPr/>
        </p:nvSpPr>
        <p:spPr>
          <a:xfrm>
            <a:off x="6309360" y="3547872"/>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 sz="1300" u="none" cap="none" strike="noStrike">
                <a:solidFill>
                  <a:schemeClr val="dk1"/>
                </a:solidFill>
                <a:latin typeface="Calibri"/>
                <a:ea typeface="Calibri"/>
                <a:cs typeface="Calibri"/>
                <a:sym typeface="Calibri"/>
              </a:rPr>
              <a:t>Layar Penuh, Muat Ulang, Tab Baru, zoom +/−</a:t>
            </a:r>
            <a:endParaRPr b="0" i="0" sz="1300" u="none" cap="none" strike="noStrike">
              <a:solidFill>
                <a:schemeClr val="dk1"/>
              </a:solidFill>
              <a:latin typeface="Calibri"/>
              <a:ea typeface="Calibri"/>
              <a:cs typeface="Calibri"/>
              <a:sym typeface="Calibri"/>
            </a:endParaRPr>
          </a:p>
        </p:txBody>
      </p:sp>
      <p:sp>
        <p:nvSpPr>
          <p:cNvPr id="1611" name="Google Shape;1611;p94"/>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6" name="Shape 1616"/>
        <p:cNvGrpSpPr/>
        <p:nvPr/>
      </p:nvGrpSpPr>
      <p:grpSpPr>
        <a:xfrm>
          <a:off x="0" y="0"/>
          <a:ext cx="0" cy="0"/>
          <a:chOff x="0" y="0"/>
          <a:chExt cx="0" cy="0"/>
        </a:xfrm>
      </p:grpSpPr>
      <p:sp>
        <p:nvSpPr>
          <p:cNvPr id="1617" name="Google Shape;1617;p95"/>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Checklist harian &amp; do / don't Admin</a:t>
            </a:r>
            <a:endParaRPr sz="2800"/>
          </a:p>
        </p:txBody>
      </p:sp>
      <p:sp>
        <p:nvSpPr>
          <p:cNvPr id="1618" name="Google Shape;1618;p95"/>
          <p:cNvSpPr/>
          <p:nvPr/>
        </p:nvSpPr>
        <p:spPr>
          <a:xfrm>
            <a:off x="457200" y="1051560"/>
            <a:ext cx="3977640" cy="3474720"/>
          </a:xfrm>
          <a:prstGeom prst="roundRect">
            <a:avLst>
              <a:gd fmla="val 263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95"/>
          <p:cNvSpPr/>
          <p:nvPr/>
        </p:nvSpPr>
        <p:spPr>
          <a:xfrm>
            <a:off x="685800" y="123444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20" name="Google Shape;1620;p95"/>
          <p:cNvPicPr preferRelativeResize="0"/>
          <p:nvPr/>
        </p:nvPicPr>
        <p:blipFill rotWithShape="1">
          <a:blip r:embed="rId3">
            <a:alphaModFix/>
          </a:blip>
          <a:srcRect b="0" l="0" r="0" t="0"/>
          <a:stretch/>
        </p:blipFill>
        <p:spPr>
          <a:xfrm>
            <a:off x="795528" y="1344168"/>
            <a:ext cx="237744" cy="237744"/>
          </a:xfrm>
          <a:prstGeom prst="rect">
            <a:avLst/>
          </a:prstGeom>
          <a:noFill/>
          <a:ln>
            <a:noFill/>
          </a:ln>
        </p:spPr>
      </p:pic>
      <p:sp>
        <p:nvSpPr>
          <p:cNvPr id="1621" name="Google Shape;1621;p95"/>
          <p:cNvSpPr txBox="1"/>
          <p:nvPr/>
        </p:nvSpPr>
        <p:spPr>
          <a:xfrm>
            <a:off x="1280160" y="1234440"/>
            <a:ext cx="2926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 sz="1600" u="none" cap="none" strike="noStrike">
                <a:solidFill>
                  <a:schemeClr val="dk2"/>
                </a:solidFill>
                <a:latin typeface="Calibri"/>
                <a:ea typeface="Calibri"/>
                <a:cs typeface="Calibri"/>
                <a:sym typeface="Calibri"/>
              </a:rPr>
              <a:t>Checklist harian</a:t>
            </a:r>
            <a:endParaRPr b="0" i="0" sz="1600" u="none" cap="none" strike="noStrike">
              <a:solidFill>
                <a:schemeClr val="dk1"/>
              </a:solidFill>
              <a:latin typeface="Calibri"/>
              <a:ea typeface="Calibri"/>
              <a:cs typeface="Calibri"/>
              <a:sym typeface="Calibri"/>
            </a:endParaRPr>
          </a:p>
        </p:txBody>
      </p:sp>
      <p:sp>
        <p:nvSpPr>
          <p:cNvPr id="1622" name="Google Shape;1622;p95"/>
          <p:cNvSpPr txBox="1"/>
          <p:nvPr/>
        </p:nvSpPr>
        <p:spPr>
          <a:xfrm>
            <a:off x="685800" y="1828800"/>
            <a:ext cx="356616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Refresh tab Sales Admin di awal &amp; akhir hari</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Selesaikan baris kuning (pembayaran baru)</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Cocokkan data customer dengan KTP</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Pastikan kavling sesuai Map Siteplan</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Cek Google Sheet (DSR) tersinkron</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Lengkapi data di Master Customer</a:t>
            </a:r>
            <a:endParaRPr b="0" i="0" sz="1300" u="none" cap="none" strike="noStrike">
              <a:solidFill>
                <a:schemeClr val="dk1"/>
              </a:solidFill>
              <a:latin typeface="Calibri"/>
              <a:ea typeface="Calibri"/>
              <a:cs typeface="Calibri"/>
              <a:sym typeface="Calibri"/>
            </a:endParaRPr>
          </a:p>
        </p:txBody>
      </p:sp>
      <p:sp>
        <p:nvSpPr>
          <p:cNvPr id="1623" name="Google Shape;1623;p95"/>
          <p:cNvSpPr/>
          <p:nvPr/>
        </p:nvSpPr>
        <p:spPr>
          <a:xfrm>
            <a:off x="4709160" y="1051560"/>
            <a:ext cx="457200" cy="457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24" name="Google Shape;1624;p95"/>
          <p:cNvPicPr preferRelativeResize="0"/>
          <p:nvPr/>
        </p:nvPicPr>
        <p:blipFill rotWithShape="1">
          <a:blip r:embed="rId4">
            <a:alphaModFix/>
          </a:blip>
          <a:srcRect b="0" l="0" r="0" t="0"/>
          <a:stretch/>
        </p:blipFill>
        <p:spPr>
          <a:xfrm>
            <a:off x="4818888" y="1161288"/>
            <a:ext cx="237744" cy="237744"/>
          </a:xfrm>
          <a:prstGeom prst="rect">
            <a:avLst/>
          </a:prstGeom>
          <a:noFill/>
          <a:ln>
            <a:noFill/>
          </a:ln>
        </p:spPr>
      </p:pic>
      <p:sp>
        <p:nvSpPr>
          <p:cNvPr id="1625" name="Google Shape;1625;p95"/>
          <p:cNvSpPr txBox="1"/>
          <p:nvPr/>
        </p:nvSpPr>
        <p:spPr>
          <a:xfrm>
            <a:off x="5303520" y="105156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 sz="1600" u="none" cap="none" strike="noStrike">
                <a:solidFill>
                  <a:schemeClr val="dk2"/>
                </a:solidFill>
                <a:latin typeface="Calibri"/>
                <a:ea typeface="Calibri"/>
                <a:cs typeface="Calibri"/>
                <a:sym typeface="Calibri"/>
              </a:rPr>
              <a:t>Lakukan</a:t>
            </a:r>
            <a:endParaRPr b="0" i="0" sz="1600" u="none" cap="none" strike="noStrike">
              <a:solidFill>
                <a:schemeClr val="dk1"/>
              </a:solidFill>
              <a:latin typeface="Calibri"/>
              <a:ea typeface="Calibri"/>
              <a:cs typeface="Calibri"/>
              <a:sym typeface="Calibri"/>
            </a:endParaRPr>
          </a:p>
        </p:txBody>
      </p:sp>
      <p:sp>
        <p:nvSpPr>
          <p:cNvPr id="1626" name="Google Shape;1626;p95"/>
          <p:cNvSpPr txBox="1"/>
          <p:nvPr/>
        </p:nvSpPr>
        <p:spPr>
          <a:xfrm>
            <a:off x="5303520" y="1554480"/>
            <a:ext cx="3383280" cy="11430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Isi Alasan Batal &amp; catatan yang jelas</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Gunakan Message untuk koordinasi</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Sync ulang sheet setelah koreksi</a:t>
            </a:r>
            <a:endParaRPr b="0" i="0" sz="1300" u="none" cap="none" strike="noStrike">
              <a:solidFill>
                <a:schemeClr val="dk1"/>
              </a:solidFill>
              <a:latin typeface="Calibri"/>
              <a:ea typeface="Calibri"/>
              <a:cs typeface="Calibri"/>
              <a:sym typeface="Calibri"/>
            </a:endParaRPr>
          </a:p>
        </p:txBody>
      </p:sp>
      <p:sp>
        <p:nvSpPr>
          <p:cNvPr id="1627" name="Google Shape;1627;p95"/>
          <p:cNvSpPr/>
          <p:nvPr/>
        </p:nvSpPr>
        <p:spPr>
          <a:xfrm>
            <a:off x="4709160" y="2834640"/>
            <a:ext cx="457200" cy="457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28" name="Google Shape;1628;p95"/>
          <p:cNvPicPr preferRelativeResize="0"/>
          <p:nvPr/>
        </p:nvPicPr>
        <p:blipFill rotWithShape="1">
          <a:blip r:embed="rId5">
            <a:alphaModFix/>
          </a:blip>
          <a:srcRect b="0" l="0" r="0" t="0"/>
          <a:stretch/>
        </p:blipFill>
        <p:spPr>
          <a:xfrm>
            <a:off x="4818888" y="2944368"/>
            <a:ext cx="237744" cy="237744"/>
          </a:xfrm>
          <a:prstGeom prst="rect">
            <a:avLst/>
          </a:prstGeom>
          <a:noFill/>
          <a:ln>
            <a:noFill/>
          </a:ln>
        </p:spPr>
      </p:pic>
      <p:sp>
        <p:nvSpPr>
          <p:cNvPr id="1629" name="Google Shape;1629;p95"/>
          <p:cNvSpPr txBox="1"/>
          <p:nvPr/>
        </p:nvSpPr>
        <p:spPr>
          <a:xfrm>
            <a:off x="5303520" y="283464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 sz="1600" u="none" cap="none" strike="noStrike">
                <a:solidFill>
                  <a:schemeClr val="dk2"/>
                </a:solidFill>
                <a:latin typeface="Calibri"/>
                <a:ea typeface="Calibri"/>
                <a:cs typeface="Calibri"/>
                <a:sym typeface="Calibri"/>
              </a:rPr>
              <a:t>Hindari</a:t>
            </a:r>
            <a:endParaRPr b="0" i="0" sz="1600" u="none" cap="none" strike="noStrike">
              <a:solidFill>
                <a:schemeClr val="dk1"/>
              </a:solidFill>
              <a:latin typeface="Calibri"/>
              <a:ea typeface="Calibri"/>
              <a:cs typeface="Calibri"/>
              <a:sym typeface="Calibri"/>
            </a:endParaRPr>
          </a:p>
        </p:txBody>
      </p:sp>
      <p:sp>
        <p:nvSpPr>
          <p:cNvPr id="1630" name="Google Shape;1630;p95"/>
          <p:cNvSpPr txBox="1"/>
          <p:nvPr/>
        </p:nvSpPr>
        <p:spPr>
          <a:xfrm>
            <a:off x="5303520" y="3337560"/>
            <a:ext cx="3383280" cy="11430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Approve sebelum pembayaran disetujui Kasir</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Mengubah status unit di master tanpa izin</a:t>
            </a:r>
            <a:endParaRPr b="0" i="0" sz="13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chemeClr val="dk1"/>
              </a:buClr>
              <a:buSzPts val="1300"/>
              <a:buFont typeface="Calibri"/>
              <a:buChar char="•"/>
            </a:pPr>
            <a:r>
              <a:rPr b="0" i="0" lang="en" sz="1300" u="none" cap="none" strike="noStrike">
                <a:solidFill>
                  <a:schemeClr val="dk1"/>
                </a:solidFill>
                <a:latin typeface="Calibri"/>
                <a:ea typeface="Calibri"/>
                <a:cs typeface="Calibri"/>
                <a:sym typeface="Calibri"/>
              </a:rPr>
              <a:t>Menghapus customer yang punya RO aktif</a:t>
            </a:r>
            <a:endParaRPr b="0" i="0" sz="1300" u="none" cap="none" strike="noStrike">
              <a:solidFill>
                <a:schemeClr val="dk1"/>
              </a:solidFill>
              <a:latin typeface="Calibri"/>
              <a:ea typeface="Calibri"/>
              <a:cs typeface="Calibri"/>
              <a:sym typeface="Calibri"/>
            </a:endParaRPr>
          </a:p>
        </p:txBody>
      </p:sp>
      <p:sp>
        <p:nvSpPr>
          <p:cNvPr id="1631" name="Google Shape;1631;p95"/>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6" name="Shape 1636"/>
        <p:cNvGrpSpPr/>
        <p:nvPr/>
      </p:nvGrpSpPr>
      <p:grpSpPr>
        <a:xfrm>
          <a:off x="0" y="0"/>
          <a:ext cx="0" cy="0"/>
          <a:chOff x="0" y="0"/>
          <a:chExt cx="0" cy="0"/>
        </a:xfrm>
      </p:grpSpPr>
      <p:sp>
        <p:nvSpPr>
          <p:cNvPr id="1637" name="Google Shape;1637;p96"/>
          <p:cNvSpPr txBox="1"/>
          <p:nvPr>
            <p:ph type="title"/>
          </p:nvPr>
        </p:nvSpPr>
        <p:spPr>
          <a:xfrm>
            <a:off x="457200" y="27432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 sz="2800">
                <a:solidFill>
                  <a:schemeClr val="dk2"/>
                </a:solidFill>
              </a:rPr>
              <a:t>Latihan: uji pemahaman</a:t>
            </a:r>
            <a:endParaRPr sz="2800"/>
          </a:p>
        </p:txBody>
      </p:sp>
      <p:sp>
        <p:nvSpPr>
          <p:cNvPr id="1638" name="Google Shape;1638;p96"/>
          <p:cNvSpPr/>
          <p:nvPr/>
        </p:nvSpPr>
        <p:spPr>
          <a:xfrm>
            <a:off x="457200" y="1051560"/>
            <a:ext cx="4023360" cy="155448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96"/>
          <p:cNvSpPr txBox="1"/>
          <p:nvPr/>
        </p:nvSpPr>
        <p:spPr>
          <a:xfrm>
            <a:off x="640080" y="1188720"/>
            <a:ext cx="548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 sz="1800" u="none" cap="none" strike="noStrike">
                <a:solidFill>
                  <a:schemeClr val="accent1"/>
                </a:solidFill>
                <a:latin typeface="Calibri"/>
                <a:ea typeface="Calibri"/>
                <a:cs typeface="Calibri"/>
                <a:sym typeface="Calibri"/>
              </a:rPr>
              <a:t>Q1</a:t>
            </a:r>
            <a:endParaRPr b="0" i="0" sz="1800" u="none" cap="none" strike="noStrike">
              <a:solidFill>
                <a:schemeClr val="dk1"/>
              </a:solidFill>
              <a:latin typeface="Calibri"/>
              <a:ea typeface="Calibri"/>
              <a:cs typeface="Calibri"/>
              <a:sym typeface="Calibri"/>
            </a:endParaRPr>
          </a:p>
        </p:txBody>
      </p:sp>
      <p:sp>
        <p:nvSpPr>
          <p:cNvPr id="1640" name="Google Shape;1640;p96"/>
          <p:cNvSpPr txBox="1"/>
          <p:nvPr/>
        </p:nvSpPr>
        <p:spPr>
          <a:xfrm>
            <a:off x="1188720" y="1188720"/>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Siapa yang memverifikasi pembayaran sebelum Sales Admin?</a:t>
            </a:r>
            <a:endParaRPr b="0" i="0" sz="1400" u="none" cap="none" strike="noStrike">
              <a:solidFill>
                <a:schemeClr val="dk1"/>
              </a:solidFill>
              <a:latin typeface="Calibri"/>
              <a:ea typeface="Calibri"/>
              <a:cs typeface="Calibri"/>
              <a:sym typeface="Calibri"/>
            </a:endParaRPr>
          </a:p>
        </p:txBody>
      </p:sp>
      <p:sp>
        <p:nvSpPr>
          <p:cNvPr id="1641" name="Google Shape;1641;p96"/>
          <p:cNvSpPr txBox="1"/>
          <p:nvPr/>
        </p:nvSpPr>
        <p:spPr>
          <a:xfrm>
            <a:off x="1188720" y="1920240"/>
            <a:ext cx="31089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 sz="1200" u="none" cap="none" strike="noStrike">
                <a:solidFill>
                  <a:schemeClr val="accent5"/>
                </a:solidFill>
                <a:latin typeface="Calibri"/>
                <a:ea typeface="Calibri"/>
                <a:cs typeface="Calibri"/>
                <a:sym typeface="Calibri"/>
              </a:rPr>
              <a:t>Jawaban: Kasir (badge Kasir ✓).</a:t>
            </a:r>
            <a:endParaRPr b="0" i="0" sz="1200" u="none" cap="none" strike="noStrike">
              <a:solidFill>
                <a:schemeClr val="dk1"/>
              </a:solidFill>
              <a:latin typeface="Calibri"/>
              <a:ea typeface="Calibri"/>
              <a:cs typeface="Calibri"/>
              <a:sym typeface="Calibri"/>
            </a:endParaRPr>
          </a:p>
        </p:txBody>
      </p:sp>
      <p:sp>
        <p:nvSpPr>
          <p:cNvPr id="1642" name="Google Shape;1642;p96"/>
          <p:cNvSpPr/>
          <p:nvPr/>
        </p:nvSpPr>
        <p:spPr>
          <a:xfrm>
            <a:off x="4663440" y="1051560"/>
            <a:ext cx="4023360" cy="155448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96"/>
          <p:cNvSpPr txBox="1"/>
          <p:nvPr/>
        </p:nvSpPr>
        <p:spPr>
          <a:xfrm>
            <a:off x="4846320" y="1188720"/>
            <a:ext cx="548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 sz="1800" u="none" cap="none" strike="noStrike">
                <a:solidFill>
                  <a:schemeClr val="accent1"/>
                </a:solidFill>
                <a:latin typeface="Calibri"/>
                <a:ea typeface="Calibri"/>
                <a:cs typeface="Calibri"/>
                <a:sym typeface="Calibri"/>
              </a:rPr>
              <a:t>Q2</a:t>
            </a:r>
            <a:endParaRPr b="0" i="0" sz="1800" u="none" cap="none" strike="noStrike">
              <a:solidFill>
                <a:schemeClr val="dk1"/>
              </a:solidFill>
              <a:latin typeface="Calibri"/>
              <a:ea typeface="Calibri"/>
              <a:cs typeface="Calibri"/>
              <a:sym typeface="Calibri"/>
            </a:endParaRPr>
          </a:p>
        </p:txBody>
      </p:sp>
      <p:sp>
        <p:nvSpPr>
          <p:cNvPr id="1644" name="Google Shape;1644;p96"/>
          <p:cNvSpPr txBox="1"/>
          <p:nvPr/>
        </p:nvSpPr>
        <p:spPr>
          <a:xfrm>
            <a:off x="5394960" y="1188720"/>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Di mana mengubah No. NPWP customer?</a:t>
            </a:r>
            <a:endParaRPr b="0" i="0" sz="1400" u="none" cap="none" strike="noStrike">
              <a:solidFill>
                <a:schemeClr val="dk1"/>
              </a:solidFill>
              <a:latin typeface="Calibri"/>
              <a:ea typeface="Calibri"/>
              <a:cs typeface="Calibri"/>
              <a:sym typeface="Calibri"/>
            </a:endParaRPr>
          </a:p>
        </p:txBody>
      </p:sp>
      <p:sp>
        <p:nvSpPr>
          <p:cNvPr id="1645" name="Google Shape;1645;p96"/>
          <p:cNvSpPr txBox="1"/>
          <p:nvPr/>
        </p:nvSpPr>
        <p:spPr>
          <a:xfrm>
            <a:off x="5394960" y="1920240"/>
            <a:ext cx="31089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 sz="1200" u="none" cap="none" strike="noStrike">
                <a:solidFill>
                  <a:schemeClr val="accent5"/>
                </a:solidFill>
                <a:latin typeface="Calibri"/>
                <a:ea typeface="Calibri"/>
                <a:cs typeface="Calibri"/>
                <a:sym typeface="Calibri"/>
              </a:rPr>
              <a:t>Jawaban: Master Customer Reserve › Edit / lengkapi data.</a:t>
            </a:r>
            <a:endParaRPr b="0" i="0" sz="1200" u="none" cap="none" strike="noStrike">
              <a:solidFill>
                <a:schemeClr val="dk1"/>
              </a:solidFill>
              <a:latin typeface="Calibri"/>
              <a:ea typeface="Calibri"/>
              <a:cs typeface="Calibri"/>
              <a:sym typeface="Calibri"/>
            </a:endParaRPr>
          </a:p>
        </p:txBody>
      </p:sp>
      <p:sp>
        <p:nvSpPr>
          <p:cNvPr id="1646" name="Google Shape;1646;p96"/>
          <p:cNvSpPr/>
          <p:nvPr/>
        </p:nvSpPr>
        <p:spPr>
          <a:xfrm>
            <a:off x="457200" y="2788920"/>
            <a:ext cx="4023360" cy="155448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96"/>
          <p:cNvSpPr txBox="1"/>
          <p:nvPr/>
        </p:nvSpPr>
        <p:spPr>
          <a:xfrm>
            <a:off x="640080" y="2926080"/>
            <a:ext cx="548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 sz="1800" u="none" cap="none" strike="noStrike">
                <a:solidFill>
                  <a:schemeClr val="accent1"/>
                </a:solidFill>
                <a:latin typeface="Calibri"/>
                <a:ea typeface="Calibri"/>
                <a:cs typeface="Calibri"/>
                <a:sym typeface="Calibri"/>
              </a:rPr>
              <a:t>Q3</a:t>
            </a:r>
            <a:endParaRPr b="0" i="0" sz="1800" u="none" cap="none" strike="noStrike">
              <a:solidFill>
                <a:schemeClr val="dk1"/>
              </a:solidFill>
              <a:latin typeface="Calibri"/>
              <a:ea typeface="Calibri"/>
              <a:cs typeface="Calibri"/>
              <a:sym typeface="Calibri"/>
            </a:endParaRPr>
          </a:p>
        </p:txBody>
      </p:sp>
      <p:sp>
        <p:nvSpPr>
          <p:cNvPr id="1648" name="Google Shape;1648;p96"/>
          <p:cNvSpPr txBox="1"/>
          <p:nvPr/>
        </p:nvSpPr>
        <p:spPr>
          <a:xfrm>
            <a:off x="1188720" y="2926080"/>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Status SP Batal mengubah unit menjadi…</a:t>
            </a:r>
            <a:endParaRPr b="0" i="0" sz="1400" u="none" cap="none" strike="noStrike">
              <a:solidFill>
                <a:schemeClr val="dk1"/>
              </a:solidFill>
              <a:latin typeface="Calibri"/>
              <a:ea typeface="Calibri"/>
              <a:cs typeface="Calibri"/>
              <a:sym typeface="Calibri"/>
            </a:endParaRPr>
          </a:p>
        </p:txBody>
      </p:sp>
      <p:sp>
        <p:nvSpPr>
          <p:cNvPr id="1649" name="Google Shape;1649;p96"/>
          <p:cNvSpPr txBox="1"/>
          <p:nvPr/>
        </p:nvSpPr>
        <p:spPr>
          <a:xfrm>
            <a:off x="1188720" y="3657600"/>
            <a:ext cx="31089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 sz="1200" u="none" cap="none" strike="noStrike">
                <a:solidFill>
                  <a:schemeClr val="accent5"/>
                </a:solidFill>
                <a:latin typeface="Calibri"/>
                <a:ea typeface="Calibri"/>
                <a:cs typeface="Calibri"/>
                <a:sym typeface="Calibri"/>
              </a:rPr>
              <a:t>Jawaban: Sellable (sesuai Master Status Reserve).</a:t>
            </a:r>
            <a:endParaRPr b="0" i="0" sz="1200" u="none" cap="none" strike="noStrike">
              <a:solidFill>
                <a:schemeClr val="dk1"/>
              </a:solidFill>
              <a:latin typeface="Calibri"/>
              <a:ea typeface="Calibri"/>
              <a:cs typeface="Calibri"/>
              <a:sym typeface="Calibri"/>
            </a:endParaRPr>
          </a:p>
        </p:txBody>
      </p:sp>
      <p:sp>
        <p:nvSpPr>
          <p:cNvPr id="1650" name="Google Shape;1650;p96"/>
          <p:cNvSpPr/>
          <p:nvPr/>
        </p:nvSpPr>
        <p:spPr>
          <a:xfrm>
            <a:off x="4663440" y="2788920"/>
            <a:ext cx="4023360" cy="1554480"/>
          </a:xfrm>
          <a:prstGeom prst="roundRect">
            <a:avLst>
              <a:gd fmla="val 58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96"/>
          <p:cNvSpPr txBox="1"/>
          <p:nvPr/>
        </p:nvSpPr>
        <p:spPr>
          <a:xfrm>
            <a:off x="4846320" y="2926080"/>
            <a:ext cx="548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 sz="1800" u="none" cap="none" strike="noStrike">
                <a:solidFill>
                  <a:schemeClr val="accent1"/>
                </a:solidFill>
                <a:latin typeface="Calibri"/>
                <a:ea typeface="Calibri"/>
                <a:cs typeface="Calibri"/>
                <a:sym typeface="Calibri"/>
              </a:rPr>
              <a:t>Q4</a:t>
            </a:r>
            <a:endParaRPr b="0" i="0" sz="1800" u="none" cap="none" strike="noStrike">
              <a:solidFill>
                <a:schemeClr val="dk1"/>
              </a:solidFill>
              <a:latin typeface="Calibri"/>
              <a:ea typeface="Calibri"/>
              <a:cs typeface="Calibri"/>
              <a:sym typeface="Calibri"/>
            </a:endParaRPr>
          </a:p>
        </p:txBody>
      </p:sp>
      <p:sp>
        <p:nvSpPr>
          <p:cNvPr id="1652" name="Google Shape;1652;p96"/>
          <p:cNvSpPr txBox="1"/>
          <p:nvPr/>
        </p:nvSpPr>
        <p:spPr>
          <a:xfrm>
            <a:off x="5394960" y="2926080"/>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Apa yang wajib diisi saat status batal?</a:t>
            </a:r>
            <a:endParaRPr b="0" i="0" sz="1400" u="none" cap="none" strike="noStrike">
              <a:solidFill>
                <a:schemeClr val="dk1"/>
              </a:solidFill>
              <a:latin typeface="Calibri"/>
              <a:ea typeface="Calibri"/>
              <a:cs typeface="Calibri"/>
              <a:sym typeface="Calibri"/>
            </a:endParaRPr>
          </a:p>
        </p:txBody>
      </p:sp>
      <p:sp>
        <p:nvSpPr>
          <p:cNvPr id="1653" name="Google Shape;1653;p96"/>
          <p:cNvSpPr txBox="1"/>
          <p:nvPr/>
        </p:nvSpPr>
        <p:spPr>
          <a:xfrm>
            <a:off x="5394960" y="3657600"/>
            <a:ext cx="31089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 sz="1200" u="none" cap="none" strike="noStrike">
                <a:solidFill>
                  <a:schemeClr val="accent5"/>
                </a:solidFill>
                <a:latin typeface="Calibri"/>
                <a:ea typeface="Calibri"/>
                <a:cs typeface="Calibri"/>
                <a:sym typeface="Calibri"/>
              </a:rPr>
              <a:t>Jawaban: Alasan Batal (dan Alasan Penolakan saat Reject).</a:t>
            </a:r>
            <a:endParaRPr b="0" i="0" sz="1200" u="none" cap="none" strike="noStrike">
              <a:solidFill>
                <a:schemeClr val="dk1"/>
              </a:solidFill>
              <a:latin typeface="Calibri"/>
              <a:ea typeface="Calibri"/>
              <a:cs typeface="Calibri"/>
              <a:sym typeface="Calibri"/>
            </a:endParaRPr>
          </a:p>
        </p:txBody>
      </p:sp>
      <p:sp>
        <p:nvSpPr>
          <p:cNvPr id="1654" name="Google Shape;1654;p96"/>
          <p:cNvSpPr txBox="1"/>
          <p:nvPr>
            <p:ph idx="4294967295" type="sldNum"/>
          </p:nvPr>
        </p:nvSpPr>
        <p:spPr>
          <a:xfrm>
            <a:off x="822960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9" name="Shape 1659"/>
        <p:cNvGrpSpPr/>
        <p:nvPr/>
      </p:nvGrpSpPr>
      <p:grpSpPr>
        <a:xfrm>
          <a:off x="0" y="0"/>
          <a:ext cx="0" cy="0"/>
          <a:chOff x="0" y="0"/>
          <a:chExt cx="0" cy="0"/>
        </a:xfrm>
      </p:grpSpPr>
      <p:sp>
        <p:nvSpPr>
          <p:cNvPr id="1660" name="Google Shape;1660;p97"/>
          <p:cNvSpPr/>
          <p:nvPr/>
        </p:nvSpPr>
        <p:spPr>
          <a:xfrm>
            <a:off x="548640" y="548640"/>
            <a:ext cx="685800" cy="68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1" name="Google Shape;1661;p97"/>
          <p:cNvPicPr preferRelativeResize="0"/>
          <p:nvPr/>
        </p:nvPicPr>
        <p:blipFill rotWithShape="1">
          <a:blip r:embed="rId3">
            <a:alphaModFix/>
          </a:blip>
          <a:srcRect b="0" l="0" r="0" t="0"/>
          <a:stretch/>
        </p:blipFill>
        <p:spPr>
          <a:xfrm>
            <a:off x="713232" y="713232"/>
            <a:ext cx="356616" cy="356616"/>
          </a:xfrm>
          <a:prstGeom prst="rect">
            <a:avLst/>
          </a:prstGeom>
          <a:noFill/>
          <a:ln>
            <a:noFill/>
          </a:ln>
        </p:spPr>
      </p:pic>
      <p:sp>
        <p:nvSpPr>
          <p:cNvPr id="1662" name="Google Shape;1662;p97"/>
          <p:cNvSpPr txBox="1"/>
          <p:nvPr>
            <p:ph type="title"/>
          </p:nvPr>
        </p:nvSpPr>
        <p:spPr>
          <a:xfrm>
            <a:off x="548640" y="1417320"/>
            <a:ext cx="8046720" cy="128016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4000"/>
              <a:buFont typeface="Arial"/>
              <a:buNone/>
            </a:pPr>
            <a:r>
              <a:rPr b="1" lang="en" sz="4000">
                <a:solidFill>
                  <a:schemeClr val="lt1"/>
                </a:solidFill>
              </a:rPr>
              <a:t>Terima kasih</a:t>
            </a:r>
            <a:endParaRPr sz="4000"/>
          </a:p>
        </p:txBody>
      </p:sp>
      <p:sp>
        <p:nvSpPr>
          <p:cNvPr id="1663" name="Google Shape;1663;p97"/>
          <p:cNvSpPr txBox="1"/>
          <p:nvPr>
            <p:ph idx="1" type="body"/>
          </p:nvPr>
        </p:nvSpPr>
        <p:spPr>
          <a:xfrm>
            <a:off x="548640" y="2834640"/>
            <a:ext cx="8046720" cy="8229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C7C9F5"/>
              </a:buClr>
              <a:buSzPts val="1800"/>
              <a:buNone/>
            </a:pPr>
            <a:r>
              <a:rPr lang="en" sz="1800">
                <a:solidFill>
                  <a:srgbClr val="C7C9F5"/>
                </a:solidFill>
              </a:rPr>
              <a:t>Pertanyaan &amp; diskusi</a:t>
            </a:r>
            <a:endParaRPr sz="1800"/>
          </a:p>
          <a:p>
            <a:pPr indent="0" lvl="0" marL="0" rtl="0" algn="l">
              <a:spcBef>
                <a:spcPts val="360"/>
              </a:spcBef>
              <a:spcAft>
                <a:spcPts val="0"/>
              </a:spcAft>
              <a:buClr>
                <a:srgbClr val="C7C9F5"/>
              </a:buClr>
              <a:buSzPts val="1800"/>
              <a:buNone/>
            </a:pPr>
            <a:r>
              <a:rPr lang="en" sz="1800">
                <a:solidFill>
                  <a:srgbClr val="C7C9F5"/>
                </a:solidFill>
              </a:rPr>
              <a:t>Akses: Sales Pipeline › Reserve Order</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Reserve Order Kasir">
  <a:themeElements>
    <a:clrScheme name="Reserve Order Kasir">
      <a:dk1>
        <a:srgbClr val="1F2937"/>
      </a:dk1>
      <a:lt1>
        <a:srgbClr val="FFFFFF"/>
      </a:lt1>
      <a:dk2>
        <a:srgbClr val="1E1B4B"/>
      </a:dk2>
      <a:lt2>
        <a:srgbClr val="EEF0FF"/>
      </a:lt2>
      <a:accent1>
        <a:srgbClr val="5B5BD6"/>
      </a:accent1>
      <a:accent2>
        <a:srgbClr val="F5B700"/>
      </a:accent2>
      <a:accent3>
        <a:srgbClr val="16A34A"/>
      </a:accent3>
      <a:accent4>
        <a:srgbClr val="DC2626"/>
      </a:accent4>
      <a:accent5>
        <a:srgbClr val="64748B"/>
      </a:accent5>
      <a:accent6>
        <a:srgbClr val="0EA5E9"/>
      </a:accent6>
      <a:hlink>
        <a:srgbClr val="5B5BD6"/>
      </a:hlink>
      <a:folHlink>
        <a:srgbClr val="4338C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serve Order Admin">
  <a:themeElements>
    <a:clrScheme name="Reserve Order Admin">
      <a:dk1>
        <a:srgbClr val="1F2937"/>
      </a:dk1>
      <a:lt1>
        <a:srgbClr val="FFFFFF"/>
      </a:lt1>
      <a:dk2>
        <a:srgbClr val="1E1B4B"/>
      </a:dk2>
      <a:lt2>
        <a:srgbClr val="EEF0FF"/>
      </a:lt2>
      <a:accent1>
        <a:srgbClr val="5B5BD6"/>
      </a:accent1>
      <a:accent2>
        <a:srgbClr val="F5B700"/>
      </a:accent2>
      <a:accent3>
        <a:srgbClr val="16A34A"/>
      </a:accent3>
      <a:accent4>
        <a:srgbClr val="DC2626"/>
      </a:accent4>
      <a:accent5>
        <a:srgbClr val="64748B"/>
      </a:accent5>
      <a:accent6>
        <a:srgbClr val="0EA5E9"/>
      </a:accent6>
      <a:hlink>
        <a:srgbClr val="5B5BD6"/>
      </a:hlink>
      <a:folHlink>
        <a:srgbClr val="4338C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dise RO">
  <a:themeElements>
    <a:clrScheme name="Paradise RO">
      <a:dk1>
        <a:srgbClr val="1B2A41"/>
      </a:dk1>
      <a:lt1>
        <a:srgbClr val="FFFFFF"/>
      </a:lt1>
      <a:dk2>
        <a:srgbClr val="0F1B2D"/>
      </a:dk2>
      <a:lt2>
        <a:srgbClr val="EEF3FA"/>
      </a:lt2>
      <a:accent1>
        <a:srgbClr val="2F7CE0"/>
      </a:accent1>
      <a:accent2>
        <a:srgbClr val="F39A2B"/>
      </a:accent2>
      <a:accent3>
        <a:srgbClr val="2EAD6B"/>
      </a:accent3>
      <a:accent4>
        <a:srgbClr val="E05656"/>
      </a:accent4>
      <a:accent5>
        <a:srgbClr val="7A8BA6"/>
      </a:accent5>
      <a:accent6>
        <a:srgbClr val="9CC3F5"/>
      </a:accent6>
      <a:hlink>
        <a:srgbClr val="2F7CE0"/>
      </a:hlink>
      <a:folHlink>
        <a:srgbClr val="7A8B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